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مرحبًا بكم. نقدم اليوم مبادرة الأثر الأخضر المستدام، وهي مبادرة مجتمعية بيئية توعوية تنموية تطلقها جمعية المسؤولية البيئية الأهلية بالتزامن مع اليوم العربي للبيئة 2026، وتمتد حتى عام 2030.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كل مشروع في المبادرة مستهدفه 2,030 وحدة، تيمّنًا برؤية 2030، ما يجعل الأثر سهل التذكر وسهل القياس.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الملتقى بالتزامن مع اليوم العربي للبيئة 2026، ويبدأ الاستقبال والتسجيل الساعة 8:45 صباحًا.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الأوقات موزعة على فقرات مدتها عشر دقائق تقريبًا، وتحتاج إلى تأكيد نهائي من اللجنة المنظمة.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شكرًا لحضوركم. نرحب بانضمام الجهات والأفراد شركاءَ في صناعة الأثر.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0" y="0"/>
            <a:ext cx="3566160" cy="6858000"/>
          </a:xfrm>
          <a:prstGeom prst="rect">
            <a:avLst/>
          </a:prstGeom>
          <a:solidFill>
            <a:srgbClr val="123524"/>
          </a:solidFill>
          <a:ln w="12700">
            <a:solidFill>
              <a:srgbClr val="123524"/>
            </a:solidFill>
            <a:prstDash val="solid"/>
          </a:ln>
        </p:spPr>
      </p:sp>
      <p:pic>
        <p:nvPicPr>
          <p:cNvPr id="3" name="Image 0" descr="شعار مبادرة الأثر الأخضر المستدام">    </p:cNvPr>
          <p:cNvPicPr>
            <a:picLocks noChangeAspect="1"/>
          </p:cNvPicPr>
          <p:nvPr/>
        </p:nvPicPr>
        <p:blipFill>
          <a:blip r:embed="rId1"/>
          <a:stretch>
            <a:fillRect/>
          </a:stretch>
        </p:blipFill>
        <p:spPr>
          <a:xfrm>
            <a:off x="777240" y="1325880"/>
            <a:ext cx="2011680" cy="2048256"/>
          </a:xfrm>
          <a:prstGeom prst="rect">
            <a:avLst/>
          </a:prstGeom>
        </p:spPr>
      </p:pic>
      <p:sp>
        <p:nvSpPr>
          <p:cNvPr id="4" name="Text 1"/>
          <p:cNvSpPr txBox="1"/>
          <p:nvPr/>
        </p:nvSpPr>
        <p:spPr>
          <a:xfrm>
            <a:off x="274320" y="3749040"/>
            <a:ext cx="3017520" cy="822960"/>
          </a:xfrm>
          <a:prstGeom prst="rect">
            <a:avLst/>
          </a:prstGeom>
          <a:noFill/>
          <a:ln/>
        </p:spPr>
        <p:txBody>
          <a:bodyPr wrap="square" lIns="0" tIns="0" rIns="0" bIns="0" rtlCol="0" anchor="t"/>
          <a:lstStyle/>
          <a:p>
            <a:pPr algn="ctr" indent="0" marL="0">
              <a:buNone/>
            </a:pPr>
            <a:r>
              <a:rPr lang="ar-SA" altLang="en-US" sz="5400" b="1" dirty="0">
                <a:solidFill>
                  <a:srgbClr val="E3B341"/>
                </a:solidFill>
                <a:latin typeface="Arial" pitchFamily="34" charset="0"/>
                <a:ea typeface="Arial" pitchFamily="34" charset="-122"/>
                <a:cs typeface="Arial" pitchFamily="34" charset="-120"/>
              </a:rPr>
              <a:t>2,030</a:t>
            </a:r>
            <a:endParaRPr lang="ar-SA" sz="5400" dirty="0"/>
          </a:p>
        </p:txBody>
      </p:sp>
      <p:sp>
        <p:nvSpPr>
          <p:cNvPr id="5" name="Text 2"/>
          <p:cNvSpPr txBox="1"/>
          <p:nvPr/>
        </p:nvSpPr>
        <p:spPr>
          <a:xfrm>
            <a:off x="274320" y="4572000"/>
            <a:ext cx="3017520" cy="365760"/>
          </a:xfrm>
          <a:prstGeom prst="rect">
            <a:avLst/>
          </a:prstGeom>
          <a:noFill/>
          <a:ln/>
        </p:spPr>
        <p:txBody>
          <a:bodyPr wrap="square" lIns="0" tIns="0" rIns="0" bIns="0" rtlCol="0" anchor="t"/>
          <a:lstStyle/>
          <a:p>
            <a:pPr rtl="1" algn="ctr" indent="0" marL="0">
              <a:buNone/>
            </a:pPr>
            <a:r>
              <a:rPr lang="ar-SA" altLang="en-US" sz="1400" dirty="0">
                <a:solidFill>
                  <a:srgbClr val="C9D9CD"/>
                </a:solidFill>
                <a:latin typeface="Arial" pitchFamily="34" charset="0"/>
                <a:ea typeface="Arial" pitchFamily="34" charset="-122"/>
                <a:cs typeface="Arial" pitchFamily="34" charset="-120"/>
              </a:rPr>
              <a:t>الرقم الذهبي للأثر</a:t>
            </a:r>
            <a:endParaRPr lang="ar-SA" sz="1400" dirty="0"/>
          </a:p>
        </p:txBody>
      </p:sp>
      <p:pic>
        <p:nvPicPr>
          <p:cNvPr id="6" name="Image 1" descr="شعار جمعية المسؤولية البيئية الأهلية">    </p:cNvPr>
          <p:cNvPicPr>
            <a:picLocks noChangeAspect="1"/>
          </p:cNvPicPr>
          <p:nvPr/>
        </p:nvPicPr>
        <p:blipFill>
          <a:blip r:embed="rId2"/>
          <a:stretch>
            <a:fillRect/>
          </a:stretch>
        </p:blipFill>
        <p:spPr>
          <a:xfrm>
            <a:off x="10454335" y="502920"/>
            <a:ext cx="1097280" cy="1124712"/>
          </a:xfrm>
          <a:prstGeom prst="rect">
            <a:avLst/>
          </a:prstGeom>
        </p:spPr>
      </p:pic>
      <p:sp>
        <p:nvSpPr>
          <p:cNvPr id="7" name="Text 3"/>
          <p:cNvSpPr txBox="1"/>
          <p:nvPr/>
        </p:nvSpPr>
        <p:spPr>
          <a:xfrm>
            <a:off x="4114800" y="2240280"/>
            <a:ext cx="7482535" cy="411480"/>
          </a:xfrm>
          <a:prstGeom prst="rect">
            <a:avLst/>
          </a:prstGeom>
          <a:noFill/>
          <a:ln/>
        </p:spPr>
        <p:txBody>
          <a:bodyPr wrap="square" lIns="0" tIns="0" rIns="0" bIns="0" rtlCol="0" anchor="t"/>
          <a:lstStyle/>
          <a:p>
            <a:pPr rtl="1" algn="r" indent="0" marL="0">
              <a:buNone/>
            </a:pPr>
            <a:r>
              <a:rPr lang="ar-SA" altLang="en-US" sz="1800" b="1" dirty="0">
                <a:solidFill>
                  <a:srgbClr val="8A6508"/>
                </a:solidFill>
                <a:latin typeface="Arial" pitchFamily="34" charset="0"/>
                <a:ea typeface="Arial" pitchFamily="34" charset="-122"/>
                <a:cs typeface="Arial" pitchFamily="34" charset="-120"/>
              </a:rPr>
              <a:t>مبادرة مجتمعية بيئية توعوية تنموية</a:t>
            </a:r>
            <a:endParaRPr lang="ar-SA" sz="1800" dirty="0"/>
          </a:p>
        </p:txBody>
      </p:sp>
      <p:sp>
        <p:nvSpPr>
          <p:cNvPr id="8" name="Text 4"/>
          <p:cNvSpPr txBox="1"/>
          <p:nvPr/>
        </p:nvSpPr>
        <p:spPr>
          <a:xfrm>
            <a:off x="4114800" y="2697480"/>
            <a:ext cx="7482535" cy="1005840"/>
          </a:xfrm>
          <a:prstGeom prst="rect">
            <a:avLst/>
          </a:prstGeom>
          <a:noFill/>
          <a:ln/>
        </p:spPr>
        <p:txBody>
          <a:bodyPr wrap="square" lIns="0" tIns="0" rIns="0" bIns="0" rtlCol="0" anchor="t"/>
          <a:lstStyle/>
          <a:p>
            <a:pPr rtl="1" algn="r" indent="0" marL="0">
              <a:buNone/>
            </a:pPr>
            <a:r>
              <a:rPr lang="ar-SA" altLang="en-US" sz="5400" b="1" dirty="0">
                <a:solidFill>
                  <a:srgbClr val="1E5E36"/>
                </a:solidFill>
                <a:latin typeface="Arial" pitchFamily="34" charset="0"/>
                <a:ea typeface="Arial" pitchFamily="34" charset="-122"/>
                <a:cs typeface="Arial" pitchFamily="34" charset="-120"/>
              </a:rPr>
              <a:t>الأثر الأخضر المستدام</a:t>
            </a:r>
            <a:endParaRPr lang="ar-SA" sz="5400" dirty="0"/>
          </a:p>
        </p:txBody>
      </p:sp>
      <p:sp>
        <p:nvSpPr>
          <p:cNvPr id="9" name="Text 5"/>
          <p:cNvSpPr txBox="1"/>
          <p:nvPr/>
        </p:nvSpPr>
        <p:spPr>
          <a:xfrm>
            <a:off x="4114800" y="3840480"/>
            <a:ext cx="7482535" cy="822960"/>
          </a:xfrm>
          <a:prstGeom prst="rect">
            <a:avLst/>
          </a:prstGeom>
          <a:noFill/>
          <a:ln/>
        </p:spPr>
        <p:txBody>
          <a:bodyPr wrap="square" lIns="0" tIns="0" rIns="0" bIns="0" rtlCol="0" anchor="t"/>
          <a:lstStyle/>
          <a:p>
            <a:pPr rtl="1" algn="r" indent="0" marL="0">
              <a:buNone/>
            </a:pPr>
            <a:r>
              <a:rPr lang="ar-SA" altLang="en-US" sz="1800" dirty="0">
                <a:solidFill>
                  <a:srgbClr val="4F6356"/>
                </a:solidFill>
                <a:latin typeface="Arial" pitchFamily="34" charset="0"/>
                <a:ea typeface="Arial" pitchFamily="34" charset="-122"/>
                <a:cs typeface="Arial" pitchFamily="34" charset="-120"/>
              </a:rPr>
              <a:t>تنطلق بالتزامن مع اليوم العربي للبيئة 2026 تحت شعار «استدامة المراعي لتعزيز القدرة على الصمود»</a:t>
            </a:r>
            <a:endParaRPr lang="ar-SA" sz="1800" dirty="0"/>
          </a:p>
        </p:txBody>
      </p:sp>
      <p:sp>
        <p:nvSpPr>
          <p:cNvPr id="10" name="Text 6"/>
          <p:cNvSpPr txBox="1"/>
          <p:nvPr/>
        </p:nvSpPr>
        <p:spPr>
          <a:xfrm>
            <a:off x="4114800" y="6126480"/>
            <a:ext cx="7482535" cy="320040"/>
          </a:xfrm>
          <a:prstGeom prst="rect">
            <a:avLst/>
          </a:prstGeom>
          <a:noFill/>
          <a:ln/>
        </p:spPr>
        <p:txBody>
          <a:bodyPr wrap="square" lIns="0" tIns="0" rIns="0" bIns="0" rtlCol="0" anchor="t"/>
          <a:lstStyle/>
          <a:p>
            <a:pPr rtl="1" algn="r" indent="0" marL="0">
              <a:buNone/>
            </a:pPr>
            <a:r>
              <a:rPr lang="ar-SA" altLang="en-US" sz="1300" dirty="0">
                <a:solidFill>
                  <a:srgbClr val="4F6356"/>
                </a:solidFill>
                <a:latin typeface="Arial" pitchFamily="34" charset="0"/>
                <a:ea typeface="Arial" pitchFamily="34" charset="-122"/>
                <a:cs typeface="Arial" pitchFamily="34" charset="-120"/>
              </a:rPr>
              <a:t>جمعية المسؤولية البيئية الأهلية — الرياض 2026</a:t>
            </a:r>
            <a:endParaRPr lang="ar-SA"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1"/>
        </a:solidFill>
      </p:bgPr>
    </p:bg>
    <p:spTree>
      <p:nvGrpSpPr>
        <p:cNvPr id="1" name=""/>
        <p:cNvGrpSpPr/>
        <p:nvPr/>
      </p:nvGrpSpPr>
      <p:grpSpPr>
        <a:xfrm>
          <a:off x="0" y="0"/>
          <a:ext cx="0" cy="0"/>
          <a:chOff x="0" y="0"/>
          <a:chExt cx="0" cy="0"/>
        </a:xfrm>
      </p:grpSpPr>
      <p:sp>
        <p:nvSpPr>
          <p:cNvPr id="2" name="Text 0"/>
          <p:cNvSpPr txBox="1"/>
          <p:nvPr/>
        </p:nvSpPr>
        <p:spPr>
          <a:xfrm>
            <a:off x="594360" y="502920"/>
            <a:ext cx="11002975" cy="365760"/>
          </a:xfrm>
          <a:prstGeom prst="rect">
            <a:avLst/>
          </a:prstGeom>
          <a:noFill/>
          <a:ln/>
        </p:spPr>
        <p:txBody>
          <a:bodyPr wrap="square" lIns="0" tIns="0" rIns="0" bIns="0" rtlCol="0" anchor="t"/>
          <a:lstStyle/>
          <a:p>
            <a:pPr rtl="1" algn="r" indent="0" marL="0">
              <a:buNone/>
            </a:pPr>
            <a:r>
              <a:rPr lang="ar-SA" altLang="en-US" sz="1500" b="1" dirty="0">
                <a:solidFill>
                  <a:srgbClr val="8A6508"/>
                </a:solidFill>
                <a:latin typeface="Arial" pitchFamily="34" charset="0"/>
                <a:ea typeface="Arial" pitchFamily="34" charset="-122"/>
                <a:cs typeface="Arial" pitchFamily="34" charset="-120"/>
              </a:rPr>
              <a:t>كلمة افتتاحية</a:t>
            </a:r>
            <a:endParaRPr lang="ar-SA" sz="1500" dirty="0"/>
          </a:p>
        </p:txBody>
      </p:sp>
      <p:sp>
        <p:nvSpPr>
          <p:cNvPr id="3" name="Text 1"/>
          <p:cNvSpPr txBox="1"/>
          <p:nvPr/>
        </p:nvSpPr>
        <p:spPr>
          <a:xfrm>
            <a:off x="594360" y="868680"/>
            <a:ext cx="11002975" cy="731520"/>
          </a:xfrm>
          <a:prstGeom prst="rect">
            <a:avLst/>
          </a:prstGeom>
          <a:noFill/>
          <a:ln/>
        </p:spPr>
        <p:txBody>
          <a:bodyPr wrap="square" lIns="0" tIns="0" rIns="0" bIns="0" rtlCol="0" anchor="t"/>
          <a:lstStyle/>
          <a:p>
            <a:pPr rtl="1" algn="r" indent="0" marL="0">
              <a:buNone/>
            </a:pPr>
            <a:r>
              <a:rPr lang="ar-SA" altLang="en-US" sz="3600" b="1" dirty="0">
                <a:solidFill>
                  <a:srgbClr val="1E5E36"/>
                </a:solidFill>
                <a:latin typeface="Arial" pitchFamily="34" charset="0"/>
                <a:ea typeface="Arial" pitchFamily="34" charset="-122"/>
                <a:cs typeface="Arial" pitchFamily="34" charset="-120"/>
              </a:rPr>
              <a:t>رحلة مستمرة وأثر يتراكم</a:t>
            </a:r>
            <a:endParaRPr lang="ar-SA" sz="3600" dirty="0"/>
          </a:p>
        </p:txBody>
      </p:sp>
      <p:sp>
        <p:nvSpPr>
          <p:cNvPr id="4" name="Text 2"/>
          <p:cNvSpPr txBox="1"/>
          <p:nvPr/>
        </p:nvSpPr>
        <p:spPr>
          <a:xfrm>
            <a:off x="5120640" y="1828800"/>
            <a:ext cx="6476695" cy="1828800"/>
          </a:xfrm>
          <a:prstGeom prst="rect">
            <a:avLst/>
          </a:prstGeom>
          <a:noFill/>
          <a:ln/>
        </p:spPr>
        <p:txBody>
          <a:bodyPr wrap="square" lIns="0" tIns="0" rIns="0" bIns="0" rtlCol="0" anchor="t"/>
          <a:lstStyle/>
          <a:p>
            <a:pPr rtl="1" algn="r" indent="0" marL="0">
              <a:lnSpc>
                <a:spcPct val="130000"/>
              </a:lnSpc>
              <a:buNone/>
            </a:pPr>
            <a:r>
              <a:rPr lang="ar-SA" altLang="en-US" sz="1700" dirty="0">
                <a:solidFill>
                  <a:srgbClr val="2B3F32"/>
                </a:solidFill>
                <a:latin typeface="Arial" pitchFamily="34" charset="0"/>
                <a:ea typeface="Arial" pitchFamily="34" charset="-122"/>
                <a:cs typeface="Arial" pitchFamily="34" charset="-120"/>
              </a:rPr>
              <a:t>انطلاقًا من مستهدفات رؤية المملكة العربية السعودية 2030، وما تشهده المملكة من اهتمامٍ متزايد بقضايا البيئة والاستدامة وجودة الحياة، تأتي مبادرة «الأثر الأخضر المستدام» لتعزيز المسؤولية البيئية، وترسيخ ثقافة الاستدامة، وتمكين الشراكات ذات الأثر المستدام.</a:t>
            </a:r>
            <a:endParaRPr lang="ar-SA" sz="1700" dirty="0"/>
          </a:p>
        </p:txBody>
      </p:sp>
      <p:sp>
        <p:nvSpPr>
          <p:cNvPr id="5" name="Text 3"/>
          <p:cNvSpPr txBox="1"/>
          <p:nvPr/>
        </p:nvSpPr>
        <p:spPr>
          <a:xfrm>
            <a:off x="5120640" y="3749040"/>
            <a:ext cx="6476695" cy="1645920"/>
          </a:xfrm>
          <a:prstGeom prst="rect">
            <a:avLst/>
          </a:prstGeom>
          <a:noFill/>
          <a:ln/>
        </p:spPr>
        <p:txBody>
          <a:bodyPr wrap="square" lIns="0" tIns="0" rIns="0" bIns="0" rtlCol="0" anchor="t"/>
          <a:lstStyle/>
          <a:p>
            <a:pPr rtl="1" algn="r" indent="0" marL="0">
              <a:lnSpc>
                <a:spcPct val="130000"/>
              </a:lnSpc>
              <a:buNone/>
            </a:pPr>
            <a:r>
              <a:rPr lang="ar-SA" altLang="en-US" sz="1700" dirty="0">
                <a:solidFill>
                  <a:srgbClr val="2B3F32"/>
                </a:solidFill>
                <a:latin typeface="Arial" pitchFamily="34" charset="0"/>
                <a:ea typeface="Arial" pitchFamily="34" charset="-122"/>
                <a:cs typeface="Arial" pitchFamily="34" charset="-120"/>
              </a:rPr>
              <a:t>وتمثّل المبادرة منصةً تجمع الجهات الحكومية والقطاع الخاص والقطاع غير الربحي والخبراء البيئيين، لتبادل الخبرات وبناء شراكاتٍ تدعم التنمية البيئية المستدامة وتحقق المستهدفات الوطنية.</a:t>
            </a:r>
            <a:endParaRPr lang="ar-SA" sz="1700" dirty="0"/>
          </a:p>
        </p:txBody>
      </p:sp>
      <p:sp>
        <p:nvSpPr>
          <p:cNvPr id="6" name="Shape 4"/>
          <p:cNvSpPr/>
          <p:nvPr/>
        </p:nvSpPr>
        <p:spPr>
          <a:xfrm>
            <a:off x="594360" y="1828800"/>
            <a:ext cx="4114800" cy="3566160"/>
          </a:xfrm>
          <a:prstGeom prst="roundRect">
            <a:avLst>
              <a:gd name="adj" fmla="val 3077"/>
            </a:avLst>
          </a:prstGeom>
          <a:solidFill>
            <a:srgbClr val="E8F0E3"/>
          </a:solidFill>
          <a:ln w="9525">
            <a:solidFill>
              <a:srgbClr val="D6E0D1"/>
            </a:solidFill>
            <a:prstDash val="solid"/>
          </a:ln>
        </p:spPr>
      </p:sp>
      <p:sp>
        <p:nvSpPr>
          <p:cNvPr id="7" name="Text 5"/>
          <p:cNvSpPr txBox="1"/>
          <p:nvPr/>
        </p:nvSpPr>
        <p:spPr>
          <a:xfrm>
            <a:off x="914400" y="2148840"/>
            <a:ext cx="3474720" cy="1463040"/>
          </a:xfrm>
          <a:prstGeom prst="rect">
            <a:avLst/>
          </a:prstGeom>
          <a:noFill/>
          <a:ln/>
        </p:spPr>
        <p:txBody>
          <a:bodyPr wrap="square" lIns="0" tIns="0" rIns="0" bIns="0" rtlCol="0" anchor="t"/>
          <a:lstStyle/>
          <a:p>
            <a:pPr rtl="1" algn="r" indent="0" marL="0">
              <a:buNone/>
            </a:pPr>
            <a:r>
              <a:rPr lang="ar-SA" altLang="en-US" sz="2800" b="1" dirty="0">
                <a:solidFill>
                  <a:srgbClr val="1E5E36"/>
                </a:solidFill>
                <a:latin typeface="Arial" pitchFamily="34" charset="0"/>
                <a:ea typeface="Arial" pitchFamily="34" charset="-122"/>
                <a:cs typeface="Arial" pitchFamily="34" charset="-120"/>
              </a:rPr>
              <a:t>«فالرحلة مستمرة… والأثر يتراكم»</a:t>
            </a:r>
            <a:endParaRPr lang="ar-SA" sz="2800" dirty="0"/>
          </a:p>
        </p:txBody>
      </p:sp>
      <p:sp>
        <p:nvSpPr>
          <p:cNvPr id="8" name="Text 6"/>
          <p:cNvSpPr txBox="1"/>
          <p:nvPr/>
        </p:nvSpPr>
        <p:spPr>
          <a:xfrm>
            <a:off x="914400" y="3977640"/>
            <a:ext cx="3474720" cy="365760"/>
          </a:xfrm>
          <a:prstGeom prst="rect">
            <a:avLst/>
          </a:prstGeom>
          <a:noFill/>
          <a:ln/>
        </p:spPr>
        <p:txBody>
          <a:bodyPr wrap="square" lIns="0" tIns="0" rIns="0" bIns="0" rtlCol="0" anchor="t"/>
          <a:lstStyle/>
          <a:p>
            <a:pPr rtl="1" algn="r" indent="0" marL="0">
              <a:buNone/>
            </a:pPr>
            <a:r>
              <a:rPr lang="ar-SA" altLang="en-US" sz="1700" b="1" dirty="0">
                <a:solidFill>
                  <a:srgbClr val="15271C"/>
                </a:solidFill>
                <a:latin typeface="Arial" pitchFamily="34" charset="0"/>
                <a:ea typeface="Arial" pitchFamily="34" charset="-122"/>
                <a:cs typeface="Arial" pitchFamily="34" charset="-120"/>
              </a:rPr>
              <a:t>بجاد بن زايد العتيبي</a:t>
            </a:r>
            <a:endParaRPr lang="ar-SA" sz="1700" dirty="0"/>
          </a:p>
        </p:txBody>
      </p:sp>
      <p:sp>
        <p:nvSpPr>
          <p:cNvPr id="9" name="Text 7"/>
          <p:cNvSpPr txBox="1"/>
          <p:nvPr/>
        </p:nvSpPr>
        <p:spPr>
          <a:xfrm>
            <a:off x="914400" y="4389120"/>
            <a:ext cx="3474720" cy="731520"/>
          </a:xfrm>
          <a:prstGeom prst="rect">
            <a:avLst/>
          </a:prstGeom>
          <a:noFill/>
          <a:ln/>
        </p:spPr>
        <p:txBody>
          <a:bodyPr wrap="square" lIns="0" tIns="0" rIns="0" bIns="0" rtlCol="0" anchor="t"/>
          <a:lstStyle/>
          <a:p>
            <a:pPr rtl="1" algn="r" indent="0" marL="0">
              <a:buNone/>
            </a:pPr>
            <a:r>
              <a:rPr lang="ar-SA" altLang="en-US" sz="1300" dirty="0">
                <a:solidFill>
                  <a:srgbClr val="4F6356"/>
                </a:solidFill>
                <a:latin typeface="Arial" pitchFamily="34" charset="0"/>
                <a:ea typeface="Arial" pitchFamily="34" charset="-122"/>
                <a:cs typeface="Arial" pitchFamily="34" charset="-120"/>
              </a:rPr>
              <a:t>رئيس مجلس الإدارة</a:t>
            </a:r>
            <a:endParaRPr lang="ar-SA" sz="1300" dirty="0"/>
          </a:p>
          <a:p>
            <a:pPr rtl="1" algn="r" indent="0" marL="0">
              <a:buNone/>
            </a:pPr>
            <a:r>
              <a:rPr lang="ar-SA" altLang="en-US" sz="1300" dirty="0">
                <a:solidFill>
                  <a:srgbClr val="4F6356"/>
                </a:solidFill>
                <a:latin typeface="Arial" pitchFamily="34" charset="0"/>
                <a:ea typeface="Arial" pitchFamily="34" charset="-122"/>
                <a:cs typeface="Arial" pitchFamily="34" charset="-120"/>
              </a:rPr>
              <a:t>جمعية المسؤولية البيئية الأهلية</a:t>
            </a:r>
            <a:endParaRPr lang="ar-SA" sz="1300" dirty="0"/>
          </a:p>
        </p:txBody>
      </p:sp>
      <p:sp>
        <p:nvSpPr>
          <p:cNvPr id="10" name="Text 8"/>
          <p:cNvSpPr txBox="1"/>
          <p:nvPr/>
        </p:nvSpPr>
        <p:spPr>
          <a:xfrm>
            <a:off x="594360" y="6355080"/>
            <a:ext cx="914400" cy="274320"/>
          </a:xfrm>
          <a:prstGeom prst="rect">
            <a:avLst/>
          </a:prstGeom>
          <a:noFill/>
          <a:ln/>
        </p:spPr>
        <p:txBody>
          <a:bodyPr wrap="square" lIns="0" tIns="0" rIns="0" bIns="0" rtlCol="0" anchor="t"/>
          <a:lstStyle/>
          <a:p>
            <a:pPr algn="l" indent="0" marL="0">
              <a:buNone/>
            </a:pPr>
            <a:r>
              <a:rPr lang="ar-SA" altLang="en-US" sz="1100" dirty="0">
                <a:solidFill>
                  <a:srgbClr val="6B7D70"/>
                </a:solidFill>
                <a:latin typeface="Arial" pitchFamily="34" charset="0"/>
                <a:ea typeface="Arial" pitchFamily="34" charset="-122"/>
                <a:cs typeface="Arial" pitchFamily="34" charset="-120"/>
              </a:rPr>
              <a:t>02</a:t>
            </a:r>
            <a:endParaRPr lang="ar-SA" sz="1100" dirty="0"/>
          </a:p>
        </p:txBody>
      </p:sp>
      <p:sp>
        <p:nvSpPr>
          <p:cNvPr id="11" name="Text 9"/>
          <p:cNvSpPr txBox="1"/>
          <p:nvPr/>
        </p:nvSpPr>
        <p:spPr>
          <a:xfrm>
            <a:off x="7025335" y="6355080"/>
            <a:ext cx="4572000" cy="274320"/>
          </a:xfrm>
          <a:prstGeom prst="rect">
            <a:avLst/>
          </a:prstGeom>
          <a:noFill/>
          <a:ln/>
        </p:spPr>
        <p:txBody>
          <a:bodyPr wrap="square" lIns="0" tIns="0" rIns="0" bIns="0" rtlCol="0" anchor="t"/>
          <a:lstStyle/>
          <a:p>
            <a:pPr rtl="1" algn="r" indent="0" marL="0">
              <a:buNone/>
            </a:pPr>
            <a:r>
              <a:rPr lang="ar-SA" altLang="en-US" sz="1100" dirty="0">
                <a:solidFill>
                  <a:srgbClr val="6B7D70"/>
                </a:solidFill>
                <a:latin typeface="Arial" pitchFamily="34" charset="0"/>
                <a:ea typeface="Arial" pitchFamily="34" charset="-122"/>
                <a:cs typeface="Arial" pitchFamily="34" charset="-120"/>
              </a:rPr>
              <a:t>مبادرة الأثر الأخضر المستدام</a:t>
            </a:r>
            <a:endParaRPr lang="ar-SA"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1"/>
        </a:solidFill>
      </p:bgPr>
    </p:bg>
    <p:spTree>
      <p:nvGrpSpPr>
        <p:cNvPr id="1" name=""/>
        <p:cNvGrpSpPr/>
        <p:nvPr/>
      </p:nvGrpSpPr>
      <p:grpSpPr>
        <a:xfrm>
          <a:off x="0" y="0"/>
          <a:ext cx="0" cy="0"/>
          <a:chOff x="0" y="0"/>
          <a:chExt cx="0" cy="0"/>
        </a:xfrm>
      </p:grpSpPr>
      <p:sp>
        <p:nvSpPr>
          <p:cNvPr id="2" name="Text 0"/>
          <p:cNvSpPr txBox="1"/>
          <p:nvPr/>
        </p:nvSpPr>
        <p:spPr>
          <a:xfrm>
            <a:off x="594360" y="502920"/>
            <a:ext cx="11002975" cy="365760"/>
          </a:xfrm>
          <a:prstGeom prst="rect">
            <a:avLst/>
          </a:prstGeom>
          <a:noFill/>
          <a:ln/>
        </p:spPr>
        <p:txBody>
          <a:bodyPr wrap="square" lIns="0" tIns="0" rIns="0" bIns="0" rtlCol="0" anchor="t"/>
          <a:lstStyle/>
          <a:p>
            <a:pPr rtl="1" algn="r" indent="0" marL="0">
              <a:buNone/>
            </a:pPr>
            <a:r>
              <a:rPr lang="ar-SA" altLang="en-US" sz="1500" b="1" dirty="0">
                <a:solidFill>
                  <a:srgbClr val="8A6508"/>
                </a:solidFill>
                <a:latin typeface="Arial" pitchFamily="34" charset="0"/>
                <a:ea typeface="Arial" pitchFamily="34" charset="-122"/>
                <a:cs typeface="Arial" pitchFamily="34" charset="-120"/>
              </a:rPr>
              <a:t>نبذة عن المبادرة</a:t>
            </a:r>
            <a:endParaRPr lang="ar-SA" sz="1500" dirty="0"/>
          </a:p>
        </p:txBody>
      </p:sp>
      <p:sp>
        <p:nvSpPr>
          <p:cNvPr id="3" name="Text 1"/>
          <p:cNvSpPr txBox="1"/>
          <p:nvPr/>
        </p:nvSpPr>
        <p:spPr>
          <a:xfrm>
            <a:off x="594360" y="868680"/>
            <a:ext cx="11002975" cy="731520"/>
          </a:xfrm>
          <a:prstGeom prst="rect">
            <a:avLst/>
          </a:prstGeom>
          <a:noFill/>
          <a:ln/>
        </p:spPr>
        <p:txBody>
          <a:bodyPr wrap="square" lIns="0" tIns="0" rIns="0" bIns="0" rtlCol="0" anchor="t"/>
          <a:lstStyle/>
          <a:p>
            <a:pPr rtl="1" algn="r" indent="0" marL="0">
              <a:buNone/>
            </a:pPr>
            <a:r>
              <a:rPr lang="ar-SA" altLang="en-US" sz="3600" b="1" dirty="0">
                <a:solidFill>
                  <a:srgbClr val="1E5E36"/>
                </a:solidFill>
                <a:latin typeface="Arial" pitchFamily="34" charset="0"/>
                <a:ea typeface="Arial" pitchFamily="34" charset="-122"/>
                <a:cs typeface="Arial" pitchFamily="34" charset="-120"/>
              </a:rPr>
              <a:t>من فعالية موسمية إلى منظومة حتى 2030</a:t>
            </a:r>
            <a:endParaRPr lang="ar-SA" sz="3600" dirty="0"/>
          </a:p>
        </p:txBody>
      </p:sp>
      <p:sp>
        <p:nvSpPr>
          <p:cNvPr id="4" name="Text 2"/>
          <p:cNvSpPr txBox="1"/>
          <p:nvPr/>
        </p:nvSpPr>
        <p:spPr>
          <a:xfrm>
            <a:off x="594360" y="1828800"/>
            <a:ext cx="11002975" cy="822960"/>
          </a:xfrm>
          <a:prstGeom prst="rect">
            <a:avLst/>
          </a:prstGeom>
          <a:noFill/>
          <a:ln/>
        </p:spPr>
        <p:txBody>
          <a:bodyPr wrap="square" lIns="0" tIns="0" rIns="0" bIns="0" rtlCol="0" anchor="t"/>
          <a:lstStyle/>
          <a:p>
            <a:pPr rtl="1" algn="r" indent="0" marL="0">
              <a:buNone/>
            </a:pPr>
            <a:r>
              <a:rPr lang="ar-SA" altLang="en-US" sz="1800" dirty="0">
                <a:solidFill>
                  <a:srgbClr val="2B3F32"/>
                </a:solidFill>
                <a:latin typeface="Arial" pitchFamily="34" charset="0"/>
                <a:ea typeface="Arial" pitchFamily="34" charset="-122"/>
                <a:cs typeface="Arial" pitchFamily="34" charset="-120"/>
              </a:rPr>
              <a:t>تُحوّل المبادرة المناسبات البيئية إلى تجارب تعليمية ومجتمعية مستدامة، تصنع جيلًا واعيًا قادرًا على صياغة مستقبلٍ بيئي مزدهر.</a:t>
            </a:r>
            <a:endParaRPr lang="ar-SA" sz="1800" dirty="0"/>
          </a:p>
        </p:txBody>
      </p:sp>
      <p:sp>
        <p:nvSpPr>
          <p:cNvPr id="5" name="Shape 3"/>
          <p:cNvSpPr/>
          <p:nvPr/>
        </p:nvSpPr>
        <p:spPr>
          <a:xfrm>
            <a:off x="9018041" y="3291840"/>
            <a:ext cx="2579294" cy="2103120"/>
          </a:xfrm>
          <a:prstGeom prst="roundRect">
            <a:avLst>
              <a:gd name="adj" fmla="val 5217"/>
            </a:avLst>
          </a:prstGeom>
          <a:solidFill>
            <a:srgbClr val="FBFCF9"/>
          </a:solidFill>
          <a:ln w="9525">
            <a:solidFill>
              <a:srgbClr val="D6E0D1"/>
            </a:solidFill>
            <a:prstDash val="solid"/>
          </a:ln>
        </p:spPr>
      </p:sp>
      <p:sp>
        <p:nvSpPr>
          <p:cNvPr id="6" name="Shape 4"/>
          <p:cNvSpPr/>
          <p:nvPr/>
        </p:nvSpPr>
        <p:spPr>
          <a:xfrm>
            <a:off x="10728655" y="3520440"/>
            <a:ext cx="548640" cy="548640"/>
          </a:xfrm>
          <a:prstGeom prst="ellipse">
            <a:avLst/>
          </a:prstGeom>
          <a:solidFill>
            <a:srgbClr val="DCEBD5"/>
          </a:solidFill>
          <a:ln w="12700">
            <a:solidFill>
              <a:srgbClr val="DCEBD5"/>
            </a:solidFill>
            <a:prstDash val="solid"/>
          </a:ln>
        </p:spPr>
      </p:sp>
      <p:sp>
        <p:nvSpPr>
          <p:cNvPr id="7" name="Text 5"/>
          <p:cNvSpPr txBox="1"/>
          <p:nvPr/>
        </p:nvSpPr>
        <p:spPr>
          <a:xfrm>
            <a:off x="10728655" y="3520440"/>
            <a:ext cx="548640" cy="548640"/>
          </a:xfrm>
          <a:prstGeom prst="rect">
            <a:avLst/>
          </a:prstGeom>
          <a:noFill/>
          <a:ln/>
        </p:spPr>
        <p:txBody>
          <a:bodyPr wrap="square" lIns="0" tIns="0" rIns="0" bIns="0" rtlCol="0" anchor="ctr"/>
          <a:lstStyle/>
          <a:p>
            <a:pPr algn="ctr" indent="0" marL="0">
              <a:buNone/>
            </a:pPr>
            <a:r>
              <a:rPr lang="ar-SA" altLang="en-US" sz="1800" b="1" dirty="0">
                <a:solidFill>
                  <a:srgbClr val="1E5E36"/>
                </a:solidFill>
                <a:latin typeface="Arial" pitchFamily="34" charset="0"/>
                <a:ea typeface="Arial" pitchFamily="34" charset="-122"/>
                <a:cs typeface="Arial" pitchFamily="34" charset="-120"/>
              </a:rPr>
              <a:t>1</a:t>
            </a:r>
            <a:endParaRPr lang="ar-SA" sz="1800" dirty="0"/>
          </a:p>
        </p:txBody>
      </p:sp>
      <p:sp>
        <p:nvSpPr>
          <p:cNvPr id="8" name="Text 6"/>
          <p:cNvSpPr txBox="1"/>
          <p:nvPr/>
        </p:nvSpPr>
        <p:spPr>
          <a:xfrm>
            <a:off x="9292361" y="4206240"/>
            <a:ext cx="2030654" cy="411480"/>
          </a:xfrm>
          <a:prstGeom prst="rect">
            <a:avLst/>
          </a:prstGeom>
          <a:noFill/>
          <a:ln/>
        </p:spPr>
        <p:txBody>
          <a:bodyPr wrap="square" lIns="0" tIns="0" rIns="0" bIns="0" rtlCol="0" anchor="t"/>
          <a:lstStyle/>
          <a:p>
            <a:pPr rtl="1" algn="r" indent="0" marL="0">
              <a:buNone/>
            </a:pPr>
            <a:r>
              <a:rPr lang="ar-SA" altLang="en-US" sz="2000" b="1" dirty="0">
                <a:solidFill>
                  <a:srgbClr val="1E5E36"/>
                </a:solidFill>
                <a:latin typeface="Arial" pitchFamily="34" charset="0"/>
                <a:ea typeface="Arial" pitchFamily="34" charset="-122"/>
                <a:cs typeface="Arial" pitchFamily="34" charset="-120"/>
              </a:rPr>
              <a:t>مشاريع نوعية</a:t>
            </a:r>
            <a:endParaRPr lang="ar-SA" sz="2000" dirty="0"/>
          </a:p>
        </p:txBody>
      </p:sp>
      <p:sp>
        <p:nvSpPr>
          <p:cNvPr id="9" name="Text 7"/>
          <p:cNvSpPr txBox="1"/>
          <p:nvPr/>
        </p:nvSpPr>
        <p:spPr>
          <a:xfrm>
            <a:off x="9292361" y="4663440"/>
            <a:ext cx="2030654" cy="640080"/>
          </a:xfrm>
          <a:prstGeom prst="rect">
            <a:avLst/>
          </a:prstGeom>
          <a:noFill/>
          <a:ln/>
        </p:spPr>
        <p:txBody>
          <a:bodyPr wrap="square" lIns="0" tIns="0" rIns="0" bIns="0" rtlCol="0" anchor="t"/>
          <a:lstStyle/>
          <a:p>
            <a:pPr rtl="1" algn="r" indent="0" marL="0">
              <a:buNone/>
            </a:pPr>
            <a:r>
              <a:rPr lang="ar-SA" altLang="en-US" sz="1400" dirty="0">
                <a:solidFill>
                  <a:srgbClr val="4F6356"/>
                </a:solidFill>
                <a:latin typeface="Arial" pitchFamily="34" charset="0"/>
                <a:ea typeface="Arial" pitchFamily="34" charset="-122"/>
                <a:cs typeface="Arial" pitchFamily="34" charset="-120"/>
              </a:rPr>
              <a:t>مشاريع مستدامة ذات أثرٍ قابل للقياس</a:t>
            </a:r>
            <a:endParaRPr lang="ar-SA" sz="1400" dirty="0"/>
          </a:p>
        </p:txBody>
      </p:sp>
      <p:sp>
        <p:nvSpPr>
          <p:cNvPr id="10" name="Shape 8"/>
          <p:cNvSpPr/>
          <p:nvPr/>
        </p:nvSpPr>
        <p:spPr>
          <a:xfrm>
            <a:off x="6210148" y="3291840"/>
            <a:ext cx="2579294" cy="2103120"/>
          </a:xfrm>
          <a:prstGeom prst="roundRect">
            <a:avLst>
              <a:gd name="adj" fmla="val 5217"/>
            </a:avLst>
          </a:prstGeom>
          <a:solidFill>
            <a:srgbClr val="FBFCF9"/>
          </a:solidFill>
          <a:ln w="9525">
            <a:solidFill>
              <a:srgbClr val="D6E0D1"/>
            </a:solidFill>
            <a:prstDash val="solid"/>
          </a:ln>
        </p:spPr>
      </p:sp>
      <p:sp>
        <p:nvSpPr>
          <p:cNvPr id="11" name="Shape 9"/>
          <p:cNvSpPr/>
          <p:nvPr/>
        </p:nvSpPr>
        <p:spPr>
          <a:xfrm>
            <a:off x="7920761" y="3520440"/>
            <a:ext cx="548640" cy="548640"/>
          </a:xfrm>
          <a:prstGeom prst="ellipse">
            <a:avLst/>
          </a:prstGeom>
          <a:solidFill>
            <a:srgbClr val="DCEBD5"/>
          </a:solidFill>
          <a:ln w="12700">
            <a:solidFill>
              <a:srgbClr val="DCEBD5"/>
            </a:solidFill>
            <a:prstDash val="solid"/>
          </a:ln>
        </p:spPr>
      </p:sp>
      <p:sp>
        <p:nvSpPr>
          <p:cNvPr id="12" name="Text 10"/>
          <p:cNvSpPr txBox="1"/>
          <p:nvPr/>
        </p:nvSpPr>
        <p:spPr>
          <a:xfrm>
            <a:off x="7920761" y="3520440"/>
            <a:ext cx="548640" cy="548640"/>
          </a:xfrm>
          <a:prstGeom prst="rect">
            <a:avLst/>
          </a:prstGeom>
          <a:noFill/>
          <a:ln/>
        </p:spPr>
        <p:txBody>
          <a:bodyPr wrap="square" lIns="0" tIns="0" rIns="0" bIns="0" rtlCol="0" anchor="ctr"/>
          <a:lstStyle/>
          <a:p>
            <a:pPr algn="ctr" indent="0" marL="0">
              <a:buNone/>
            </a:pPr>
            <a:r>
              <a:rPr lang="ar-SA" altLang="en-US" sz="1800" b="1" dirty="0">
                <a:solidFill>
                  <a:srgbClr val="1E5E36"/>
                </a:solidFill>
                <a:latin typeface="Arial" pitchFamily="34" charset="0"/>
                <a:ea typeface="Arial" pitchFamily="34" charset="-122"/>
                <a:cs typeface="Arial" pitchFamily="34" charset="-120"/>
              </a:rPr>
              <a:t>2</a:t>
            </a:r>
            <a:endParaRPr lang="ar-SA" sz="1800" dirty="0"/>
          </a:p>
        </p:txBody>
      </p:sp>
      <p:sp>
        <p:nvSpPr>
          <p:cNvPr id="13" name="Text 11"/>
          <p:cNvSpPr txBox="1"/>
          <p:nvPr/>
        </p:nvSpPr>
        <p:spPr>
          <a:xfrm>
            <a:off x="6484468" y="4206240"/>
            <a:ext cx="2030654" cy="411480"/>
          </a:xfrm>
          <a:prstGeom prst="rect">
            <a:avLst/>
          </a:prstGeom>
          <a:noFill/>
          <a:ln/>
        </p:spPr>
        <p:txBody>
          <a:bodyPr wrap="square" lIns="0" tIns="0" rIns="0" bIns="0" rtlCol="0" anchor="t"/>
          <a:lstStyle/>
          <a:p>
            <a:pPr rtl="1" algn="r" indent="0" marL="0">
              <a:buNone/>
            </a:pPr>
            <a:r>
              <a:rPr lang="ar-SA" altLang="en-US" sz="2000" b="1" dirty="0">
                <a:solidFill>
                  <a:srgbClr val="1E5E36"/>
                </a:solidFill>
                <a:latin typeface="Arial" pitchFamily="34" charset="0"/>
                <a:ea typeface="Arial" pitchFamily="34" charset="-122"/>
                <a:cs typeface="Arial" pitchFamily="34" charset="-120"/>
              </a:rPr>
              <a:t>برامج تعليمية</a:t>
            </a:r>
            <a:endParaRPr lang="ar-SA" sz="2000" dirty="0"/>
          </a:p>
        </p:txBody>
      </p:sp>
      <p:sp>
        <p:nvSpPr>
          <p:cNvPr id="14" name="Text 12"/>
          <p:cNvSpPr txBox="1"/>
          <p:nvPr/>
        </p:nvSpPr>
        <p:spPr>
          <a:xfrm>
            <a:off x="6484468" y="4663440"/>
            <a:ext cx="2030654" cy="640080"/>
          </a:xfrm>
          <a:prstGeom prst="rect">
            <a:avLst/>
          </a:prstGeom>
          <a:noFill/>
          <a:ln/>
        </p:spPr>
        <p:txBody>
          <a:bodyPr wrap="square" lIns="0" tIns="0" rIns="0" bIns="0" rtlCol="0" anchor="t"/>
          <a:lstStyle/>
          <a:p>
            <a:pPr rtl="1" algn="r" indent="0" marL="0">
              <a:buNone/>
            </a:pPr>
            <a:r>
              <a:rPr lang="ar-SA" altLang="en-US" sz="1400" dirty="0">
                <a:solidFill>
                  <a:srgbClr val="4F6356"/>
                </a:solidFill>
                <a:latin typeface="Arial" pitchFamily="34" charset="0"/>
                <a:ea typeface="Arial" pitchFamily="34" charset="-122"/>
                <a:cs typeface="Arial" pitchFamily="34" charset="-120"/>
              </a:rPr>
              <a:t>برامج مجتمعية وتعليمية متكاملة</a:t>
            </a:r>
            <a:endParaRPr lang="ar-SA" sz="1400" dirty="0"/>
          </a:p>
        </p:txBody>
      </p:sp>
      <p:sp>
        <p:nvSpPr>
          <p:cNvPr id="15" name="Shape 13"/>
          <p:cNvSpPr/>
          <p:nvPr/>
        </p:nvSpPr>
        <p:spPr>
          <a:xfrm>
            <a:off x="3402254" y="3291840"/>
            <a:ext cx="2579294" cy="2103120"/>
          </a:xfrm>
          <a:prstGeom prst="roundRect">
            <a:avLst>
              <a:gd name="adj" fmla="val 5217"/>
            </a:avLst>
          </a:prstGeom>
          <a:solidFill>
            <a:srgbClr val="FBFCF9"/>
          </a:solidFill>
          <a:ln w="9525">
            <a:solidFill>
              <a:srgbClr val="D6E0D1"/>
            </a:solidFill>
            <a:prstDash val="solid"/>
          </a:ln>
        </p:spPr>
      </p:sp>
      <p:sp>
        <p:nvSpPr>
          <p:cNvPr id="16" name="Shape 14"/>
          <p:cNvSpPr/>
          <p:nvPr/>
        </p:nvSpPr>
        <p:spPr>
          <a:xfrm>
            <a:off x="5112868" y="3520440"/>
            <a:ext cx="548640" cy="548640"/>
          </a:xfrm>
          <a:prstGeom prst="ellipse">
            <a:avLst/>
          </a:prstGeom>
          <a:solidFill>
            <a:srgbClr val="DCEBD5"/>
          </a:solidFill>
          <a:ln w="12700">
            <a:solidFill>
              <a:srgbClr val="DCEBD5"/>
            </a:solidFill>
            <a:prstDash val="solid"/>
          </a:ln>
        </p:spPr>
      </p:sp>
      <p:sp>
        <p:nvSpPr>
          <p:cNvPr id="17" name="Text 15"/>
          <p:cNvSpPr txBox="1"/>
          <p:nvPr/>
        </p:nvSpPr>
        <p:spPr>
          <a:xfrm>
            <a:off x="5112868" y="3520440"/>
            <a:ext cx="548640" cy="548640"/>
          </a:xfrm>
          <a:prstGeom prst="rect">
            <a:avLst/>
          </a:prstGeom>
          <a:noFill/>
          <a:ln/>
        </p:spPr>
        <p:txBody>
          <a:bodyPr wrap="square" lIns="0" tIns="0" rIns="0" bIns="0" rtlCol="0" anchor="ctr"/>
          <a:lstStyle/>
          <a:p>
            <a:pPr algn="ctr" indent="0" marL="0">
              <a:buNone/>
            </a:pPr>
            <a:r>
              <a:rPr lang="ar-SA" altLang="en-US" sz="1800" b="1" dirty="0">
                <a:solidFill>
                  <a:srgbClr val="1E5E36"/>
                </a:solidFill>
                <a:latin typeface="Arial" pitchFamily="34" charset="0"/>
                <a:ea typeface="Arial" pitchFamily="34" charset="-122"/>
                <a:cs typeface="Arial" pitchFamily="34" charset="-120"/>
              </a:rPr>
              <a:t>3</a:t>
            </a:r>
            <a:endParaRPr lang="ar-SA" sz="1800" dirty="0"/>
          </a:p>
        </p:txBody>
      </p:sp>
      <p:sp>
        <p:nvSpPr>
          <p:cNvPr id="18" name="Text 16"/>
          <p:cNvSpPr txBox="1"/>
          <p:nvPr/>
        </p:nvSpPr>
        <p:spPr>
          <a:xfrm>
            <a:off x="3676574" y="4206240"/>
            <a:ext cx="2030654" cy="411480"/>
          </a:xfrm>
          <a:prstGeom prst="rect">
            <a:avLst/>
          </a:prstGeom>
          <a:noFill/>
          <a:ln/>
        </p:spPr>
        <p:txBody>
          <a:bodyPr wrap="square" lIns="0" tIns="0" rIns="0" bIns="0" rtlCol="0" anchor="t"/>
          <a:lstStyle/>
          <a:p>
            <a:pPr rtl="1" algn="r" indent="0" marL="0">
              <a:buNone/>
            </a:pPr>
            <a:r>
              <a:rPr lang="ar-SA" altLang="en-US" sz="2000" b="1" dirty="0">
                <a:solidFill>
                  <a:srgbClr val="1E5E36"/>
                </a:solidFill>
                <a:latin typeface="Arial" pitchFamily="34" charset="0"/>
                <a:ea typeface="Arial" pitchFamily="34" charset="-122"/>
                <a:cs typeface="Arial" pitchFamily="34" charset="-120"/>
              </a:rPr>
              <a:t>شراكات استراتيجية</a:t>
            </a:r>
            <a:endParaRPr lang="ar-SA" sz="2000" dirty="0"/>
          </a:p>
        </p:txBody>
      </p:sp>
      <p:sp>
        <p:nvSpPr>
          <p:cNvPr id="19" name="Text 17"/>
          <p:cNvSpPr txBox="1"/>
          <p:nvPr/>
        </p:nvSpPr>
        <p:spPr>
          <a:xfrm>
            <a:off x="3676574" y="4663440"/>
            <a:ext cx="2030654" cy="640080"/>
          </a:xfrm>
          <a:prstGeom prst="rect">
            <a:avLst/>
          </a:prstGeom>
          <a:noFill/>
          <a:ln/>
        </p:spPr>
        <p:txBody>
          <a:bodyPr wrap="square" lIns="0" tIns="0" rIns="0" bIns="0" rtlCol="0" anchor="t"/>
          <a:lstStyle/>
          <a:p>
            <a:pPr rtl="1" algn="r" indent="0" marL="0">
              <a:buNone/>
            </a:pPr>
            <a:r>
              <a:rPr lang="ar-SA" altLang="en-US" sz="1400" dirty="0">
                <a:solidFill>
                  <a:srgbClr val="4F6356"/>
                </a:solidFill>
                <a:latin typeface="Arial" pitchFamily="34" charset="0"/>
                <a:ea typeface="Arial" pitchFamily="34" charset="-122"/>
                <a:cs typeface="Arial" pitchFamily="34" charset="-120"/>
              </a:rPr>
              <a:t>شراكات فاعلة بين القطاعات الثلاثة</a:t>
            </a:r>
            <a:endParaRPr lang="ar-SA" sz="1400" dirty="0"/>
          </a:p>
        </p:txBody>
      </p:sp>
      <p:sp>
        <p:nvSpPr>
          <p:cNvPr id="20" name="Shape 18"/>
          <p:cNvSpPr/>
          <p:nvPr/>
        </p:nvSpPr>
        <p:spPr>
          <a:xfrm>
            <a:off x="594360" y="3291840"/>
            <a:ext cx="2579294" cy="2103120"/>
          </a:xfrm>
          <a:prstGeom prst="roundRect">
            <a:avLst>
              <a:gd name="adj" fmla="val 5217"/>
            </a:avLst>
          </a:prstGeom>
          <a:solidFill>
            <a:srgbClr val="FBFCF9"/>
          </a:solidFill>
          <a:ln w="9525">
            <a:solidFill>
              <a:srgbClr val="D6E0D1"/>
            </a:solidFill>
            <a:prstDash val="solid"/>
          </a:ln>
        </p:spPr>
      </p:sp>
      <p:sp>
        <p:nvSpPr>
          <p:cNvPr id="21" name="Shape 19"/>
          <p:cNvSpPr/>
          <p:nvPr/>
        </p:nvSpPr>
        <p:spPr>
          <a:xfrm>
            <a:off x="2304974" y="3520440"/>
            <a:ext cx="548640" cy="548640"/>
          </a:xfrm>
          <a:prstGeom prst="ellipse">
            <a:avLst/>
          </a:prstGeom>
          <a:solidFill>
            <a:srgbClr val="DCEBD5"/>
          </a:solidFill>
          <a:ln w="12700">
            <a:solidFill>
              <a:srgbClr val="DCEBD5"/>
            </a:solidFill>
            <a:prstDash val="solid"/>
          </a:ln>
        </p:spPr>
      </p:sp>
      <p:sp>
        <p:nvSpPr>
          <p:cNvPr id="22" name="Text 20"/>
          <p:cNvSpPr txBox="1"/>
          <p:nvPr/>
        </p:nvSpPr>
        <p:spPr>
          <a:xfrm>
            <a:off x="2304974" y="3520440"/>
            <a:ext cx="548640" cy="548640"/>
          </a:xfrm>
          <a:prstGeom prst="rect">
            <a:avLst/>
          </a:prstGeom>
          <a:noFill/>
          <a:ln/>
        </p:spPr>
        <p:txBody>
          <a:bodyPr wrap="square" lIns="0" tIns="0" rIns="0" bIns="0" rtlCol="0" anchor="ctr"/>
          <a:lstStyle/>
          <a:p>
            <a:pPr algn="ctr" indent="0" marL="0">
              <a:buNone/>
            </a:pPr>
            <a:r>
              <a:rPr lang="ar-SA" altLang="en-US" sz="1800" b="1" dirty="0">
                <a:solidFill>
                  <a:srgbClr val="1E5E36"/>
                </a:solidFill>
                <a:latin typeface="Arial" pitchFamily="34" charset="0"/>
                <a:ea typeface="Arial" pitchFamily="34" charset="-122"/>
                <a:cs typeface="Arial" pitchFamily="34" charset="-120"/>
              </a:rPr>
              <a:t>4</a:t>
            </a:r>
            <a:endParaRPr lang="ar-SA" sz="1800" dirty="0"/>
          </a:p>
        </p:txBody>
      </p:sp>
      <p:sp>
        <p:nvSpPr>
          <p:cNvPr id="23" name="Text 21"/>
          <p:cNvSpPr txBox="1"/>
          <p:nvPr/>
        </p:nvSpPr>
        <p:spPr>
          <a:xfrm>
            <a:off x="868680" y="4206240"/>
            <a:ext cx="2030654" cy="411480"/>
          </a:xfrm>
          <a:prstGeom prst="rect">
            <a:avLst/>
          </a:prstGeom>
          <a:noFill/>
          <a:ln/>
        </p:spPr>
        <p:txBody>
          <a:bodyPr wrap="square" lIns="0" tIns="0" rIns="0" bIns="0" rtlCol="0" anchor="t"/>
          <a:lstStyle/>
          <a:p>
            <a:pPr rtl="1" algn="r" indent="0" marL="0">
              <a:buNone/>
            </a:pPr>
            <a:r>
              <a:rPr lang="ar-SA" altLang="en-US" sz="2000" b="1" dirty="0">
                <a:solidFill>
                  <a:srgbClr val="1E5E36"/>
                </a:solidFill>
                <a:latin typeface="Arial" pitchFamily="34" charset="0"/>
                <a:ea typeface="Arial" pitchFamily="34" charset="-122"/>
                <a:cs typeface="Arial" pitchFamily="34" charset="-120"/>
              </a:rPr>
              <a:t>ملتقى سنوي</a:t>
            </a:r>
            <a:endParaRPr lang="ar-SA" sz="2000" dirty="0"/>
          </a:p>
        </p:txBody>
      </p:sp>
      <p:sp>
        <p:nvSpPr>
          <p:cNvPr id="24" name="Text 22"/>
          <p:cNvSpPr txBox="1"/>
          <p:nvPr/>
        </p:nvSpPr>
        <p:spPr>
          <a:xfrm>
            <a:off x="868680" y="4663440"/>
            <a:ext cx="2030654" cy="640080"/>
          </a:xfrm>
          <a:prstGeom prst="rect">
            <a:avLst/>
          </a:prstGeom>
          <a:noFill/>
          <a:ln/>
        </p:spPr>
        <p:txBody>
          <a:bodyPr wrap="square" lIns="0" tIns="0" rIns="0" bIns="0" rtlCol="0" anchor="t"/>
          <a:lstStyle/>
          <a:p>
            <a:pPr rtl="1" algn="r" indent="0" marL="0">
              <a:buNone/>
            </a:pPr>
            <a:r>
              <a:rPr lang="ar-SA" altLang="en-US" sz="1400" dirty="0">
                <a:solidFill>
                  <a:srgbClr val="4F6356"/>
                </a:solidFill>
                <a:latin typeface="Arial" pitchFamily="34" charset="0"/>
                <a:ea typeface="Arial" pitchFamily="34" charset="-122"/>
                <a:cs typeface="Arial" pitchFamily="34" charset="-120"/>
              </a:rPr>
              <a:t>منصة سنوية لتبادل الخبرات وقياس الأثر</a:t>
            </a:r>
            <a:endParaRPr lang="ar-SA" sz="1400" dirty="0"/>
          </a:p>
        </p:txBody>
      </p:sp>
      <p:sp>
        <p:nvSpPr>
          <p:cNvPr id="25" name="Text 23"/>
          <p:cNvSpPr txBox="1"/>
          <p:nvPr/>
        </p:nvSpPr>
        <p:spPr>
          <a:xfrm>
            <a:off x="594360" y="6355080"/>
            <a:ext cx="914400" cy="274320"/>
          </a:xfrm>
          <a:prstGeom prst="rect">
            <a:avLst/>
          </a:prstGeom>
          <a:noFill/>
          <a:ln/>
        </p:spPr>
        <p:txBody>
          <a:bodyPr wrap="square" lIns="0" tIns="0" rIns="0" bIns="0" rtlCol="0" anchor="t"/>
          <a:lstStyle/>
          <a:p>
            <a:pPr algn="l" indent="0" marL="0">
              <a:buNone/>
            </a:pPr>
            <a:r>
              <a:rPr lang="ar-SA" altLang="en-US" sz="1100" dirty="0">
                <a:solidFill>
                  <a:srgbClr val="6B7D70"/>
                </a:solidFill>
                <a:latin typeface="Arial" pitchFamily="34" charset="0"/>
                <a:ea typeface="Arial" pitchFamily="34" charset="-122"/>
                <a:cs typeface="Arial" pitchFamily="34" charset="-120"/>
              </a:rPr>
              <a:t>03</a:t>
            </a:r>
            <a:endParaRPr lang="ar-SA" sz="1100" dirty="0"/>
          </a:p>
        </p:txBody>
      </p:sp>
      <p:sp>
        <p:nvSpPr>
          <p:cNvPr id="26" name="Text 24"/>
          <p:cNvSpPr txBox="1"/>
          <p:nvPr/>
        </p:nvSpPr>
        <p:spPr>
          <a:xfrm>
            <a:off x="7025335" y="6355080"/>
            <a:ext cx="4572000" cy="274320"/>
          </a:xfrm>
          <a:prstGeom prst="rect">
            <a:avLst/>
          </a:prstGeom>
          <a:noFill/>
          <a:ln/>
        </p:spPr>
        <p:txBody>
          <a:bodyPr wrap="square" lIns="0" tIns="0" rIns="0" bIns="0" rtlCol="0" anchor="t"/>
          <a:lstStyle/>
          <a:p>
            <a:pPr rtl="1" algn="r" indent="0" marL="0">
              <a:buNone/>
            </a:pPr>
            <a:r>
              <a:rPr lang="ar-SA" altLang="en-US" sz="1100" dirty="0">
                <a:solidFill>
                  <a:srgbClr val="6B7D70"/>
                </a:solidFill>
                <a:latin typeface="Arial" pitchFamily="34" charset="0"/>
                <a:ea typeface="Arial" pitchFamily="34" charset="-122"/>
                <a:cs typeface="Arial" pitchFamily="34" charset="-120"/>
              </a:rPr>
              <a:t>مبادرة الأثر الأخضر المستدام</a:t>
            </a:r>
            <a:endParaRPr lang="ar-SA"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F0E3"/>
        </a:solidFill>
      </p:bgPr>
    </p:bg>
    <p:spTree>
      <p:nvGrpSpPr>
        <p:cNvPr id="1" name=""/>
        <p:cNvGrpSpPr/>
        <p:nvPr/>
      </p:nvGrpSpPr>
      <p:grpSpPr>
        <a:xfrm>
          <a:off x="0" y="0"/>
          <a:ext cx="0" cy="0"/>
          <a:chOff x="0" y="0"/>
          <a:chExt cx="0" cy="0"/>
        </a:xfrm>
      </p:grpSpPr>
      <p:sp>
        <p:nvSpPr>
          <p:cNvPr id="2" name="Text 0"/>
          <p:cNvSpPr txBox="1"/>
          <p:nvPr/>
        </p:nvSpPr>
        <p:spPr>
          <a:xfrm>
            <a:off x="594360" y="502920"/>
            <a:ext cx="11002975" cy="365760"/>
          </a:xfrm>
          <a:prstGeom prst="rect">
            <a:avLst/>
          </a:prstGeom>
          <a:noFill/>
          <a:ln/>
        </p:spPr>
        <p:txBody>
          <a:bodyPr wrap="square" lIns="0" tIns="0" rIns="0" bIns="0" rtlCol="0" anchor="t"/>
          <a:lstStyle/>
          <a:p>
            <a:pPr rtl="1" algn="r" indent="0" marL="0">
              <a:buNone/>
            </a:pPr>
            <a:r>
              <a:rPr lang="ar-SA" altLang="en-US" sz="1500" b="1" dirty="0">
                <a:solidFill>
                  <a:srgbClr val="8A6508"/>
                </a:solidFill>
                <a:latin typeface="Arial" pitchFamily="34" charset="0"/>
                <a:ea typeface="Arial" pitchFamily="34" charset="-122"/>
                <a:cs typeface="Arial" pitchFamily="34" charset="-120"/>
              </a:rPr>
              <a:t>التوجه الاستراتيجي</a:t>
            </a:r>
            <a:endParaRPr lang="ar-SA" sz="1500" dirty="0"/>
          </a:p>
        </p:txBody>
      </p:sp>
      <p:sp>
        <p:nvSpPr>
          <p:cNvPr id="3" name="Text 1"/>
          <p:cNvSpPr txBox="1"/>
          <p:nvPr/>
        </p:nvSpPr>
        <p:spPr>
          <a:xfrm>
            <a:off x="594360" y="868680"/>
            <a:ext cx="11002975" cy="731520"/>
          </a:xfrm>
          <a:prstGeom prst="rect">
            <a:avLst/>
          </a:prstGeom>
          <a:noFill/>
          <a:ln/>
        </p:spPr>
        <p:txBody>
          <a:bodyPr wrap="square" lIns="0" tIns="0" rIns="0" bIns="0" rtlCol="0" anchor="t"/>
          <a:lstStyle/>
          <a:p>
            <a:pPr rtl="1" algn="r" indent="0" marL="0">
              <a:buNone/>
            </a:pPr>
            <a:r>
              <a:rPr lang="ar-SA" altLang="en-US" sz="3600" b="1" dirty="0">
                <a:solidFill>
                  <a:srgbClr val="1E5E36"/>
                </a:solidFill>
                <a:latin typeface="Arial" pitchFamily="34" charset="0"/>
                <a:ea typeface="Arial" pitchFamily="34" charset="-122"/>
                <a:cs typeface="Arial" pitchFamily="34" charset="-120"/>
              </a:rPr>
              <a:t>الرؤية والرسالة</a:t>
            </a:r>
            <a:endParaRPr lang="ar-SA" sz="3600" dirty="0"/>
          </a:p>
        </p:txBody>
      </p:sp>
      <p:sp>
        <p:nvSpPr>
          <p:cNvPr id="4" name="Shape 2"/>
          <p:cNvSpPr/>
          <p:nvPr/>
        </p:nvSpPr>
        <p:spPr>
          <a:xfrm>
            <a:off x="6278728" y="1828800"/>
            <a:ext cx="5318608" cy="3840480"/>
          </a:xfrm>
          <a:prstGeom prst="roundRect">
            <a:avLst>
              <a:gd name="adj" fmla="val 2857"/>
            </a:avLst>
          </a:prstGeom>
          <a:solidFill>
            <a:srgbClr val="FBFCF9"/>
          </a:solidFill>
          <a:ln w="9525">
            <a:solidFill>
              <a:srgbClr val="D6E0D1"/>
            </a:solidFill>
            <a:prstDash val="solid"/>
          </a:ln>
        </p:spPr>
      </p:sp>
      <p:sp>
        <p:nvSpPr>
          <p:cNvPr id="5" name="Text 3"/>
          <p:cNvSpPr txBox="1"/>
          <p:nvPr/>
        </p:nvSpPr>
        <p:spPr>
          <a:xfrm>
            <a:off x="6644488" y="2103120"/>
            <a:ext cx="4587088" cy="548640"/>
          </a:xfrm>
          <a:prstGeom prst="rect">
            <a:avLst/>
          </a:prstGeom>
          <a:noFill/>
          <a:ln/>
        </p:spPr>
        <p:txBody>
          <a:bodyPr wrap="square" lIns="0" tIns="0" rIns="0" bIns="0" rtlCol="0" anchor="t"/>
          <a:lstStyle/>
          <a:p>
            <a:pPr rtl="1" algn="r" indent="0" marL="0">
              <a:buNone/>
            </a:pPr>
            <a:r>
              <a:rPr lang="ar-SA" altLang="en-US" sz="2600" b="1" dirty="0">
                <a:solidFill>
                  <a:srgbClr val="2F7D46"/>
                </a:solidFill>
                <a:latin typeface="Arial" pitchFamily="34" charset="0"/>
                <a:ea typeface="Arial" pitchFamily="34" charset="-122"/>
                <a:cs typeface="Arial" pitchFamily="34" charset="-120"/>
              </a:rPr>
              <a:t>الرؤية</a:t>
            </a:r>
            <a:endParaRPr lang="ar-SA" sz="2600" dirty="0"/>
          </a:p>
        </p:txBody>
      </p:sp>
      <p:sp>
        <p:nvSpPr>
          <p:cNvPr id="6" name="Text 4"/>
          <p:cNvSpPr txBox="1"/>
          <p:nvPr/>
        </p:nvSpPr>
        <p:spPr>
          <a:xfrm>
            <a:off x="6644488" y="2788920"/>
            <a:ext cx="4587088" cy="2651760"/>
          </a:xfrm>
          <a:prstGeom prst="rect">
            <a:avLst/>
          </a:prstGeom>
          <a:noFill/>
          <a:ln/>
        </p:spPr>
        <p:txBody>
          <a:bodyPr wrap="square" lIns="0" tIns="0" rIns="0" bIns="0" rtlCol="0" anchor="t"/>
          <a:lstStyle/>
          <a:p>
            <a:pPr rtl="1" algn="r" indent="0" marL="0">
              <a:lnSpc>
                <a:spcPct val="135000"/>
              </a:lnSpc>
              <a:buNone/>
            </a:pPr>
            <a:r>
              <a:rPr lang="ar-SA" altLang="en-US" sz="1700" dirty="0">
                <a:solidFill>
                  <a:srgbClr val="2B3F32"/>
                </a:solidFill>
                <a:latin typeface="Arial" pitchFamily="34" charset="0"/>
                <a:ea typeface="Arial" pitchFamily="34" charset="-122"/>
                <a:cs typeface="Arial" pitchFamily="34" charset="-120"/>
              </a:rPr>
              <a:t>أن تكون المبادرة النموذجَ الرائد في تحويل المناسبات البيئية إلى تجارب تعليمية مجتمعية مستدامة، مدعومةً بمنظومة إعلامية متخصصة، وفريق تطوعي احترافي، ومنصة ذكية لإدارة الأثر التنموي.</a:t>
            </a:r>
            <a:endParaRPr lang="ar-SA" sz="1700" dirty="0"/>
          </a:p>
        </p:txBody>
      </p:sp>
      <p:sp>
        <p:nvSpPr>
          <p:cNvPr id="7" name="Shape 5"/>
          <p:cNvSpPr/>
          <p:nvPr/>
        </p:nvSpPr>
        <p:spPr>
          <a:xfrm>
            <a:off x="594360" y="1828800"/>
            <a:ext cx="5318608" cy="3840480"/>
          </a:xfrm>
          <a:prstGeom prst="roundRect">
            <a:avLst>
              <a:gd name="adj" fmla="val 2857"/>
            </a:avLst>
          </a:prstGeom>
          <a:solidFill>
            <a:srgbClr val="FBFCF9"/>
          </a:solidFill>
          <a:ln w="9525">
            <a:solidFill>
              <a:srgbClr val="D6E0D1"/>
            </a:solidFill>
            <a:prstDash val="solid"/>
          </a:ln>
        </p:spPr>
      </p:sp>
      <p:sp>
        <p:nvSpPr>
          <p:cNvPr id="8" name="Text 6"/>
          <p:cNvSpPr txBox="1"/>
          <p:nvPr/>
        </p:nvSpPr>
        <p:spPr>
          <a:xfrm>
            <a:off x="960120" y="2103120"/>
            <a:ext cx="4587088" cy="548640"/>
          </a:xfrm>
          <a:prstGeom prst="rect">
            <a:avLst/>
          </a:prstGeom>
          <a:noFill/>
          <a:ln/>
        </p:spPr>
        <p:txBody>
          <a:bodyPr wrap="square" lIns="0" tIns="0" rIns="0" bIns="0" rtlCol="0" anchor="t"/>
          <a:lstStyle/>
          <a:p>
            <a:pPr rtl="1" algn="r" indent="0" marL="0">
              <a:buNone/>
            </a:pPr>
            <a:r>
              <a:rPr lang="ar-SA" altLang="en-US" sz="2600" b="1" dirty="0">
                <a:solidFill>
                  <a:srgbClr val="8A6508"/>
                </a:solidFill>
                <a:latin typeface="Arial" pitchFamily="34" charset="0"/>
                <a:ea typeface="Arial" pitchFamily="34" charset="-122"/>
                <a:cs typeface="Arial" pitchFamily="34" charset="-120"/>
              </a:rPr>
              <a:t>الرسالة</a:t>
            </a:r>
            <a:endParaRPr lang="ar-SA" sz="2600" dirty="0"/>
          </a:p>
        </p:txBody>
      </p:sp>
      <p:sp>
        <p:nvSpPr>
          <p:cNvPr id="9" name="Text 7"/>
          <p:cNvSpPr txBox="1"/>
          <p:nvPr/>
        </p:nvSpPr>
        <p:spPr>
          <a:xfrm>
            <a:off x="960120" y="2788920"/>
            <a:ext cx="4587088" cy="2651760"/>
          </a:xfrm>
          <a:prstGeom prst="rect">
            <a:avLst/>
          </a:prstGeom>
          <a:noFill/>
          <a:ln/>
        </p:spPr>
        <p:txBody>
          <a:bodyPr wrap="square" lIns="0" tIns="0" rIns="0" bIns="0" rtlCol="0" anchor="t"/>
          <a:lstStyle/>
          <a:p>
            <a:pPr rtl="1" algn="r" indent="0" marL="0">
              <a:lnSpc>
                <a:spcPct val="135000"/>
              </a:lnSpc>
              <a:buNone/>
            </a:pPr>
            <a:r>
              <a:rPr lang="ar-SA" altLang="en-US" sz="1700" dirty="0">
                <a:solidFill>
                  <a:srgbClr val="2B3F32"/>
                </a:solidFill>
                <a:latin typeface="Arial" pitchFamily="34" charset="0"/>
                <a:ea typeface="Arial" pitchFamily="34" charset="-122"/>
                <a:cs typeface="Arial" pitchFamily="34" charset="-120"/>
              </a:rPr>
              <a:t>تفعيل اليوم العربي للبيئة 2026 بمبادرة متكاملة تربط شعار استدامة المراعي بالممارسة الفعلية، وتحوّل المشاركة إلى أثرٍ مستمر قابل للقياس، عبر الشراكات والإعلام البيئي والمنصة الذكية والتطوع والملتقى السنوي.</a:t>
            </a:r>
            <a:endParaRPr lang="ar-SA" sz="1700" dirty="0"/>
          </a:p>
        </p:txBody>
      </p:sp>
      <p:sp>
        <p:nvSpPr>
          <p:cNvPr id="10" name="Text 8"/>
          <p:cNvSpPr txBox="1"/>
          <p:nvPr/>
        </p:nvSpPr>
        <p:spPr>
          <a:xfrm>
            <a:off x="594360" y="6355080"/>
            <a:ext cx="914400" cy="274320"/>
          </a:xfrm>
          <a:prstGeom prst="rect">
            <a:avLst/>
          </a:prstGeom>
          <a:noFill/>
          <a:ln/>
        </p:spPr>
        <p:txBody>
          <a:bodyPr wrap="square" lIns="0" tIns="0" rIns="0" bIns="0" rtlCol="0" anchor="t"/>
          <a:lstStyle/>
          <a:p>
            <a:pPr algn="l" indent="0" marL="0">
              <a:buNone/>
            </a:pPr>
            <a:r>
              <a:rPr lang="ar-SA" altLang="en-US" sz="1100" dirty="0">
                <a:solidFill>
                  <a:srgbClr val="6B7D70"/>
                </a:solidFill>
                <a:latin typeface="Arial" pitchFamily="34" charset="0"/>
                <a:ea typeface="Arial" pitchFamily="34" charset="-122"/>
                <a:cs typeface="Arial" pitchFamily="34" charset="-120"/>
              </a:rPr>
              <a:t>04</a:t>
            </a:r>
            <a:endParaRPr lang="ar-SA" sz="1100" dirty="0"/>
          </a:p>
        </p:txBody>
      </p:sp>
      <p:sp>
        <p:nvSpPr>
          <p:cNvPr id="11" name="Text 9"/>
          <p:cNvSpPr txBox="1"/>
          <p:nvPr/>
        </p:nvSpPr>
        <p:spPr>
          <a:xfrm>
            <a:off x="7025335" y="6355080"/>
            <a:ext cx="4572000" cy="274320"/>
          </a:xfrm>
          <a:prstGeom prst="rect">
            <a:avLst/>
          </a:prstGeom>
          <a:noFill/>
          <a:ln/>
        </p:spPr>
        <p:txBody>
          <a:bodyPr wrap="square" lIns="0" tIns="0" rIns="0" bIns="0" rtlCol="0" anchor="t"/>
          <a:lstStyle/>
          <a:p>
            <a:pPr rtl="1" algn="r" indent="0" marL="0">
              <a:buNone/>
            </a:pPr>
            <a:r>
              <a:rPr lang="ar-SA" altLang="en-US" sz="1100" dirty="0">
                <a:solidFill>
                  <a:srgbClr val="6B7D70"/>
                </a:solidFill>
                <a:latin typeface="Arial" pitchFamily="34" charset="0"/>
                <a:ea typeface="Arial" pitchFamily="34" charset="-122"/>
                <a:cs typeface="Arial" pitchFamily="34" charset="-120"/>
              </a:rPr>
              <a:t>مبادرة الأثر الأخضر المستدام</a:t>
            </a:r>
            <a:endParaRPr lang="ar-SA"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1"/>
        </a:solidFill>
      </p:bgPr>
    </p:bg>
    <p:spTree>
      <p:nvGrpSpPr>
        <p:cNvPr id="1" name=""/>
        <p:cNvGrpSpPr/>
        <p:nvPr/>
      </p:nvGrpSpPr>
      <p:grpSpPr>
        <a:xfrm>
          <a:off x="0" y="0"/>
          <a:ext cx="0" cy="0"/>
          <a:chOff x="0" y="0"/>
          <a:chExt cx="0" cy="0"/>
        </a:xfrm>
      </p:grpSpPr>
      <p:sp>
        <p:nvSpPr>
          <p:cNvPr id="2" name="Text 0"/>
          <p:cNvSpPr txBox="1"/>
          <p:nvPr/>
        </p:nvSpPr>
        <p:spPr>
          <a:xfrm>
            <a:off x="594360" y="502920"/>
            <a:ext cx="11002975" cy="365760"/>
          </a:xfrm>
          <a:prstGeom prst="rect">
            <a:avLst/>
          </a:prstGeom>
          <a:noFill/>
          <a:ln/>
        </p:spPr>
        <p:txBody>
          <a:bodyPr wrap="square" lIns="0" tIns="0" rIns="0" bIns="0" rtlCol="0" anchor="t"/>
          <a:lstStyle/>
          <a:p>
            <a:pPr rtl="1" algn="r" indent="0" marL="0">
              <a:buNone/>
            </a:pPr>
            <a:r>
              <a:rPr lang="ar-SA" altLang="en-US" sz="1500" b="1" dirty="0">
                <a:solidFill>
                  <a:srgbClr val="8A6508"/>
                </a:solidFill>
                <a:latin typeface="Arial" pitchFamily="34" charset="0"/>
                <a:ea typeface="Arial" pitchFamily="34" charset="-122"/>
                <a:cs typeface="Arial" pitchFamily="34" charset="-120"/>
              </a:rPr>
              <a:t>ما نؤمن به</a:t>
            </a:r>
            <a:endParaRPr lang="ar-SA" sz="1500" dirty="0"/>
          </a:p>
        </p:txBody>
      </p:sp>
      <p:sp>
        <p:nvSpPr>
          <p:cNvPr id="3" name="Text 1"/>
          <p:cNvSpPr txBox="1"/>
          <p:nvPr/>
        </p:nvSpPr>
        <p:spPr>
          <a:xfrm>
            <a:off x="594360" y="868680"/>
            <a:ext cx="11002975" cy="731520"/>
          </a:xfrm>
          <a:prstGeom prst="rect">
            <a:avLst/>
          </a:prstGeom>
          <a:noFill/>
          <a:ln/>
        </p:spPr>
        <p:txBody>
          <a:bodyPr wrap="square" lIns="0" tIns="0" rIns="0" bIns="0" rtlCol="0" anchor="t"/>
          <a:lstStyle/>
          <a:p>
            <a:pPr rtl="1" algn="r" indent="0" marL="0">
              <a:buNone/>
            </a:pPr>
            <a:r>
              <a:rPr lang="ar-SA" altLang="en-US" sz="3600" b="1" dirty="0">
                <a:solidFill>
                  <a:srgbClr val="1E5E36"/>
                </a:solidFill>
                <a:latin typeface="Arial" pitchFamily="34" charset="0"/>
                <a:ea typeface="Arial" pitchFamily="34" charset="-122"/>
                <a:cs typeface="Arial" pitchFamily="34" charset="-120"/>
              </a:rPr>
              <a:t>القيم الجوهرية</a:t>
            </a:r>
            <a:endParaRPr lang="ar-SA" sz="3600" dirty="0"/>
          </a:p>
        </p:txBody>
      </p:sp>
      <p:sp>
        <p:nvSpPr>
          <p:cNvPr id="4" name="Shape 2"/>
          <p:cNvSpPr/>
          <p:nvPr/>
        </p:nvSpPr>
        <p:spPr>
          <a:xfrm>
            <a:off x="6324448" y="1828800"/>
            <a:ext cx="5272888" cy="868680"/>
          </a:xfrm>
          <a:prstGeom prst="roundRect">
            <a:avLst>
              <a:gd name="adj" fmla="val 12632"/>
            </a:avLst>
          </a:prstGeom>
          <a:solidFill>
            <a:srgbClr val="FBFCF9"/>
          </a:solidFill>
          <a:ln w="9525">
            <a:solidFill>
              <a:srgbClr val="D6E0D1"/>
            </a:solidFill>
            <a:prstDash val="solid"/>
          </a:ln>
        </p:spPr>
      </p:sp>
      <p:sp>
        <p:nvSpPr>
          <p:cNvPr id="5" name="Text 3"/>
          <p:cNvSpPr txBox="1"/>
          <p:nvPr/>
        </p:nvSpPr>
        <p:spPr>
          <a:xfrm>
            <a:off x="9677095" y="2057400"/>
            <a:ext cx="1645920" cy="411480"/>
          </a:xfrm>
          <a:prstGeom prst="rect">
            <a:avLst/>
          </a:prstGeom>
          <a:noFill/>
          <a:ln/>
        </p:spPr>
        <p:txBody>
          <a:bodyPr wrap="square" lIns="0" tIns="0" rIns="0" bIns="0" rtlCol="0" anchor="t"/>
          <a:lstStyle/>
          <a:p>
            <a:pPr rtl="1" algn="r" indent="0" marL="0">
              <a:buNone/>
            </a:pPr>
            <a:r>
              <a:rPr lang="ar-SA" altLang="en-US" sz="1900" b="1" dirty="0">
                <a:solidFill>
                  <a:srgbClr val="1E5E36"/>
                </a:solidFill>
                <a:latin typeface="Arial" pitchFamily="34" charset="0"/>
                <a:ea typeface="Arial" pitchFamily="34" charset="-122"/>
                <a:cs typeface="Arial" pitchFamily="34" charset="-120"/>
              </a:rPr>
              <a:t>الاستدامة</a:t>
            </a:r>
            <a:endParaRPr lang="ar-SA" sz="1900" dirty="0"/>
          </a:p>
        </p:txBody>
      </p:sp>
      <p:sp>
        <p:nvSpPr>
          <p:cNvPr id="6" name="Text 4"/>
          <p:cNvSpPr txBox="1"/>
          <p:nvPr/>
        </p:nvSpPr>
        <p:spPr>
          <a:xfrm>
            <a:off x="6598768" y="1993392"/>
            <a:ext cx="2986888" cy="548640"/>
          </a:xfrm>
          <a:prstGeom prst="rect">
            <a:avLst/>
          </a:prstGeom>
          <a:noFill/>
          <a:ln/>
        </p:spPr>
        <p:txBody>
          <a:bodyPr wrap="square" lIns="0" tIns="0" rIns="0" bIns="0" rtlCol="0" anchor="ctr"/>
          <a:lstStyle/>
          <a:p>
            <a:pPr rtl="1" algn="r" indent="0" marL="0">
              <a:buNone/>
            </a:pPr>
            <a:r>
              <a:rPr lang="ar-SA" altLang="en-US" sz="1350" dirty="0">
                <a:solidFill>
                  <a:srgbClr val="4F6356"/>
                </a:solidFill>
                <a:latin typeface="Arial" pitchFamily="34" charset="0"/>
                <a:ea typeface="Arial" pitchFamily="34" charset="-122"/>
                <a:cs typeface="Arial" pitchFamily="34" charset="-120"/>
              </a:rPr>
              <a:t>نتائج تتجاوز المناسبة إلى مشاريع مستمرة وأثر قابل للقياس</a:t>
            </a:r>
            <a:endParaRPr lang="ar-SA" sz="1350" dirty="0"/>
          </a:p>
        </p:txBody>
      </p:sp>
      <p:sp>
        <p:nvSpPr>
          <p:cNvPr id="7" name="Shape 5"/>
          <p:cNvSpPr/>
          <p:nvPr/>
        </p:nvSpPr>
        <p:spPr>
          <a:xfrm>
            <a:off x="6324448" y="2880360"/>
            <a:ext cx="5272888" cy="868680"/>
          </a:xfrm>
          <a:prstGeom prst="roundRect">
            <a:avLst>
              <a:gd name="adj" fmla="val 12632"/>
            </a:avLst>
          </a:prstGeom>
          <a:solidFill>
            <a:srgbClr val="FBFCF9"/>
          </a:solidFill>
          <a:ln w="9525">
            <a:solidFill>
              <a:srgbClr val="D6E0D1"/>
            </a:solidFill>
            <a:prstDash val="solid"/>
          </a:ln>
        </p:spPr>
      </p:sp>
      <p:sp>
        <p:nvSpPr>
          <p:cNvPr id="8" name="Text 6"/>
          <p:cNvSpPr txBox="1"/>
          <p:nvPr/>
        </p:nvSpPr>
        <p:spPr>
          <a:xfrm>
            <a:off x="9677095" y="3108960"/>
            <a:ext cx="1645920" cy="411480"/>
          </a:xfrm>
          <a:prstGeom prst="rect">
            <a:avLst/>
          </a:prstGeom>
          <a:noFill/>
          <a:ln/>
        </p:spPr>
        <p:txBody>
          <a:bodyPr wrap="square" lIns="0" tIns="0" rIns="0" bIns="0" rtlCol="0" anchor="t"/>
          <a:lstStyle/>
          <a:p>
            <a:pPr rtl="1" algn="r" indent="0" marL="0">
              <a:buNone/>
            </a:pPr>
            <a:r>
              <a:rPr lang="ar-SA" altLang="en-US" sz="1900" b="1" dirty="0">
                <a:solidFill>
                  <a:srgbClr val="1E5E36"/>
                </a:solidFill>
                <a:latin typeface="Arial" pitchFamily="34" charset="0"/>
                <a:ea typeface="Arial" pitchFamily="34" charset="-122"/>
                <a:cs typeface="Arial" pitchFamily="34" charset="-120"/>
              </a:rPr>
              <a:t>المسؤولية</a:t>
            </a:r>
            <a:endParaRPr lang="ar-SA" sz="1900" dirty="0"/>
          </a:p>
        </p:txBody>
      </p:sp>
      <p:sp>
        <p:nvSpPr>
          <p:cNvPr id="9" name="Text 7"/>
          <p:cNvSpPr txBox="1"/>
          <p:nvPr/>
        </p:nvSpPr>
        <p:spPr>
          <a:xfrm>
            <a:off x="6598768" y="3044952"/>
            <a:ext cx="2986888" cy="548640"/>
          </a:xfrm>
          <a:prstGeom prst="rect">
            <a:avLst/>
          </a:prstGeom>
          <a:noFill/>
          <a:ln/>
        </p:spPr>
        <p:txBody>
          <a:bodyPr wrap="square" lIns="0" tIns="0" rIns="0" bIns="0" rtlCol="0" anchor="ctr"/>
          <a:lstStyle/>
          <a:p>
            <a:pPr rtl="1" algn="r" indent="0" marL="0">
              <a:buNone/>
            </a:pPr>
            <a:r>
              <a:rPr lang="ar-SA" altLang="en-US" sz="1350" dirty="0">
                <a:solidFill>
                  <a:srgbClr val="4F6356"/>
                </a:solidFill>
                <a:latin typeface="Arial" pitchFamily="34" charset="0"/>
                <a:ea typeface="Arial" pitchFamily="34" charset="-122"/>
                <a:cs typeface="Arial" pitchFamily="34" charset="-120"/>
              </a:rPr>
              <a:t>تكامل الأدوار بين القطاعات الحكومية والخاصة والمجتمعية</a:t>
            </a:r>
            <a:endParaRPr lang="ar-SA" sz="1350" dirty="0"/>
          </a:p>
        </p:txBody>
      </p:sp>
      <p:sp>
        <p:nvSpPr>
          <p:cNvPr id="10" name="Shape 8"/>
          <p:cNvSpPr/>
          <p:nvPr/>
        </p:nvSpPr>
        <p:spPr>
          <a:xfrm>
            <a:off x="6324448" y="3931920"/>
            <a:ext cx="5272888" cy="868680"/>
          </a:xfrm>
          <a:prstGeom prst="roundRect">
            <a:avLst>
              <a:gd name="adj" fmla="val 12632"/>
            </a:avLst>
          </a:prstGeom>
          <a:solidFill>
            <a:srgbClr val="FBFCF9"/>
          </a:solidFill>
          <a:ln w="9525">
            <a:solidFill>
              <a:srgbClr val="D6E0D1"/>
            </a:solidFill>
            <a:prstDash val="solid"/>
          </a:ln>
        </p:spPr>
      </p:sp>
      <p:sp>
        <p:nvSpPr>
          <p:cNvPr id="11" name="Text 9"/>
          <p:cNvSpPr txBox="1"/>
          <p:nvPr/>
        </p:nvSpPr>
        <p:spPr>
          <a:xfrm>
            <a:off x="9677095" y="4160520"/>
            <a:ext cx="1645920" cy="411480"/>
          </a:xfrm>
          <a:prstGeom prst="rect">
            <a:avLst/>
          </a:prstGeom>
          <a:noFill/>
          <a:ln/>
        </p:spPr>
        <p:txBody>
          <a:bodyPr wrap="square" lIns="0" tIns="0" rIns="0" bIns="0" rtlCol="0" anchor="t"/>
          <a:lstStyle/>
          <a:p>
            <a:pPr rtl="1" algn="r" indent="0" marL="0">
              <a:buNone/>
            </a:pPr>
            <a:r>
              <a:rPr lang="ar-SA" altLang="en-US" sz="1900" b="1" dirty="0">
                <a:solidFill>
                  <a:srgbClr val="1E5E36"/>
                </a:solidFill>
                <a:latin typeface="Arial" pitchFamily="34" charset="0"/>
                <a:ea typeface="Arial" pitchFamily="34" charset="-122"/>
                <a:cs typeface="Arial" pitchFamily="34" charset="-120"/>
              </a:rPr>
              <a:t>القياس</a:t>
            </a:r>
            <a:endParaRPr lang="ar-SA" sz="1900" dirty="0"/>
          </a:p>
        </p:txBody>
      </p:sp>
      <p:sp>
        <p:nvSpPr>
          <p:cNvPr id="12" name="Text 10"/>
          <p:cNvSpPr txBox="1"/>
          <p:nvPr/>
        </p:nvSpPr>
        <p:spPr>
          <a:xfrm>
            <a:off x="6598768" y="4096512"/>
            <a:ext cx="2986888" cy="548640"/>
          </a:xfrm>
          <a:prstGeom prst="rect">
            <a:avLst/>
          </a:prstGeom>
          <a:noFill/>
          <a:ln/>
        </p:spPr>
        <p:txBody>
          <a:bodyPr wrap="square" lIns="0" tIns="0" rIns="0" bIns="0" rtlCol="0" anchor="ctr"/>
          <a:lstStyle/>
          <a:p>
            <a:pPr rtl="1" algn="r" indent="0" marL="0">
              <a:buNone/>
            </a:pPr>
            <a:r>
              <a:rPr lang="ar-SA" altLang="en-US" sz="1350" dirty="0">
                <a:solidFill>
                  <a:srgbClr val="4F6356"/>
                </a:solidFill>
                <a:latin typeface="Arial" pitchFamily="34" charset="0"/>
                <a:ea typeface="Arial" pitchFamily="34" charset="-122"/>
                <a:cs typeface="Arial" pitchFamily="34" charset="-120"/>
              </a:rPr>
              <a:t>كل جهد يُترجَم إلى مؤشرات أداء موثقة وقابلة للمتابعة</a:t>
            </a:r>
            <a:endParaRPr lang="ar-SA" sz="1350" dirty="0"/>
          </a:p>
        </p:txBody>
      </p:sp>
      <p:sp>
        <p:nvSpPr>
          <p:cNvPr id="13" name="Shape 11"/>
          <p:cNvSpPr/>
          <p:nvPr/>
        </p:nvSpPr>
        <p:spPr>
          <a:xfrm>
            <a:off x="6324448" y="4983480"/>
            <a:ext cx="5272888" cy="868680"/>
          </a:xfrm>
          <a:prstGeom prst="roundRect">
            <a:avLst>
              <a:gd name="adj" fmla="val 12632"/>
            </a:avLst>
          </a:prstGeom>
          <a:solidFill>
            <a:srgbClr val="FBFCF9"/>
          </a:solidFill>
          <a:ln w="9525">
            <a:solidFill>
              <a:srgbClr val="D6E0D1"/>
            </a:solidFill>
            <a:prstDash val="solid"/>
          </a:ln>
        </p:spPr>
      </p:sp>
      <p:sp>
        <p:nvSpPr>
          <p:cNvPr id="14" name="Text 12"/>
          <p:cNvSpPr txBox="1"/>
          <p:nvPr/>
        </p:nvSpPr>
        <p:spPr>
          <a:xfrm>
            <a:off x="9677095" y="5212080"/>
            <a:ext cx="1645920" cy="411480"/>
          </a:xfrm>
          <a:prstGeom prst="rect">
            <a:avLst/>
          </a:prstGeom>
          <a:noFill/>
          <a:ln/>
        </p:spPr>
        <p:txBody>
          <a:bodyPr wrap="square" lIns="0" tIns="0" rIns="0" bIns="0" rtlCol="0" anchor="t"/>
          <a:lstStyle/>
          <a:p>
            <a:pPr rtl="1" algn="r" indent="0" marL="0">
              <a:buNone/>
            </a:pPr>
            <a:r>
              <a:rPr lang="ar-SA" altLang="en-US" sz="1900" b="1" dirty="0">
                <a:solidFill>
                  <a:srgbClr val="1E5E36"/>
                </a:solidFill>
                <a:latin typeface="Arial" pitchFamily="34" charset="0"/>
                <a:ea typeface="Arial" pitchFamily="34" charset="-122"/>
                <a:cs typeface="Arial" pitchFamily="34" charset="-120"/>
              </a:rPr>
              <a:t>الابتكار</a:t>
            </a:r>
            <a:endParaRPr lang="ar-SA" sz="1900" dirty="0"/>
          </a:p>
        </p:txBody>
      </p:sp>
      <p:sp>
        <p:nvSpPr>
          <p:cNvPr id="15" name="Text 13"/>
          <p:cNvSpPr txBox="1"/>
          <p:nvPr/>
        </p:nvSpPr>
        <p:spPr>
          <a:xfrm>
            <a:off x="6598768" y="5148072"/>
            <a:ext cx="2986888" cy="548640"/>
          </a:xfrm>
          <a:prstGeom prst="rect">
            <a:avLst/>
          </a:prstGeom>
          <a:noFill/>
          <a:ln/>
        </p:spPr>
        <p:txBody>
          <a:bodyPr wrap="square" lIns="0" tIns="0" rIns="0" bIns="0" rtlCol="0" anchor="ctr"/>
          <a:lstStyle/>
          <a:p>
            <a:pPr rtl="1" algn="r" indent="0" marL="0">
              <a:buNone/>
            </a:pPr>
            <a:r>
              <a:rPr lang="ar-SA" altLang="en-US" sz="1350" dirty="0">
                <a:solidFill>
                  <a:srgbClr val="4F6356"/>
                </a:solidFill>
                <a:latin typeface="Arial" pitchFamily="34" charset="0"/>
                <a:ea typeface="Arial" pitchFamily="34" charset="-122"/>
                <a:cs typeface="Arial" pitchFamily="34" charset="-120"/>
              </a:rPr>
              <a:t>أساليب غير تقليدية في التوعية البيئية والتطبيق الميداني</a:t>
            </a:r>
            <a:endParaRPr lang="ar-SA" sz="1350" dirty="0"/>
          </a:p>
        </p:txBody>
      </p:sp>
      <p:sp>
        <p:nvSpPr>
          <p:cNvPr id="16" name="Shape 14"/>
          <p:cNvSpPr/>
          <p:nvPr/>
        </p:nvSpPr>
        <p:spPr>
          <a:xfrm>
            <a:off x="594360" y="1828800"/>
            <a:ext cx="5272888" cy="868680"/>
          </a:xfrm>
          <a:prstGeom prst="roundRect">
            <a:avLst>
              <a:gd name="adj" fmla="val 12632"/>
            </a:avLst>
          </a:prstGeom>
          <a:solidFill>
            <a:srgbClr val="FBFCF9"/>
          </a:solidFill>
          <a:ln w="9525">
            <a:solidFill>
              <a:srgbClr val="D6E0D1"/>
            </a:solidFill>
            <a:prstDash val="solid"/>
          </a:ln>
        </p:spPr>
      </p:sp>
      <p:sp>
        <p:nvSpPr>
          <p:cNvPr id="17" name="Text 15"/>
          <p:cNvSpPr txBox="1"/>
          <p:nvPr/>
        </p:nvSpPr>
        <p:spPr>
          <a:xfrm>
            <a:off x="3947008" y="2057400"/>
            <a:ext cx="1645920" cy="411480"/>
          </a:xfrm>
          <a:prstGeom prst="rect">
            <a:avLst/>
          </a:prstGeom>
          <a:noFill/>
          <a:ln/>
        </p:spPr>
        <p:txBody>
          <a:bodyPr wrap="square" lIns="0" tIns="0" rIns="0" bIns="0" rtlCol="0" anchor="t"/>
          <a:lstStyle/>
          <a:p>
            <a:pPr rtl="1" algn="r" indent="0" marL="0">
              <a:buNone/>
            </a:pPr>
            <a:r>
              <a:rPr lang="ar-SA" altLang="en-US" sz="1900" b="1" dirty="0">
                <a:solidFill>
                  <a:srgbClr val="1E5E36"/>
                </a:solidFill>
                <a:latin typeface="Arial" pitchFamily="34" charset="0"/>
                <a:ea typeface="Arial" pitchFamily="34" charset="-122"/>
                <a:cs typeface="Arial" pitchFamily="34" charset="-120"/>
              </a:rPr>
              <a:t>الشفافية</a:t>
            </a:r>
            <a:endParaRPr lang="ar-SA" sz="1900" dirty="0"/>
          </a:p>
        </p:txBody>
      </p:sp>
      <p:sp>
        <p:nvSpPr>
          <p:cNvPr id="18" name="Text 16"/>
          <p:cNvSpPr txBox="1"/>
          <p:nvPr/>
        </p:nvSpPr>
        <p:spPr>
          <a:xfrm>
            <a:off x="868680" y="1993392"/>
            <a:ext cx="2986888" cy="548640"/>
          </a:xfrm>
          <a:prstGeom prst="rect">
            <a:avLst/>
          </a:prstGeom>
          <a:noFill/>
          <a:ln/>
        </p:spPr>
        <p:txBody>
          <a:bodyPr wrap="square" lIns="0" tIns="0" rIns="0" bIns="0" rtlCol="0" anchor="ctr"/>
          <a:lstStyle/>
          <a:p>
            <a:pPr rtl="1" algn="r" indent="0" marL="0">
              <a:buNone/>
            </a:pPr>
            <a:r>
              <a:rPr lang="ar-SA" altLang="en-US" sz="1350" dirty="0">
                <a:solidFill>
                  <a:srgbClr val="4F6356"/>
                </a:solidFill>
                <a:latin typeface="Arial" pitchFamily="34" charset="0"/>
                <a:ea typeface="Arial" pitchFamily="34" charset="-122"/>
                <a:cs typeface="Arial" pitchFamily="34" charset="-120"/>
              </a:rPr>
              <a:t>الإفصاح الكامل عن النتائج والأثر لجميع أصحاب المصلحة</a:t>
            </a:r>
            <a:endParaRPr lang="ar-SA" sz="1350" dirty="0"/>
          </a:p>
        </p:txBody>
      </p:sp>
      <p:sp>
        <p:nvSpPr>
          <p:cNvPr id="19" name="Shape 17"/>
          <p:cNvSpPr/>
          <p:nvPr/>
        </p:nvSpPr>
        <p:spPr>
          <a:xfrm>
            <a:off x="594360" y="2880360"/>
            <a:ext cx="5272888" cy="868680"/>
          </a:xfrm>
          <a:prstGeom prst="roundRect">
            <a:avLst>
              <a:gd name="adj" fmla="val 12632"/>
            </a:avLst>
          </a:prstGeom>
          <a:solidFill>
            <a:srgbClr val="FBFCF9"/>
          </a:solidFill>
          <a:ln w="9525">
            <a:solidFill>
              <a:srgbClr val="D6E0D1"/>
            </a:solidFill>
            <a:prstDash val="solid"/>
          </a:ln>
        </p:spPr>
      </p:sp>
      <p:sp>
        <p:nvSpPr>
          <p:cNvPr id="20" name="Text 18"/>
          <p:cNvSpPr txBox="1"/>
          <p:nvPr/>
        </p:nvSpPr>
        <p:spPr>
          <a:xfrm>
            <a:off x="3947008" y="3108960"/>
            <a:ext cx="1645920" cy="411480"/>
          </a:xfrm>
          <a:prstGeom prst="rect">
            <a:avLst/>
          </a:prstGeom>
          <a:noFill/>
          <a:ln/>
        </p:spPr>
        <p:txBody>
          <a:bodyPr wrap="square" lIns="0" tIns="0" rIns="0" bIns="0" rtlCol="0" anchor="t"/>
          <a:lstStyle/>
          <a:p>
            <a:pPr rtl="1" algn="r" indent="0" marL="0">
              <a:buNone/>
            </a:pPr>
            <a:r>
              <a:rPr lang="ar-SA" altLang="en-US" sz="1900" b="1" dirty="0">
                <a:solidFill>
                  <a:srgbClr val="1E5E36"/>
                </a:solidFill>
                <a:latin typeface="Arial" pitchFamily="34" charset="0"/>
                <a:ea typeface="Arial" pitchFamily="34" charset="-122"/>
                <a:cs typeface="Arial" pitchFamily="34" charset="-120"/>
              </a:rPr>
              <a:t>التمكين</a:t>
            </a:r>
            <a:endParaRPr lang="ar-SA" sz="1900" dirty="0"/>
          </a:p>
        </p:txBody>
      </p:sp>
      <p:sp>
        <p:nvSpPr>
          <p:cNvPr id="21" name="Text 19"/>
          <p:cNvSpPr txBox="1"/>
          <p:nvPr/>
        </p:nvSpPr>
        <p:spPr>
          <a:xfrm>
            <a:off x="868680" y="3044952"/>
            <a:ext cx="2986888" cy="548640"/>
          </a:xfrm>
          <a:prstGeom prst="rect">
            <a:avLst/>
          </a:prstGeom>
          <a:noFill/>
          <a:ln/>
        </p:spPr>
        <p:txBody>
          <a:bodyPr wrap="square" lIns="0" tIns="0" rIns="0" bIns="0" rtlCol="0" anchor="ctr"/>
          <a:lstStyle/>
          <a:p>
            <a:pPr rtl="1" algn="r" indent="0" marL="0">
              <a:buNone/>
            </a:pPr>
            <a:r>
              <a:rPr lang="ar-SA" altLang="en-US" sz="1350" dirty="0">
                <a:solidFill>
                  <a:srgbClr val="4F6356"/>
                </a:solidFill>
                <a:latin typeface="Arial" pitchFamily="34" charset="0"/>
                <a:ea typeface="Arial" pitchFamily="34" charset="-122"/>
                <a:cs typeface="Arial" pitchFamily="34" charset="-120"/>
              </a:rPr>
              <a:t>الطالب صانع أثر لا متلقٍّ، والمشاركة تُنتج قيادات بيئية</a:t>
            </a:r>
            <a:endParaRPr lang="ar-SA" sz="1350" dirty="0"/>
          </a:p>
        </p:txBody>
      </p:sp>
      <p:sp>
        <p:nvSpPr>
          <p:cNvPr id="22" name="Shape 20"/>
          <p:cNvSpPr/>
          <p:nvPr/>
        </p:nvSpPr>
        <p:spPr>
          <a:xfrm>
            <a:off x="594360" y="3931920"/>
            <a:ext cx="5272888" cy="868680"/>
          </a:xfrm>
          <a:prstGeom prst="roundRect">
            <a:avLst>
              <a:gd name="adj" fmla="val 12632"/>
            </a:avLst>
          </a:prstGeom>
          <a:solidFill>
            <a:srgbClr val="FBFCF9"/>
          </a:solidFill>
          <a:ln w="9525">
            <a:solidFill>
              <a:srgbClr val="D6E0D1"/>
            </a:solidFill>
            <a:prstDash val="solid"/>
          </a:ln>
        </p:spPr>
      </p:sp>
      <p:sp>
        <p:nvSpPr>
          <p:cNvPr id="23" name="Text 21"/>
          <p:cNvSpPr txBox="1"/>
          <p:nvPr/>
        </p:nvSpPr>
        <p:spPr>
          <a:xfrm>
            <a:off x="3947008" y="4160520"/>
            <a:ext cx="1645920" cy="411480"/>
          </a:xfrm>
          <a:prstGeom prst="rect">
            <a:avLst/>
          </a:prstGeom>
          <a:noFill/>
          <a:ln/>
        </p:spPr>
        <p:txBody>
          <a:bodyPr wrap="square" lIns="0" tIns="0" rIns="0" bIns="0" rtlCol="0" anchor="t"/>
          <a:lstStyle/>
          <a:p>
            <a:pPr rtl="1" algn="r" indent="0" marL="0">
              <a:buNone/>
            </a:pPr>
            <a:r>
              <a:rPr lang="ar-SA" altLang="en-US" sz="1900" b="1" dirty="0">
                <a:solidFill>
                  <a:srgbClr val="1E5E36"/>
                </a:solidFill>
                <a:latin typeface="Arial" pitchFamily="34" charset="0"/>
                <a:ea typeface="Arial" pitchFamily="34" charset="-122"/>
                <a:cs typeface="Arial" pitchFamily="34" charset="-120"/>
              </a:rPr>
              <a:t>التكامل</a:t>
            </a:r>
            <a:endParaRPr lang="ar-SA" sz="1900" dirty="0"/>
          </a:p>
        </p:txBody>
      </p:sp>
      <p:sp>
        <p:nvSpPr>
          <p:cNvPr id="24" name="Text 22"/>
          <p:cNvSpPr txBox="1"/>
          <p:nvPr/>
        </p:nvSpPr>
        <p:spPr>
          <a:xfrm>
            <a:off x="868680" y="4096512"/>
            <a:ext cx="2986888" cy="548640"/>
          </a:xfrm>
          <a:prstGeom prst="rect">
            <a:avLst/>
          </a:prstGeom>
          <a:noFill/>
          <a:ln/>
        </p:spPr>
        <p:txBody>
          <a:bodyPr wrap="square" lIns="0" tIns="0" rIns="0" bIns="0" rtlCol="0" anchor="ctr"/>
          <a:lstStyle/>
          <a:p>
            <a:pPr rtl="1" algn="r" indent="0" marL="0">
              <a:buNone/>
            </a:pPr>
            <a:r>
              <a:rPr lang="ar-SA" altLang="en-US" sz="1350" dirty="0">
                <a:solidFill>
                  <a:srgbClr val="4F6356"/>
                </a:solidFill>
                <a:latin typeface="Arial" pitchFamily="34" charset="0"/>
                <a:ea typeface="Arial" pitchFamily="34" charset="-122"/>
                <a:cs typeface="Arial" pitchFamily="34" charset="-120"/>
              </a:rPr>
              <a:t>الربط بين الإعلام والتقنية والتطوع لتحقيق الأثر المنشود</a:t>
            </a:r>
            <a:endParaRPr lang="ar-SA" sz="1350" dirty="0"/>
          </a:p>
        </p:txBody>
      </p:sp>
      <p:sp>
        <p:nvSpPr>
          <p:cNvPr id="25" name="Text 23"/>
          <p:cNvSpPr txBox="1"/>
          <p:nvPr/>
        </p:nvSpPr>
        <p:spPr>
          <a:xfrm>
            <a:off x="594360" y="6355080"/>
            <a:ext cx="914400" cy="274320"/>
          </a:xfrm>
          <a:prstGeom prst="rect">
            <a:avLst/>
          </a:prstGeom>
          <a:noFill/>
          <a:ln/>
        </p:spPr>
        <p:txBody>
          <a:bodyPr wrap="square" lIns="0" tIns="0" rIns="0" bIns="0" rtlCol="0" anchor="t"/>
          <a:lstStyle/>
          <a:p>
            <a:pPr algn="l" indent="0" marL="0">
              <a:buNone/>
            </a:pPr>
            <a:r>
              <a:rPr lang="ar-SA" altLang="en-US" sz="1100" dirty="0">
                <a:solidFill>
                  <a:srgbClr val="6B7D70"/>
                </a:solidFill>
                <a:latin typeface="Arial" pitchFamily="34" charset="0"/>
                <a:ea typeface="Arial" pitchFamily="34" charset="-122"/>
                <a:cs typeface="Arial" pitchFamily="34" charset="-120"/>
              </a:rPr>
              <a:t>05</a:t>
            </a:r>
            <a:endParaRPr lang="ar-SA" sz="1100" dirty="0"/>
          </a:p>
        </p:txBody>
      </p:sp>
      <p:sp>
        <p:nvSpPr>
          <p:cNvPr id="26" name="Text 24"/>
          <p:cNvSpPr txBox="1"/>
          <p:nvPr/>
        </p:nvSpPr>
        <p:spPr>
          <a:xfrm>
            <a:off x="7025335" y="6355080"/>
            <a:ext cx="4572000" cy="274320"/>
          </a:xfrm>
          <a:prstGeom prst="rect">
            <a:avLst/>
          </a:prstGeom>
          <a:noFill/>
          <a:ln/>
        </p:spPr>
        <p:txBody>
          <a:bodyPr wrap="square" lIns="0" tIns="0" rIns="0" bIns="0" rtlCol="0" anchor="t"/>
          <a:lstStyle/>
          <a:p>
            <a:pPr rtl="1" algn="r" indent="0" marL="0">
              <a:buNone/>
            </a:pPr>
            <a:r>
              <a:rPr lang="ar-SA" altLang="en-US" sz="1100" dirty="0">
                <a:solidFill>
                  <a:srgbClr val="6B7D70"/>
                </a:solidFill>
                <a:latin typeface="Arial" pitchFamily="34" charset="0"/>
                <a:ea typeface="Arial" pitchFamily="34" charset="-122"/>
                <a:cs typeface="Arial" pitchFamily="34" charset="-120"/>
              </a:rPr>
              <a:t>مبادرة الأثر الأخضر المستدام</a:t>
            </a:r>
            <a:endParaRPr lang="ar-SA"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1"/>
        </a:solidFill>
      </p:bgPr>
    </p:bg>
    <p:spTree>
      <p:nvGrpSpPr>
        <p:cNvPr id="1" name=""/>
        <p:cNvGrpSpPr/>
        <p:nvPr/>
      </p:nvGrpSpPr>
      <p:grpSpPr>
        <a:xfrm>
          <a:off x="0" y="0"/>
          <a:ext cx="0" cy="0"/>
          <a:chOff x="0" y="0"/>
          <a:chExt cx="0" cy="0"/>
        </a:xfrm>
      </p:grpSpPr>
      <p:sp>
        <p:nvSpPr>
          <p:cNvPr id="2" name="Text 0"/>
          <p:cNvSpPr txBox="1"/>
          <p:nvPr/>
        </p:nvSpPr>
        <p:spPr>
          <a:xfrm>
            <a:off x="594360" y="502920"/>
            <a:ext cx="11002975" cy="365760"/>
          </a:xfrm>
          <a:prstGeom prst="rect">
            <a:avLst/>
          </a:prstGeom>
          <a:noFill/>
          <a:ln/>
        </p:spPr>
        <p:txBody>
          <a:bodyPr wrap="square" lIns="0" tIns="0" rIns="0" bIns="0" rtlCol="0" anchor="t"/>
          <a:lstStyle/>
          <a:p>
            <a:pPr rtl="1" algn="r" indent="0" marL="0">
              <a:buNone/>
            </a:pPr>
            <a:r>
              <a:rPr lang="ar-SA" altLang="en-US" sz="1500" b="1" dirty="0">
                <a:solidFill>
                  <a:srgbClr val="8A6508"/>
                </a:solidFill>
                <a:latin typeface="Arial" pitchFamily="34" charset="0"/>
                <a:ea typeface="Arial" pitchFamily="34" charset="-122"/>
                <a:cs typeface="Arial" pitchFamily="34" charset="-120"/>
              </a:rPr>
              <a:t>سبعة أهداف</a:t>
            </a:r>
            <a:endParaRPr lang="ar-SA" sz="1500" dirty="0"/>
          </a:p>
        </p:txBody>
      </p:sp>
      <p:sp>
        <p:nvSpPr>
          <p:cNvPr id="3" name="Text 1"/>
          <p:cNvSpPr txBox="1"/>
          <p:nvPr/>
        </p:nvSpPr>
        <p:spPr>
          <a:xfrm>
            <a:off x="594360" y="868680"/>
            <a:ext cx="11002975" cy="731520"/>
          </a:xfrm>
          <a:prstGeom prst="rect">
            <a:avLst/>
          </a:prstGeom>
          <a:noFill/>
          <a:ln/>
        </p:spPr>
        <p:txBody>
          <a:bodyPr wrap="square" lIns="0" tIns="0" rIns="0" bIns="0" rtlCol="0" anchor="t"/>
          <a:lstStyle/>
          <a:p>
            <a:pPr rtl="1" algn="r" indent="0" marL="0">
              <a:buNone/>
            </a:pPr>
            <a:r>
              <a:rPr lang="ar-SA" altLang="en-US" sz="3600" b="1" dirty="0">
                <a:solidFill>
                  <a:srgbClr val="1E5E36"/>
                </a:solidFill>
                <a:latin typeface="Arial" pitchFamily="34" charset="0"/>
                <a:ea typeface="Arial" pitchFamily="34" charset="-122"/>
                <a:cs typeface="Arial" pitchFamily="34" charset="-120"/>
              </a:rPr>
              <a:t>الأهداف الاستراتيجية</a:t>
            </a:r>
            <a:endParaRPr lang="ar-SA" sz="3600" dirty="0"/>
          </a:p>
        </p:txBody>
      </p:sp>
      <p:sp>
        <p:nvSpPr>
          <p:cNvPr id="4" name="Shape 2"/>
          <p:cNvSpPr/>
          <p:nvPr/>
        </p:nvSpPr>
        <p:spPr>
          <a:xfrm>
            <a:off x="10957255" y="1938528"/>
            <a:ext cx="566928" cy="566928"/>
          </a:xfrm>
          <a:prstGeom prst="ellipse">
            <a:avLst/>
          </a:prstGeom>
          <a:solidFill>
            <a:srgbClr val="C9971C"/>
          </a:solidFill>
          <a:ln w="12700">
            <a:solidFill>
              <a:srgbClr val="C9971C"/>
            </a:solidFill>
            <a:prstDash val="solid"/>
          </a:ln>
        </p:spPr>
      </p:sp>
      <p:sp>
        <p:nvSpPr>
          <p:cNvPr id="5" name="Text 3"/>
          <p:cNvSpPr txBox="1"/>
          <p:nvPr/>
        </p:nvSpPr>
        <p:spPr>
          <a:xfrm>
            <a:off x="10957255" y="1938528"/>
            <a:ext cx="566928" cy="566928"/>
          </a:xfrm>
          <a:prstGeom prst="rect">
            <a:avLst/>
          </a:prstGeom>
          <a:noFill/>
          <a:ln/>
        </p:spPr>
        <p:txBody>
          <a:bodyPr wrap="square" lIns="0" tIns="0" rIns="0" bIns="0" rtlCol="0" anchor="ctr"/>
          <a:lstStyle/>
          <a:p>
            <a:pPr algn="ctr" indent="0" marL="0">
              <a:buNone/>
            </a:pPr>
            <a:r>
              <a:rPr lang="ar-SA" altLang="en-US" sz="1800" b="1" dirty="0">
                <a:solidFill>
                  <a:srgbClr val="FFFFFF"/>
                </a:solidFill>
                <a:latin typeface="Arial" pitchFamily="34" charset="0"/>
                <a:ea typeface="Arial" pitchFamily="34" charset="-122"/>
                <a:cs typeface="Arial" pitchFamily="34" charset="-120"/>
              </a:rPr>
              <a:t>1</a:t>
            </a:r>
            <a:endParaRPr lang="ar-SA" sz="1800" dirty="0"/>
          </a:p>
        </p:txBody>
      </p:sp>
      <p:sp>
        <p:nvSpPr>
          <p:cNvPr id="6" name="Text 4"/>
          <p:cNvSpPr txBox="1"/>
          <p:nvPr/>
        </p:nvSpPr>
        <p:spPr>
          <a:xfrm>
            <a:off x="6324448" y="1901952"/>
            <a:ext cx="4449928" cy="384048"/>
          </a:xfrm>
          <a:prstGeom prst="rect">
            <a:avLst/>
          </a:prstGeom>
          <a:noFill/>
          <a:ln/>
        </p:spPr>
        <p:txBody>
          <a:bodyPr wrap="square" lIns="0" tIns="0" rIns="0" bIns="0" rtlCol="0" anchor="t"/>
          <a:lstStyle/>
          <a:p>
            <a:pPr rtl="1" algn="r" indent="0" marL="0">
              <a:buNone/>
            </a:pPr>
            <a:r>
              <a:rPr lang="ar-SA" altLang="en-US" sz="1700" b="1" dirty="0">
                <a:solidFill>
                  <a:srgbClr val="15271C"/>
                </a:solidFill>
                <a:latin typeface="Arial" pitchFamily="34" charset="0"/>
                <a:ea typeface="Arial" pitchFamily="34" charset="-122"/>
                <a:cs typeface="Arial" pitchFamily="34" charset="-120"/>
              </a:rPr>
              <a:t>زيادة الغطاء النباتي ومكافحة التصحر</a:t>
            </a:r>
            <a:endParaRPr lang="ar-SA" sz="1700" dirty="0"/>
          </a:p>
        </p:txBody>
      </p:sp>
      <p:sp>
        <p:nvSpPr>
          <p:cNvPr id="7" name="Text 5"/>
          <p:cNvSpPr txBox="1"/>
          <p:nvPr/>
        </p:nvSpPr>
        <p:spPr>
          <a:xfrm>
            <a:off x="6324448" y="2286000"/>
            <a:ext cx="4449928" cy="457200"/>
          </a:xfrm>
          <a:prstGeom prst="rect">
            <a:avLst/>
          </a:prstGeom>
          <a:noFill/>
          <a:ln/>
        </p:spPr>
        <p:txBody>
          <a:bodyPr wrap="square" lIns="0" tIns="0" rIns="0" bIns="0" rtlCol="0" anchor="t"/>
          <a:lstStyle/>
          <a:p>
            <a:pPr rtl="1" algn="r" indent="0" marL="0">
              <a:buNone/>
            </a:pPr>
            <a:r>
              <a:rPr lang="ar-SA" altLang="en-US" sz="1300" dirty="0">
                <a:solidFill>
                  <a:srgbClr val="4F6356"/>
                </a:solidFill>
                <a:latin typeface="Arial" pitchFamily="34" charset="0"/>
                <a:ea typeface="Arial" pitchFamily="34" charset="-122"/>
                <a:cs typeface="Arial" pitchFamily="34" charset="-120"/>
              </a:rPr>
              <a:t>زراعة الأشجار والشتلات، وحماية التنوع الحيوي</a:t>
            </a:r>
            <a:endParaRPr lang="ar-SA" sz="1300" dirty="0"/>
          </a:p>
        </p:txBody>
      </p:sp>
      <p:sp>
        <p:nvSpPr>
          <p:cNvPr id="8" name="Shape 6"/>
          <p:cNvSpPr/>
          <p:nvPr/>
        </p:nvSpPr>
        <p:spPr>
          <a:xfrm>
            <a:off x="10957255" y="2990088"/>
            <a:ext cx="566928" cy="566928"/>
          </a:xfrm>
          <a:prstGeom prst="ellipse">
            <a:avLst/>
          </a:prstGeom>
          <a:solidFill>
            <a:srgbClr val="C9971C"/>
          </a:solidFill>
          <a:ln w="12700">
            <a:solidFill>
              <a:srgbClr val="C9971C"/>
            </a:solidFill>
            <a:prstDash val="solid"/>
          </a:ln>
        </p:spPr>
      </p:sp>
      <p:sp>
        <p:nvSpPr>
          <p:cNvPr id="9" name="Text 7"/>
          <p:cNvSpPr txBox="1"/>
          <p:nvPr/>
        </p:nvSpPr>
        <p:spPr>
          <a:xfrm>
            <a:off x="10957255" y="2990088"/>
            <a:ext cx="566928" cy="566928"/>
          </a:xfrm>
          <a:prstGeom prst="rect">
            <a:avLst/>
          </a:prstGeom>
          <a:noFill/>
          <a:ln/>
        </p:spPr>
        <p:txBody>
          <a:bodyPr wrap="square" lIns="0" tIns="0" rIns="0" bIns="0" rtlCol="0" anchor="ctr"/>
          <a:lstStyle/>
          <a:p>
            <a:pPr algn="ctr" indent="0" marL="0">
              <a:buNone/>
            </a:pPr>
            <a:r>
              <a:rPr lang="ar-SA" altLang="en-US" sz="1800" b="1" dirty="0">
                <a:solidFill>
                  <a:srgbClr val="FFFFFF"/>
                </a:solidFill>
                <a:latin typeface="Arial" pitchFamily="34" charset="0"/>
                <a:ea typeface="Arial" pitchFamily="34" charset="-122"/>
                <a:cs typeface="Arial" pitchFamily="34" charset="-120"/>
              </a:rPr>
              <a:t>2</a:t>
            </a:r>
            <a:endParaRPr lang="ar-SA" sz="1800" dirty="0"/>
          </a:p>
        </p:txBody>
      </p:sp>
      <p:sp>
        <p:nvSpPr>
          <p:cNvPr id="10" name="Text 8"/>
          <p:cNvSpPr txBox="1"/>
          <p:nvPr/>
        </p:nvSpPr>
        <p:spPr>
          <a:xfrm>
            <a:off x="6324448" y="2953512"/>
            <a:ext cx="4449928" cy="384048"/>
          </a:xfrm>
          <a:prstGeom prst="rect">
            <a:avLst/>
          </a:prstGeom>
          <a:noFill/>
          <a:ln/>
        </p:spPr>
        <p:txBody>
          <a:bodyPr wrap="square" lIns="0" tIns="0" rIns="0" bIns="0" rtlCol="0" anchor="t"/>
          <a:lstStyle/>
          <a:p>
            <a:pPr rtl="1" algn="r" indent="0" marL="0">
              <a:buNone/>
            </a:pPr>
            <a:r>
              <a:rPr lang="ar-SA" altLang="en-US" sz="1700" b="1" dirty="0">
                <a:solidFill>
                  <a:srgbClr val="15271C"/>
                </a:solidFill>
                <a:latin typeface="Arial" pitchFamily="34" charset="0"/>
                <a:ea typeface="Arial" pitchFamily="34" charset="-122"/>
                <a:cs typeface="Arial" pitchFamily="34" charset="-120"/>
              </a:rPr>
              <a:t>تعزيز الاقتصاد الدائري</a:t>
            </a:r>
            <a:endParaRPr lang="ar-SA" sz="1700" dirty="0"/>
          </a:p>
        </p:txBody>
      </p:sp>
      <p:sp>
        <p:nvSpPr>
          <p:cNvPr id="11" name="Text 9"/>
          <p:cNvSpPr txBox="1"/>
          <p:nvPr/>
        </p:nvSpPr>
        <p:spPr>
          <a:xfrm>
            <a:off x="6324448" y="3337560"/>
            <a:ext cx="4449928" cy="457200"/>
          </a:xfrm>
          <a:prstGeom prst="rect">
            <a:avLst/>
          </a:prstGeom>
          <a:noFill/>
          <a:ln/>
        </p:spPr>
        <p:txBody>
          <a:bodyPr wrap="square" lIns="0" tIns="0" rIns="0" bIns="0" rtlCol="0" anchor="t"/>
          <a:lstStyle/>
          <a:p>
            <a:pPr rtl="1" algn="r" indent="0" marL="0">
              <a:buNone/>
            </a:pPr>
            <a:r>
              <a:rPr lang="ar-SA" altLang="en-US" sz="1300" dirty="0">
                <a:solidFill>
                  <a:srgbClr val="4F6356"/>
                </a:solidFill>
                <a:latin typeface="Arial" pitchFamily="34" charset="0"/>
                <a:ea typeface="Arial" pitchFamily="34" charset="-122"/>
                <a:cs typeface="Arial" pitchFamily="34" charset="-120"/>
              </a:rPr>
              <a:t>تحويل النفايات عن المرادم، وإعادة التدوير، وإنتاج منتجات مستدامة</a:t>
            </a:r>
            <a:endParaRPr lang="ar-SA" sz="1300" dirty="0"/>
          </a:p>
        </p:txBody>
      </p:sp>
      <p:sp>
        <p:nvSpPr>
          <p:cNvPr id="12" name="Shape 10"/>
          <p:cNvSpPr/>
          <p:nvPr/>
        </p:nvSpPr>
        <p:spPr>
          <a:xfrm>
            <a:off x="10957255" y="4041648"/>
            <a:ext cx="566928" cy="566928"/>
          </a:xfrm>
          <a:prstGeom prst="ellipse">
            <a:avLst/>
          </a:prstGeom>
          <a:solidFill>
            <a:srgbClr val="C9971C"/>
          </a:solidFill>
          <a:ln w="12700">
            <a:solidFill>
              <a:srgbClr val="C9971C"/>
            </a:solidFill>
            <a:prstDash val="solid"/>
          </a:ln>
        </p:spPr>
      </p:sp>
      <p:sp>
        <p:nvSpPr>
          <p:cNvPr id="13" name="Text 11"/>
          <p:cNvSpPr txBox="1"/>
          <p:nvPr/>
        </p:nvSpPr>
        <p:spPr>
          <a:xfrm>
            <a:off x="10957255" y="4041648"/>
            <a:ext cx="566928" cy="566928"/>
          </a:xfrm>
          <a:prstGeom prst="rect">
            <a:avLst/>
          </a:prstGeom>
          <a:noFill/>
          <a:ln/>
        </p:spPr>
        <p:txBody>
          <a:bodyPr wrap="square" lIns="0" tIns="0" rIns="0" bIns="0" rtlCol="0" anchor="ctr"/>
          <a:lstStyle/>
          <a:p>
            <a:pPr algn="ctr" indent="0" marL="0">
              <a:buNone/>
            </a:pPr>
            <a:r>
              <a:rPr lang="ar-SA" altLang="en-US" sz="1800" b="1" dirty="0">
                <a:solidFill>
                  <a:srgbClr val="FFFFFF"/>
                </a:solidFill>
                <a:latin typeface="Arial" pitchFamily="34" charset="0"/>
                <a:ea typeface="Arial" pitchFamily="34" charset="-122"/>
                <a:cs typeface="Arial" pitchFamily="34" charset="-120"/>
              </a:rPr>
              <a:t>3</a:t>
            </a:r>
            <a:endParaRPr lang="ar-SA" sz="1800" dirty="0"/>
          </a:p>
        </p:txBody>
      </p:sp>
      <p:sp>
        <p:nvSpPr>
          <p:cNvPr id="14" name="Text 12"/>
          <p:cNvSpPr txBox="1"/>
          <p:nvPr/>
        </p:nvSpPr>
        <p:spPr>
          <a:xfrm>
            <a:off x="6324448" y="4005072"/>
            <a:ext cx="4449928" cy="384048"/>
          </a:xfrm>
          <a:prstGeom prst="rect">
            <a:avLst/>
          </a:prstGeom>
          <a:noFill/>
          <a:ln/>
        </p:spPr>
        <p:txBody>
          <a:bodyPr wrap="square" lIns="0" tIns="0" rIns="0" bIns="0" rtlCol="0" anchor="t"/>
          <a:lstStyle/>
          <a:p>
            <a:pPr rtl="1" algn="r" indent="0" marL="0">
              <a:buNone/>
            </a:pPr>
            <a:r>
              <a:rPr lang="ar-SA" altLang="en-US" sz="1700" b="1" dirty="0">
                <a:solidFill>
                  <a:srgbClr val="15271C"/>
                </a:solidFill>
                <a:latin typeface="Arial" pitchFamily="34" charset="0"/>
                <a:ea typeface="Arial" pitchFamily="34" charset="-122"/>
                <a:cs typeface="Arial" pitchFamily="34" charset="-120"/>
              </a:rPr>
              <a:t>تمكين التعليم البيئي</a:t>
            </a:r>
            <a:endParaRPr lang="ar-SA" sz="1700" dirty="0"/>
          </a:p>
        </p:txBody>
      </p:sp>
      <p:sp>
        <p:nvSpPr>
          <p:cNvPr id="15" name="Text 13"/>
          <p:cNvSpPr txBox="1"/>
          <p:nvPr/>
        </p:nvSpPr>
        <p:spPr>
          <a:xfrm>
            <a:off x="6324448" y="4389120"/>
            <a:ext cx="4449928" cy="457200"/>
          </a:xfrm>
          <a:prstGeom prst="rect">
            <a:avLst/>
          </a:prstGeom>
          <a:noFill/>
          <a:ln/>
        </p:spPr>
        <p:txBody>
          <a:bodyPr wrap="square" lIns="0" tIns="0" rIns="0" bIns="0" rtlCol="0" anchor="t"/>
          <a:lstStyle/>
          <a:p>
            <a:pPr rtl="1" algn="r" indent="0" marL="0">
              <a:buNone/>
            </a:pPr>
            <a:r>
              <a:rPr lang="ar-SA" altLang="en-US" sz="1300" dirty="0">
                <a:solidFill>
                  <a:srgbClr val="4F6356"/>
                </a:solidFill>
                <a:latin typeface="Arial" pitchFamily="34" charset="0"/>
                <a:ea typeface="Arial" pitchFamily="34" charset="-122"/>
                <a:cs typeface="Arial" pitchFamily="34" charset="-120"/>
              </a:rPr>
              <a:t>تحويل المدارس إلى مختبرات حية للاستدامة، وبناء السلوك البيئي</a:t>
            </a:r>
            <a:endParaRPr lang="ar-SA" sz="1300" dirty="0"/>
          </a:p>
        </p:txBody>
      </p:sp>
      <p:sp>
        <p:nvSpPr>
          <p:cNvPr id="16" name="Shape 14"/>
          <p:cNvSpPr/>
          <p:nvPr/>
        </p:nvSpPr>
        <p:spPr>
          <a:xfrm>
            <a:off x="10957255" y="5093208"/>
            <a:ext cx="566928" cy="566928"/>
          </a:xfrm>
          <a:prstGeom prst="ellipse">
            <a:avLst/>
          </a:prstGeom>
          <a:solidFill>
            <a:srgbClr val="C9971C"/>
          </a:solidFill>
          <a:ln w="12700">
            <a:solidFill>
              <a:srgbClr val="C9971C"/>
            </a:solidFill>
            <a:prstDash val="solid"/>
          </a:ln>
        </p:spPr>
      </p:sp>
      <p:sp>
        <p:nvSpPr>
          <p:cNvPr id="17" name="Text 15"/>
          <p:cNvSpPr txBox="1"/>
          <p:nvPr/>
        </p:nvSpPr>
        <p:spPr>
          <a:xfrm>
            <a:off x="10957255" y="5093208"/>
            <a:ext cx="566928" cy="566928"/>
          </a:xfrm>
          <a:prstGeom prst="rect">
            <a:avLst/>
          </a:prstGeom>
          <a:noFill/>
          <a:ln/>
        </p:spPr>
        <p:txBody>
          <a:bodyPr wrap="square" lIns="0" tIns="0" rIns="0" bIns="0" rtlCol="0" anchor="ctr"/>
          <a:lstStyle/>
          <a:p>
            <a:pPr algn="ctr" indent="0" marL="0">
              <a:buNone/>
            </a:pPr>
            <a:r>
              <a:rPr lang="ar-SA" altLang="en-US" sz="1800" b="1" dirty="0">
                <a:solidFill>
                  <a:srgbClr val="FFFFFF"/>
                </a:solidFill>
                <a:latin typeface="Arial" pitchFamily="34" charset="0"/>
                <a:ea typeface="Arial" pitchFamily="34" charset="-122"/>
                <a:cs typeface="Arial" pitchFamily="34" charset="-120"/>
              </a:rPr>
              <a:t>4</a:t>
            </a:r>
            <a:endParaRPr lang="ar-SA" sz="1800" dirty="0"/>
          </a:p>
        </p:txBody>
      </p:sp>
      <p:sp>
        <p:nvSpPr>
          <p:cNvPr id="18" name="Text 16"/>
          <p:cNvSpPr txBox="1"/>
          <p:nvPr/>
        </p:nvSpPr>
        <p:spPr>
          <a:xfrm>
            <a:off x="6324448" y="5056632"/>
            <a:ext cx="4449928" cy="384048"/>
          </a:xfrm>
          <a:prstGeom prst="rect">
            <a:avLst/>
          </a:prstGeom>
          <a:noFill/>
          <a:ln/>
        </p:spPr>
        <p:txBody>
          <a:bodyPr wrap="square" lIns="0" tIns="0" rIns="0" bIns="0" rtlCol="0" anchor="t"/>
          <a:lstStyle/>
          <a:p>
            <a:pPr rtl="1" algn="r" indent="0" marL="0">
              <a:buNone/>
            </a:pPr>
            <a:r>
              <a:rPr lang="ar-SA" altLang="en-US" sz="1700" b="1" dirty="0">
                <a:solidFill>
                  <a:srgbClr val="15271C"/>
                </a:solidFill>
                <a:latin typeface="Arial" pitchFamily="34" charset="0"/>
                <a:ea typeface="Arial" pitchFamily="34" charset="-122"/>
                <a:cs typeface="Arial" pitchFamily="34" charset="-120"/>
              </a:rPr>
              <a:t>تفعيل التطوع والمشاركة المجتمعية</a:t>
            </a:r>
            <a:endParaRPr lang="ar-SA" sz="1700" dirty="0"/>
          </a:p>
        </p:txBody>
      </p:sp>
      <p:sp>
        <p:nvSpPr>
          <p:cNvPr id="19" name="Text 17"/>
          <p:cNvSpPr txBox="1"/>
          <p:nvPr/>
        </p:nvSpPr>
        <p:spPr>
          <a:xfrm>
            <a:off x="6324448" y="5440680"/>
            <a:ext cx="4449928" cy="457200"/>
          </a:xfrm>
          <a:prstGeom prst="rect">
            <a:avLst/>
          </a:prstGeom>
          <a:noFill/>
          <a:ln/>
        </p:spPr>
        <p:txBody>
          <a:bodyPr wrap="square" lIns="0" tIns="0" rIns="0" bIns="0" rtlCol="0" anchor="t"/>
          <a:lstStyle/>
          <a:p>
            <a:pPr rtl="1" algn="r" indent="0" marL="0">
              <a:buNone/>
            </a:pPr>
            <a:r>
              <a:rPr lang="ar-SA" altLang="en-US" sz="1300" dirty="0">
                <a:solidFill>
                  <a:srgbClr val="4F6356"/>
                </a:solidFill>
                <a:latin typeface="Arial" pitchFamily="34" charset="0"/>
                <a:ea typeface="Arial" pitchFamily="34" charset="-122"/>
                <a:cs typeface="Arial" pitchFamily="34" charset="-120"/>
              </a:rPr>
              <a:t>تمكين المتطوعين، وتوثيق الساعات، وتوفير الفرص الخضراء</a:t>
            </a:r>
            <a:endParaRPr lang="ar-SA" sz="1300" dirty="0"/>
          </a:p>
        </p:txBody>
      </p:sp>
      <p:sp>
        <p:nvSpPr>
          <p:cNvPr id="20" name="Shape 18"/>
          <p:cNvSpPr/>
          <p:nvPr/>
        </p:nvSpPr>
        <p:spPr>
          <a:xfrm>
            <a:off x="5227168" y="1938528"/>
            <a:ext cx="566928" cy="566928"/>
          </a:xfrm>
          <a:prstGeom prst="ellipse">
            <a:avLst/>
          </a:prstGeom>
          <a:solidFill>
            <a:srgbClr val="C9971C"/>
          </a:solidFill>
          <a:ln w="12700">
            <a:solidFill>
              <a:srgbClr val="C9971C"/>
            </a:solidFill>
            <a:prstDash val="solid"/>
          </a:ln>
        </p:spPr>
      </p:sp>
      <p:sp>
        <p:nvSpPr>
          <p:cNvPr id="21" name="Text 19"/>
          <p:cNvSpPr txBox="1"/>
          <p:nvPr/>
        </p:nvSpPr>
        <p:spPr>
          <a:xfrm>
            <a:off x="5227168" y="1938528"/>
            <a:ext cx="566928" cy="566928"/>
          </a:xfrm>
          <a:prstGeom prst="rect">
            <a:avLst/>
          </a:prstGeom>
          <a:noFill/>
          <a:ln/>
        </p:spPr>
        <p:txBody>
          <a:bodyPr wrap="square" lIns="0" tIns="0" rIns="0" bIns="0" rtlCol="0" anchor="ctr"/>
          <a:lstStyle/>
          <a:p>
            <a:pPr algn="ctr" indent="0" marL="0">
              <a:buNone/>
            </a:pPr>
            <a:r>
              <a:rPr lang="ar-SA" altLang="en-US" sz="1800" b="1" dirty="0">
                <a:solidFill>
                  <a:srgbClr val="FFFFFF"/>
                </a:solidFill>
                <a:latin typeface="Arial" pitchFamily="34" charset="0"/>
                <a:ea typeface="Arial" pitchFamily="34" charset="-122"/>
                <a:cs typeface="Arial" pitchFamily="34" charset="-120"/>
              </a:rPr>
              <a:t>5</a:t>
            </a:r>
            <a:endParaRPr lang="ar-SA" sz="1800" dirty="0"/>
          </a:p>
        </p:txBody>
      </p:sp>
      <p:sp>
        <p:nvSpPr>
          <p:cNvPr id="22" name="Text 20"/>
          <p:cNvSpPr txBox="1"/>
          <p:nvPr/>
        </p:nvSpPr>
        <p:spPr>
          <a:xfrm>
            <a:off x="594360" y="1901952"/>
            <a:ext cx="4449928" cy="384048"/>
          </a:xfrm>
          <a:prstGeom prst="rect">
            <a:avLst/>
          </a:prstGeom>
          <a:noFill/>
          <a:ln/>
        </p:spPr>
        <p:txBody>
          <a:bodyPr wrap="square" lIns="0" tIns="0" rIns="0" bIns="0" rtlCol="0" anchor="t"/>
          <a:lstStyle/>
          <a:p>
            <a:pPr rtl="1" algn="r" indent="0" marL="0">
              <a:buNone/>
            </a:pPr>
            <a:r>
              <a:rPr lang="ar-SA" altLang="en-US" sz="1700" b="1" dirty="0">
                <a:solidFill>
                  <a:srgbClr val="15271C"/>
                </a:solidFill>
                <a:latin typeface="Arial" pitchFamily="34" charset="0"/>
                <a:ea typeface="Arial" pitchFamily="34" charset="-122"/>
                <a:cs typeface="Arial" pitchFamily="34" charset="-120"/>
              </a:rPr>
              <a:t>تطوير الإعلام والرقمنة</a:t>
            </a:r>
            <a:endParaRPr lang="ar-SA" sz="1700" dirty="0"/>
          </a:p>
        </p:txBody>
      </p:sp>
      <p:sp>
        <p:nvSpPr>
          <p:cNvPr id="23" name="Text 21"/>
          <p:cNvSpPr txBox="1"/>
          <p:nvPr/>
        </p:nvSpPr>
        <p:spPr>
          <a:xfrm>
            <a:off x="594360" y="2286000"/>
            <a:ext cx="4449928" cy="457200"/>
          </a:xfrm>
          <a:prstGeom prst="rect">
            <a:avLst/>
          </a:prstGeom>
          <a:noFill/>
          <a:ln/>
        </p:spPr>
        <p:txBody>
          <a:bodyPr wrap="square" lIns="0" tIns="0" rIns="0" bIns="0" rtlCol="0" anchor="t"/>
          <a:lstStyle/>
          <a:p>
            <a:pPr rtl="1" algn="r" indent="0" marL="0">
              <a:buNone/>
            </a:pPr>
            <a:r>
              <a:rPr lang="ar-SA" altLang="en-US" sz="1300" dirty="0">
                <a:solidFill>
                  <a:srgbClr val="4F6356"/>
                </a:solidFill>
                <a:latin typeface="Arial" pitchFamily="34" charset="0"/>
                <a:ea typeface="Arial" pitchFamily="34" charset="-122"/>
                <a:cs typeface="Arial" pitchFamily="34" charset="-120"/>
              </a:rPr>
              <a:t>إعلام الأثر، وإدارة الأثر التنموي رقميًا، وبناء القدرات البشرية</a:t>
            </a:r>
            <a:endParaRPr lang="ar-SA" sz="1300" dirty="0"/>
          </a:p>
        </p:txBody>
      </p:sp>
      <p:sp>
        <p:nvSpPr>
          <p:cNvPr id="24" name="Shape 22"/>
          <p:cNvSpPr/>
          <p:nvPr/>
        </p:nvSpPr>
        <p:spPr>
          <a:xfrm>
            <a:off x="5227168" y="2990088"/>
            <a:ext cx="566928" cy="566928"/>
          </a:xfrm>
          <a:prstGeom prst="ellipse">
            <a:avLst/>
          </a:prstGeom>
          <a:solidFill>
            <a:srgbClr val="C9971C"/>
          </a:solidFill>
          <a:ln w="12700">
            <a:solidFill>
              <a:srgbClr val="C9971C"/>
            </a:solidFill>
            <a:prstDash val="solid"/>
          </a:ln>
        </p:spPr>
      </p:sp>
      <p:sp>
        <p:nvSpPr>
          <p:cNvPr id="25" name="Text 23"/>
          <p:cNvSpPr txBox="1"/>
          <p:nvPr/>
        </p:nvSpPr>
        <p:spPr>
          <a:xfrm>
            <a:off x="5227168" y="2990088"/>
            <a:ext cx="566928" cy="566928"/>
          </a:xfrm>
          <a:prstGeom prst="rect">
            <a:avLst/>
          </a:prstGeom>
          <a:noFill/>
          <a:ln/>
        </p:spPr>
        <p:txBody>
          <a:bodyPr wrap="square" lIns="0" tIns="0" rIns="0" bIns="0" rtlCol="0" anchor="ctr"/>
          <a:lstStyle/>
          <a:p>
            <a:pPr algn="ctr" indent="0" marL="0">
              <a:buNone/>
            </a:pPr>
            <a:r>
              <a:rPr lang="ar-SA" altLang="en-US" sz="1800" b="1" dirty="0">
                <a:solidFill>
                  <a:srgbClr val="FFFFFF"/>
                </a:solidFill>
                <a:latin typeface="Arial" pitchFamily="34" charset="0"/>
                <a:ea typeface="Arial" pitchFamily="34" charset="-122"/>
                <a:cs typeface="Arial" pitchFamily="34" charset="-120"/>
              </a:rPr>
              <a:t>6</a:t>
            </a:r>
            <a:endParaRPr lang="ar-SA" sz="1800" dirty="0"/>
          </a:p>
        </p:txBody>
      </p:sp>
      <p:sp>
        <p:nvSpPr>
          <p:cNvPr id="26" name="Text 24"/>
          <p:cNvSpPr txBox="1"/>
          <p:nvPr/>
        </p:nvSpPr>
        <p:spPr>
          <a:xfrm>
            <a:off x="594360" y="2953512"/>
            <a:ext cx="4449928" cy="384048"/>
          </a:xfrm>
          <a:prstGeom prst="rect">
            <a:avLst/>
          </a:prstGeom>
          <a:noFill/>
          <a:ln/>
        </p:spPr>
        <p:txBody>
          <a:bodyPr wrap="square" lIns="0" tIns="0" rIns="0" bIns="0" rtlCol="0" anchor="t"/>
          <a:lstStyle/>
          <a:p>
            <a:pPr rtl="1" algn="r" indent="0" marL="0">
              <a:buNone/>
            </a:pPr>
            <a:r>
              <a:rPr lang="ar-SA" altLang="en-US" sz="1700" b="1" dirty="0">
                <a:solidFill>
                  <a:srgbClr val="15271C"/>
                </a:solidFill>
                <a:latin typeface="Arial" pitchFamily="34" charset="0"/>
                <a:ea typeface="Arial" pitchFamily="34" charset="-122"/>
                <a:cs typeface="Arial" pitchFamily="34" charset="-120"/>
              </a:rPr>
              <a:t>بناء البنية التحتية المستدامة</a:t>
            </a:r>
            <a:endParaRPr lang="ar-SA" sz="1700" dirty="0"/>
          </a:p>
        </p:txBody>
      </p:sp>
      <p:sp>
        <p:nvSpPr>
          <p:cNvPr id="27" name="Text 25"/>
          <p:cNvSpPr txBox="1"/>
          <p:nvPr/>
        </p:nvSpPr>
        <p:spPr>
          <a:xfrm>
            <a:off x="594360" y="3337560"/>
            <a:ext cx="4449928" cy="457200"/>
          </a:xfrm>
          <a:prstGeom prst="rect">
            <a:avLst/>
          </a:prstGeom>
          <a:noFill/>
          <a:ln/>
        </p:spPr>
        <p:txBody>
          <a:bodyPr wrap="square" lIns="0" tIns="0" rIns="0" bIns="0" rtlCol="0" anchor="t"/>
          <a:lstStyle/>
          <a:p>
            <a:pPr rtl="1" algn="r" indent="0" marL="0">
              <a:buNone/>
            </a:pPr>
            <a:r>
              <a:rPr lang="ar-SA" altLang="en-US" sz="1300" dirty="0">
                <a:solidFill>
                  <a:srgbClr val="4F6356"/>
                </a:solidFill>
                <a:latin typeface="Arial" pitchFamily="34" charset="0"/>
                <a:ea typeface="Arial" pitchFamily="34" charset="-122"/>
                <a:cs typeface="Arial" pitchFamily="34" charset="-120"/>
              </a:rPr>
              <a:t>طريق أخضر مستدام، وكفاءة المياه، والطاقة النظيفة</a:t>
            </a:r>
            <a:endParaRPr lang="ar-SA" sz="1300" dirty="0"/>
          </a:p>
        </p:txBody>
      </p:sp>
      <p:sp>
        <p:nvSpPr>
          <p:cNvPr id="28" name="Shape 26"/>
          <p:cNvSpPr/>
          <p:nvPr/>
        </p:nvSpPr>
        <p:spPr>
          <a:xfrm>
            <a:off x="5227168" y="4041648"/>
            <a:ext cx="566928" cy="566928"/>
          </a:xfrm>
          <a:prstGeom prst="ellipse">
            <a:avLst/>
          </a:prstGeom>
          <a:solidFill>
            <a:srgbClr val="C9971C"/>
          </a:solidFill>
          <a:ln w="12700">
            <a:solidFill>
              <a:srgbClr val="C9971C"/>
            </a:solidFill>
            <a:prstDash val="solid"/>
          </a:ln>
        </p:spPr>
      </p:sp>
      <p:sp>
        <p:nvSpPr>
          <p:cNvPr id="29" name="Text 27"/>
          <p:cNvSpPr txBox="1"/>
          <p:nvPr/>
        </p:nvSpPr>
        <p:spPr>
          <a:xfrm>
            <a:off x="5227168" y="4041648"/>
            <a:ext cx="566928" cy="566928"/>
          </a:xfrm>
          <a:prstGeom prst="rect">
            <a:avLst/>
          </a:prstGeom>
          <a:noFill/>
          <a:ln/>
        </p:spPr>
        <p:txBody>
          <a:bodyPr wrap="square" lIns="0" tIns="0" rIns="0" bIns="0" rtlCol="0" anchor="ctr"/>
          <a:lstStyle/>
          <a:p>
            <a:pPr algn="ctr" indent="0" marL="0">
              <a:buNone/>
            </a:pPr>
            <a:r>
              <a:rPr lang="ar-SA" altLang="en-US" sz="1800" b="1" dirty="0">
                <a:solidFill>
                  <a:srgbClr val="FFFFFF"/>
                </a:solidFill>
                <a:latin typeface="Arial" pitchFamily="34" charset="0"/>
                <a:ea typeface="Arial" pitchFamily="34" charset="-122"/>
                <a:cs typeface="Arial" pitchFamily="34" charset="-120"/>
              </a:rPr>
              <a:t>7</a:t>
            </a:r>
            <a:endParaRPr lang="ar-SA" sz="1800" dirty="0"/>
          </a:p>
        </p:txBody>
      </p:sp>
      <p:sp>
        <p:nvSpPr>
          <p:cNvPr id="30" name="Text 28"/>
          <p:cNvSpPr txBox="1"/>
          <p:nvPr/>
        </p:nvSpPr>
        <p:spPr>
          <a:xfrm>
            <a:off x="594360" y="4005072"/>
            <a:ext cx="4449928" cy="384048"/>
          </a:xfrm>
          <a:prstGeom prst="rect">
            <a:avLst/>
          </a:prstGeom>
          <a:noFill/>
          <a:ln/>
        </p:spPr>
        <p:txBody>
          <a:bodyPr wrap="square" lIns="0" tIns="0" rIns="0" bIns="0" rtlCol="0" anchor="t"/>
          <a:lstStyle/>
          <a:p>
            <a:pPr rtl="1" algn="r" indent="0" marL="0">
              <a:buNone/>
            </a:pPr>
            <a:r>
              <a:rPr lang="ar-SA" altLang="en-US" sz="1700" b="1" dirty="0">
                <a:solidFill>
                  <a:srgbClr val="15271C"/>
                </a:solidFill>
                <a:latin typeface="Arial" pitchFamily="34" charset="0"/>
                <a:ea typeface="Arial" pitchFamily="34" charset="-122"/>
                <a:cs typeface="Arial" pitchFamily="34" charset="-120"/>
              </a:rPr>
              <a:t>تعزيز الشراكات والاستدامة المؤسسية</a:t>
            </a:r>
            <a:endParaRPr lang="ar-SA" sz="1700" dirty="0"/>
          </a:p>
        </p:txBody>
      </p:sp>
      <p:sp>
        <p:nvSpPr>
          <p:cNvPr id="31" name="Text 29"/>
          <p:cNvSpPr txBox="1"/>
          <p:nvPr/>
        </p:nvSpPr>
        <p:spPr>
          <a:xfrm>
            <a:off x="594360" y="4389120"/>
            <a:ext cx="4449928" cy="457200"/>
          </a:xfrm>
          <a:prstGeom prst="rect">
            <a:avLst/>
          </a:prstGeom>
          <a:noFill/>
          <a:ln/>
        </p:spPr>
        <p:txBody>
          <a:bodyPr wrap="square" lIns="0" tIns="0" rIns="0" bIns="0" rtlCol="0" anchor="t"/>
          <a:lstStyle/>
          <a:p>
            <a:pPr rtl="1" algn="r" indent="0" marL="0">
              <a:buNone/>
            </a:pPr>
            <a:r>
              <a:rPr lang="ar-SA" altLang="en-US" sz="1300" dirty="0">
                <a:solidFill>
                  <a:srgbClr val="4F6356"/>
                </a:solidFill>
                <a:latin typeface="Arial" pitchFamily="34" charset="0"/>
                <a:ea typeface="Arial" pitchFamily="34" charset="-122"/>
                <a:cs typeface="Arial" pitchFamily="34" charset="-120"/>
              </a:rPr>
              <a:t>شراكات استراتيجية، والامتثال للمعايير، وضمان استمرارية الأثر</a:t>
            </a:r>
            <a:endParaRPr lang="ar-SA" sz="1300" dirty="0"/>
          </a:p>
        </p:txBody>
      </p:sp>
      <p:sp>
        <p:nvSpPr>
          <p:cNvPr id="32" name="Text 30"/>
          <p:cNvSpPr txBox="1"/>
          <p:nvPr/>
        </p:nvSpPr>
        <p:spPr>
          <a:xfrm>
            <a:off x="594360" y="6355080"/>
            <a:ext cx="914400" cy="274320"/>
          </a:xfrm>
          <a:prstGeom prst="rect">
            <a:avLst/>
          </a:prstGeom>
          <a:noFill/>
          <a:ln/>
        </p:spPr>
        <p:txBody>
          <a:bodyPr wrap="square" lIns="0" tIns="0" rIns="0" bIns="0" rtlCol="0" anchor="t"/>
          <a:lstStyle/>
          <a:p>
            <a:pPr algn="l" indent="0" marL="0">
              <a:buNone/>
            </a:pPr>
            <a:r>
              <a:rPr lang="ar-SA" altLang="en-US" sz="1100" dirty="0">
                <a:solidFill>
                  <a:srgbClr val="6B7D70"/>
                </a:solidFill>
                <a:latin typeface="Arial" pitchFamily="34" charset="0"/>
                <a:ea typeface="Arial" pitchFamily="34" charset="-122"/>
                <a:cs typeface="Arial" pitchFamily="34" charset="-120"/>
              </a:rPr>
              <a:t>06</a:t>
            </a:r>
            <a:endParaRPr lang="ar-SA" sz="1100" dirty="0"/>
          </a:p>
        </p:txBody>
      </p:sp>
      <p:sp>
        <p:nvSpPr>
          <p:cNvPr id="33" name="Text 31"/>
          <p:cNvSpPr txBox="1"/>
          <p:nvPr/>
        </p:nvSpPr>
        <p:spPr>
          <a:xfrm>
            <a:off x="7025335" y="6355080"/>
            <a:ext cx="4572000" cy="274320"/>
          </a:xfrm>
          <a:prstGeom prst="rect">
            <a:avLst/>
          </a:prstGeom>
          <a:noFill/>
          <a:ln/>
        </p:spPr>
        <p:txBody>
          <a:bodyPr wrap="square" lIns="0" tIns="0" rIns="0" bIns="0" rtlCol="0" anchor="t"/>
          <a:lstStyle/>
          <a:p>
            <a:pPr rtl="1" algn="r" indent="0" marL="0">
              <a:buNone/>
            </a:pPr>
            <a:r>
              <a:rPr lang="ar-SA" altLang="en-US" sz="1100" dirty="0">
                <a:solidFill>
                  <a:srgbClr val="6B7D70"/>
                </a:solidFill>
                <a:latin typeface="Arial" pitchFamily="34" charset="0"/>
                <a:ea typeface="Arial" pitchFamily="34" charset="-122"/>
                <a:cs typeface="Arial" pitchFamily="34" charset="-120"/>
              </a:rPr>
              <a:t>مبادرة الأثر الأخضر المستدام</a:t>
            </a:r>
            <a:endParaRPr lang="ar-SA"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3524"/>
        </a:solidFill>
      </p:bgPr>
    </p:bg>
    <p:spTree>
      <p:nvGrpSpPr>
        <p:cNvPr id="1" name=""/>
        <p:cNvGrpSpPr/>
        <p:nvPr/>
      </p:nvGrpSpPr>
      <p:grpSpPr>
        <a:xfrm>
          <a:off x="0" y="0"/>
          <a:ext cx="0" cy="0"/>
          <a:chOff x="0" y="0"/>
          <a:chExt cx="0" cy="0"/>
        </a:xfrm>
      </p:grpSpPr>
      <p:sp>
        <p:nvSpPr>
          <p:cNvPr id="2" name="Text 0"/>
          <p:cNvSpPr txBox="1"/>
          <p:nvPr/>
        </p:nvSpPr>
        <p:spPr>
          <a:xfrm>
            <a:off x="594360" y="1097280"/>
            <a:ext cx="11002975" cy="457200"/>
          </a:xfrm>
          <a:prstGeom prst="rect">
            <a:avLst/>
          </a:prstGeom>
          <a:noFill/>
          <a:ln/>
        </p:spPr>
        <p:txBody>
          <a:bodyPr wrap="square" lIns="0" tIns="0" rIns="0" bIns="0" rtlCol="0" anchor="t"/>
          <a:lstStyle/>
          <a:p>
            <a:pPr rtl="1" algn="ctr" indent="0" marL="0">
              <a:buNone/>
            </a:pPr>
            <a:r>
              <a:rPr lang="ar-SA" altLang="en-US" sz="2000" b="1" dirty="0">
                <a:solidFill>
                  <a:srgbClr val="E3B341"/>
                </a:solidFill>
                <a:latin typeface="Arial" pitchFamily="34" charset="0"/>
                <a:ea typeface="Arial" pitchFamily="34" charset="-122"/>
                <a:cs typeface="Arial" pitchFamily="34" charset="-120"/>
              </a:rPr>
              <a:t>الرقم الذهبي الذي يصنع الأثر</a:t>
            </a:r>
            <a:endParaRPr lang="ar-SA" sz="2000" dirty="0"/>
          </a:p>
        </p:txBody>
      </p:sp>
      <p:sp>
        <p:nvSpPr>
          <p:cNvPr id="3" name="Text 1"/>
          <p:cNvSpPr txBox="1"/>
          <p:nvPr/>
        </p:nvSpPr>
        <p:spPr>
          <a:xfrm>
            <a:off x="594360" y="1737360"/>
            <a:ext cx="11002975" cy="2377440"/>
          </a:xfrm>
          <a:prstGeom prst="rect">
            <a:avLst/>
          </a:prstGeom>
          <a:noFill/>
          <a:ln/>
        </p:spPr>
        <p:txBody>
          <a:bodyPr wrap="square" lIns="0" tIns="0" rIns="0" bIns="0" rtlCol="0" anchor="ctr"/>
          <a:lstStyle/>
          <a:p>
            <a:pPr algn="ctr" indent="0" marL="0">
              <a:buNone/>
            </a:pPr>
            <a:r>
              <a:rPr lang="ar-SA" altLang="en-US" sz="15000" b="1" dirty="0">
                <a:solidFill>
                  <a:srgbClr val="E3B341"/>
                </a:solidFill>
                <a:latin typeface="Arial" pitchFamily="34" charset="0"/>
                <a:ea typeface="Arial" pitchFamily="34" charset="-122"/>
                <a:cs typeface="Arial" pitchFamily="34" charset="-120"/>
              </a:rPr>
              <a:t>2,030</a:t>
            </a:r>
            <a:endParaRPr lang="ar-SA" sz="15000" dirty="0"/>
          </a:p>
        </p:txBody>
      </p:sp>
      <p:sp>
        <p:nvSpPr>
          <p:cNvPr id="4" name="Text 2"/>
          <p:cNvSpPr txBox="1"/>
          <p:nvPr/>
        </p:nvSpPr>
        <p:spPr>
          <a:xfrm>
            <a:off x="2011680" y="4389120"/>
            <a:ext cx="8168335" cy="1097280"/>
          </a:xfrm>
          <a:prstGeom prst="rect">
            <a:avLst/>
          </a:prstGeom>
          <a:noFill/>
          <a:ln/>
        </p:spPr>
        <p:txBody>
          <a:bodyPr wrap="square" lIns="0" tIns="0" rIns="0" bIns="0" rtlCol="0" anchor="t"/>
          <a:lstStyle/>
          <a:p>
            <a:pPr rtl="1" algn="ctr" indent="0" marL="0">
              <a:lnSpc>
                <a:spcPct val="130000"/>
              </a:lnSpc>
              <a:buNone/>
            </a:pPr>
            <a:r>
              <a:rPr lang="ar-SA" altLang="en-US" sz="1900" dirty="0">
                <a:solidFill>
                  <a:srgbClr val="D5E3D8"/>
                </a:solidFill>
                <a:latin typeface="Arial" pitchFamily="34" charset="0"/>
                <a:ea typeface="Arial" pitchFamily="34" charset="-122"/>
                <a:cs typeface="Arial" pitchFamily="34" charset="-120"/>
              </a:rPr>
              <a:t>مستهدفٌ موحّد لكل مسار من مسارات المبادرة: أشجار، وساعات تطوع، ومتطوعون، ومتدربون، ومنتجات، وأعمال فنية، ليلتقي الأثر برقمٍ واحد مع رؤية 2030</a:t>
            </a:r>
            <a:endParaRPr lang="ar-SA"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1"/>
        </a:solidFill>
      </p:bgPr>
    </p:bg>
    <p:spTree>
      <p:nvGrpSpPr>
        <p:cNvPr id="1" name=""/>
        <p:cNvGrpSpPr/>
        <p:nvPr/>
      </p:nvGrpSpPr>
      <p:grpSpPr>
        <a:xfrm>
          <a:off x="0" y="0"/>
          <a:ext cx="0" cy="0"/>
          <a:chOff x="0" y="0"/>
          <a:chExt cx="0" cy="0"/>
        </a:xfrm>
      </p:grpSpPr>
      <p:sp>
        <p:nvSpPr>
          <p:cNvPr id="2" name="Text 0"/>
          <p:cNvSpPr txBox="1"/>
          <p:nvPr/>
        </p:nvSpPr>
        <p:spPr>
          <a:xfrm>
            <a:off x="594360" y="502920"/>
            <a:ext cx="11002975" cy="365760"/>
          </a:xfrm>
          <a:prstGeom prst="rect">
            <a:avLst/>
          </a:prstGeom>
          <a:noFill/>
          <a:ln/>
        </p:spPr>
        <p:txBody>
          <a:bodyPr wrap="square" lIns="0" tIns="0" rIns="0" bIns="0" rtlCol="0" anchor="t"/>
          <a:lstStyle/>
          <a:p>
            <a:pPr rtl="1" algn="r" indent="0" marL="0">
              <a:buNone/>
            </a:pPr>
            <a:r>
              <a:rPr lang="ar-SA" altLang="en-US" sz="1500" b="1" dirty="0">
                <a:solidFill>
                  <a:srgbClr val="8A6508"/>
                </a:solidFill>
                <a:latin typeface="Arial" pitchFamily="34" charset="0"/>
                <a:ea typeface="Arial" pitchFamily="34" charset="-122"/>
                <a:cs typeface="Arial" pitchFamily="34" charset="-120"/>
              </a:rPr>
              <a:t>التدشينات الخضراء · 1 من 2</a:t>
            </a:r>
            <a:endParaRPr lang="ar-SA" sz="1500" dirty="0"/>
          </a:p>
        </p:txBody>
      </p:sp>
      <p:sp>
        <p:nvSpPr>
          <p:cNvPr id="3" name="Text 1"/>
          <p:cNvSpPr txBox="1"/>
          <p:nvPr/>
        </p:nvSpPr>
        <p:spPr>
          <a:xfrm>
            <a:off x="594360" y="868680"/>
            <a:ext cx="11002975" cy="731520"/>
          </a:xfrm>
          <a:prstGeom prst="rect">
            <a:avLst/>
          </a:prstGeom>
          <a:noFill/>
          <a:ln/>
        </p:spPr>
        <p:txBody>
          <a:bodyPr wrap="square" lIns="0" tIns="0" rIns="0" bIns="0" rtlCol="0" anchor="t"/>
          <a:lstStyle/>
          <a:p>
            <a:pPr rtl="1" algn="r" indent="0" marL="0">
              <a:buNone/>
            </a:pPr>
            <a:r>
              <a:rPr lang="ar-SA" altLang="en-US" sz="3600" b="1" dirty="0">
                <a:solidFill>
                  <a:srgbClr val="1E5E36"/>
                </a:solidFill>
                <a:latin typeface="Arial" pitchFamily="34" charset="0"/>
                <a:ea typeface="Arial" pitchFamily="34" charset="-122"/>
                <a:cs typeface="Arial" pitchFamily="34" charset="-120"/>
              </a:rPr>
              <a:t>مشاريع البيئة والمجتمع</a:t>
            </a:r>
            <a:endParaRPr lang="ar-SA" sz="3600" dirty="0"/>
          </a:p>
        </p:txBody>
      </p:sp>
      <p:sp>
        <p:nvSpPr>
          <p:cNvPr id="4" name="Shape 2"/>
          <p:cNvSpPr/>
          <p:nvPr/>
        </p:nvSpPr>
        <p:spPr>
          <a:xfrm>
            <a:off x="594360" y="1783080"/>
            <a:ext cx="11002975" cy="530352"/>
          </a:xfrm>
          <a:prstGeom prst="roundRect">
            <a:avLst>
              <a:gd name="adj" fmla="val 20690"/>
            </a:avLst>
          </a:prstGeom>
          <a:solidFill>
            <a:srgbClr val="FBFCF9"/>
          </a:solidFill>
          <a:ln w="9525">
            <a:solidFill>
              <a:srgbClr val="D6E0D1"/>
            </a:solidFill>
            <a:prstDash val="solid"/>
          </a:ln>
        </p:spPr>
      </p:sp>
      <p:sp>
        <p:nvSpPr>
          <p:cNvPr id="5" name="Text 3"/>
          <p:cNvSpPr txBox="1"/>
          <p:nvPr/>
        </p:nvSpPr>
        <p:spPr>
          <a:xfrm>
            <a:off x="8031175" y="1874520"/>
            <a:ext cx="3337560" cy="365760"/>
          </a:xfrm>
          <a:prstGeom prst="rect">
            <a:avLst/>
          </a:prstGeom>
          <a:noFill/>
          <a:ln/>
        </p:spPr>
        <p:txBody>
          <a:bodyPr wrap="square" lIns="0" tIns="0" rIns="0" bIns="0" rtlCol="0" anchor="ctr"/>
          <a:lstStyle/>
          <a:p>
            <a:pPr rtl="1" algn="r" indent="0" marL="0">
              <a:buNone/>
            </a:pPr>
            <a:r>
              <a:rPr lang="ar-SA" altLang="en-US" sz="1600" b="1" dirty="0">
                <a:solidFill>
                  <a:srgbClr val="15271C"/>
                </a:solidFill>
                <a:latin typeface="Arial" pitchFamily="34" charset="0"/>
                <a:ea typeface="Arial" pitchFamily="34" charset="-122"/>
                <a:cs typeface="Arial" pitchFamily="34" charset="-120"/>
              </a:rPr>
              <a:t>مدرستي الخضراء</a:t>
            </a:r>
            <a:endParaRPr lang="ar-SA" sz="1600" dirty="0"/>
          </a:p>
        </p:txBody>
      </p:sp>
      <p:sp>
        <p:nvSpPr>
          <p:cNvPr id="6" name="Text 4"/>
          <p:cNvSpPr txBox="1"/>
          <p:nvPr/>
        </p:nvSpPr>
        <p:spPr>
          <a:xfrm>
            <a:off x="3246120" y="1874520"/>
            <a:ext cx="4693615" cy="365760"/>
          </a:xfrm>
          <a:prstGeom prst="rect">
            <a:avLst/>
          </a:prstGeom>
          <a:noFill/>
          <a:ln/>
        </p:spPr>
        <p:txBody>
          <a:bodyPr wrap="square" lIns="0" tIns="0" rIns="0" bIns="0" rtlCol="0" anchor="ctr"/>
          <a:lstStyle/>
          <a:p>
            <a:pPr rtl="1" algn="r" indent="0" marL="0">
              <a:buNone/>
            </a:pPr>
            <a:r>
              <a:rPr lang="ar-SA" altLang="en-US" sz="1300" dirty="0">
                <a:solidFill>
                  <a:srgbClr val="4F6356"/>
                </a:solidFill>
                <a:latin typeface="Arial" pitchFamily="34" charset="0"/>
                <a:ea typeface="Arial" pitchFamily="34" charset="-122"/>
                <a:cs typeface="Arial" pitchFamily="34" charset="-120"/>
              </a:rPr>
              <a:t>15 مدرسة، وتحويل 5 أطنان من النفايات عن المرادم سنويًا</a:t>
            </a:r>
            <a:endParaRPr lang="ar-SA" sz="1300" dirty="0"/>
          </a:p>
        </p:txBody>
      </p:sp>
      <p:sp>
        <p:nvSpPr>
          <p:cNvPr id="7" name="Text 5"/>
          <p:cNvSpPr txBox="1"/>
          <p:nvPr/>
        </p:nvSpPr>
        <p:spPr>
          <a:xfrm>
            <a:off x="822960" y="1874520"/>
            <a:ext cx="2286000" cy="365760"/>
          </a:xfrm>
          <a:prstGeom prst="rect">
            <a:avLst/>
          </a:prstGeom>
          <a:noFill/>
          <a:ln/>
        </p:spPr>
        <p:txBody>
          <a:bodyPr wrap="square" lIns="0" tIns="0" rIns="0" bIns="0" rtlCol="0" anchor="ctr"/>
          <a:lstStyle/>
          <a:p>
            <a:pPr algn="l" indent="0" marL="0">
              <a:buNone/>
            </a:pPr>
            <a:r>
              <a:rPr lang="ar-SA" altLang="en-US" sz="1700" b="1" dirty="0">
                <a:solidFill>
                  <a:srgbClr val="8A6508"/>
                </a:solidFill>
                <a:latin typeface="Arial" pitchFamily="34" charset="0"/>
                <a:ea typeface="Arial" pitchFamily="34" charset="-122"/>
                <a:cs typeface="Arial" pitchFamily="34" charset="-120"/>
              </a:rPr>
              <a:t>2,030 </a:t>
            </a:r>
            <a:pPr algn="l" indent="0" marL="0">
              <a:buNone/>
            </a:pPr>
            <a:r>
              <a:rPr lang="ar-SA" altLang="en-US" sz="1300" dirty="0">
                <a:solidFill>
                  <a:srgbClr val="4F6356"/>
                </a:solidFill>
                <a:latin typeface="Arial" pitchFamily="34" charset="0"/>
                <a:ea typeface="Arial" pitchFamily="34" charset="-122"/>
                <a:cs typeface="Arial" pitchFamily="34" charset="-120"/>
              </a:rPr>
              <a:t>شجرة</a:t>
            </a:r>
            <a:endParaRPr lang="ar-SA" sz="1700" dirty="0"/>
          </a:p>
        </p:txBody>
      </p:sp>
      <p:sp>
        <p:nvSpPr>
          <p:cNvPr id="8" name="Shape 6"/>
          <p:cNvSpPr/>
          <p:nvPr/>
        </p:nvSpPr>
        <p:spPr>
          <a:xfrm>
            <a:off x="594360" y="2404872"/>
            <a:ext cx="11002975" cy="530352"/>
          </a:xfrm>
          <a:prstGeom prst="roundRect">
            <a:avLst>
              <a:gd name="adj" fmla="val 20690"/>
            </a:avLst>
          </a:prstGeom>
          <a:solidFill>
            <a:srgbClr val="F4F7F1"/>
          </a:solidFill>
          <a:ln w="9525">
            <a:solidFill>
              <a:srgbClr val="D6E0D1"/>
            </a:solidFill>
            <a:prstDash val="solid"/>
          </a:ln>
        </p:spPr>
      </p:sp>
      <p:sp>
        <p:nvSpPr>
          <p:cNvPr id="9" name="Text 7"/>
          <p:cNvSpPr txBox="1"/>
          <p:nvPr/>
        </p:nvSpPr>
        <p:spPr>
          <a:xfrm>
            <a:off x="8031175" y="2496312"/>
            <a:ext cx="3337560" cy="365760"/>
          </a:xfrm>
          <a:prstGeom prst="rect">
            <a:avLst/>
          </a:prstGeom>
          <a:noFill/>
          <a:ln/>
        </p:spPr>
        <p:txBody>
          <a:bodyPr wrap="square" lIns="0" tIns="0" rIns="0" bIns="0" rtlCol="0" anchor="ctr"/>
          <a:lstStyle/>
          <a:p>
            <a:pPr rtl="1" algn="r" indent="0" marL="0">
              <a:buNone/>
            </a:pPr>
            <a:r>
              <a:rPr lang="ar-SA" altLang="en-US" sz="1600" b="1" dirty="0">
                <a:solidFill>
                  <a:srgbClr val="15271C"/>
                </a:solidFill>
                <a:latin typeface="Arial" pitchFamily="34" charset="0"/>
                <a:ea typeface="Arial" pitchFamily="34" charset="-122"/>
                <a:cs typeface="Arial" pitchFamily="34" charset="-120"/>
              </a:rPr>
              <a:t>الطريق الأخضر</a:t>
            </a:r>
            <a:endParaRPr lang="ar-SA" sz="1600" dirty="0"/>
          </a:p>
        </p:txBody>
      </p:sp>
      <p:sp>
        <p:nvSpPr>
          <p:cNvPr id="10" name="Text 8"/>
          <p:cNvSpPr txBox="1"/>
          <p:nvPr/>
        </p:nvSpPr>
        <p:spPr>
          <a:xfrm>
            <a:off x="3246120" y="2496312"/>
            <a:ext cx="4693615" cy="365760"/>
          </a:xfrm>
          <a:prstGeom prst="rect">
            <a:avLst/>
          </a:prstGeom>
          <a:noFill/>
          <a:ln/>
        </p:spPr>
        <p:txBody>
          <a:bodyPr wrap="square" lIns="0" tIns="0" rIns="0" bIns="0" rtlCol="0" anchor="ctr"/>
          <a:lstStyle/>
          <a:p>
            <a:pPr rtl="1" algn="r" indent="0" marL="0">
              <a:buNone/>
            </a:pPr>
            <a:r>
              <a:rPr lang="ar-SA" altLang="en-US" sz="1300" dirty="0">
                <a:solidFill>
                  <a:srgbClr val="4F6356"/>
                </a:solidFill>
                <a:latin typeface="Arial" pitchFamily="34" charset="0"/>
                <a:ea typeface="Arial" pitchFamily="34" charset="-122"/>
                <a:cs typeface="Arial" pitchFamily="34" charset="-120"/>
              </a:rPr>
              <a:t>مشروع تشجير مجتمعي بزراعة 2,030 شجرة</a:t>
            </a:r>
            <a:endParaRPr lang="ar-SA" sz="1300" dirty="0"/>
          </a:p>
        </p:txBody>
      </p:sp>
      <p:sp>
        <p:nvSpPr>
          <p:cNvPr id="11" name="Text 9"/>
          <p:cNvSpPr txBox="1"/>
          <p:nvPr/>
        </p:nvSpPr>
        <p:spPr>
          <a:xfrm>
            <a:off x="822960" y="2496312"/>
            <a:ext cx="2286000" cy="365760"/>
          </a:xfrm>
          <a:prstGeom prst="rect">
            <a:avLst/>
          </a:prstGeom>
          <a:noFill/>
          <a:ln/>
        </p:spPr>
        <p:txBody>
          <a:bodyPr wrap="square" lIns="0" tIns="0" rIns="0" bIns="0" rtlCol="0" anchor="ctr"/>
          <a:lstStyle/>
          <a:p>
            <a:pPr algn="l" indent="0" marL="0">
              <a:buNone/>
            </a:pPr>
            <a:r>
              <a:rPr lang="ar-SA" altLang="en-US" sz="1700" b="1" dirty="0">
                <a:solidFill>
                  <a:srgbClr val="8A6508"/>
                </a:solidFill>
                <a:latin typeface="Arial" pitchFamily="34" charset="0"/>
                <a:ea typeface="Arial" pitchFamily="34" charset="-122"/>
                <a:cs typeface="Arial" pitchFamily="34" charset="-120"/>
              </a:rPr>
              <a:t>2,030 </a:t>
            </a:r>
            <a:pPr algn="l" indent="0" marL="0">
              <a:buNone/>
            </a:pPr>
            <a:r>
              <a:rPr lang="ar-SA" altLang="en-US" sz="1300" dirty="0">
                <a:solidFill>
                  <a:srgbClr val="4F6356"/>
                </a:solidFill>
                <a:latin typeface="Arial" pitchFamily="34" charset="0"/>
                <a:ea typeface="Arial" pitchFamily="34" charset="-122"/>
                <a:cs typeface="Arial" pitchFamily="34" charset="-120"/>
              </a:rPr>
              <a:t>ساعة تطوعية</a:t>
            </a:r>
            <a:endParaRPr lang="ar-SA" sz="1700" dirty="0"/>
          </a:p>
        </p:txBody>
      </p:sp>
      <p:sp>
        <p:nvSpPr>
          <p:cNvPr id="12" name="Shape 10"/>
          <p:cNvSpPr/>
          <p:nvPr/>
        </p:nvSpPr>
        <p:spPr>
          <a:xfrm>
            <a:off x="594360" y="3026664"/>
            <a:ext cx="11002975" cy="530352"/>
          </a:xfrm>
          <a:prstGeom prst="roundRect">
            <a:avLst>
              <a:gd name="adj" fmla="val 20690"/>
            </a:avLst>
          </a:prstGeom>
          <a:solidFill>
            <a:srgbClr val="FBFCF9"/>
          </a:solidFill>
          <a:ln w="9525">
            <a:solidFill>
              <a:srgbClr val="D6E0D1"/>
            </a:solidFill>
            <a:prstDash val="solid"/>
          </a:ln>
        </p:spPr>
      </p:sp>
      <p:sp>
        <p:nvSpPr>
          <p:cNvPr id="13" name="Text 11"/>
          <p:cNvSpPr txBox="1"/>
          <p:nvPr/>
        </p:nvSpPr>
        <p:spPr>
          <a:xfrm>
            <a:off x="8031175" y="3118104"/>
            <a:ext cx="3337560" cy="365760"/>
          </a:xfrm>
          <a:prstGeom prst="rect">
            <a:avLst/>
          </a:prstGeom>
          <a:noFill/>
          <a:ln/>
        </p:spPr>
        <p:txBody>
          <a:bodyPr wrap="square" lIns="0" tIns="0" rIns="0" bIns="0" rtlCol="0" anchor="ctr"/>
          <a:lstStyle/>
          <a:p>
            <a:pPr rtl="1" algn="r" indent="0" marL="0">
              <a:buNone/>
            </a:pPr>
            <a:r>
              <a:rPr lang="ar-SA" altLang="en-US" sz="1600" b="1" dirty="0">
                <a:solidFill>
                  <a:srgbClr val="15271C"/>
                </a:solidFill>
                <a:latin typeface="Arial" pitchFamily="34" charset="0"/>
                <a:ea typeface="Arial" pitchFamily="34" charset="-122"/>
                <a:cs typeface="Arial" pitchFamily="34" charset="-120"/>
              </a:rPr>
              <a:t>واحة الاستدامة</a:t>
            </a:r>
            <a:endParaRPr lang="ar-SA" sz="1600" dirty="0"/>
          </a:p>
        </p:txBody>
      </p:sp>
      <p:sp>
        <p:nvSpPr>
          <p:cNvPr id="14" name="Text 12"/>
          <p:cNvSpPr txBox="1"/>
          <p:nvPr/>
        </p:nvSpPr>
        <p:spPr>
          <a:xfrm>
            <a:off x="3246120" y="3118104"/>
            <a:ext cx="4693615" cy="365760"/>
          </a:xfrm>
          <a:prstGeom prst="rect">
            <a:avLst/>
          </a:prstGeom>
          <a:noFill/>
          <a:ln/>
        </p:spPr>
        <p:txBody>
          <a:bodyPr wrap="square" lIns="0" tIns="0" rIns="0" bIns="0" rtlCol="0" anchor="ctr"/>
          <a:lstStyle/>
          <a:p>
            <a:pPr rtl="1" algn="r" indent="0" marL="0">
              <a:buNone/>
            </a:pPr>
            <a:r>
              <a:rPr lang="ar-SA" altLang="en-US" sz="1300" dirty="0">
                <a:solidFill>
                  <a:srgbClr val="4F6356"/>
                </a:solidFill>
                <a:latin typeface="Arial" pitchFamily="34" charset="0"/>
                <a:ea typeface="Arial" pitchFamily="34" charset="-122"/>
                <a:cs typeface="Arial" pitchFamily="34" charset="-120"/>
              </a:rPr>
              <a:t>أشجار متنوعة يرافقها معرض فني تعريفي</a:t>
            </a:r>
            <a:endParaRPr lang="ar-SA" sz="1300" dirty="0"/>
          </a:p>
        </p:txBody>
      </p:sp>
      <p:sp>
        <p:nvSpPr>
          <p:cNvPr id="15" name="Text 13"/>
          <p:cNvSpPr txBox="1"/>
          <p:nvPr/>
        </p:nvSpPr>
        <p:spPr>
          <a:xfrm>
            <a:off x="822960" y="3118104"/>
            <a:ext cx="2286000" cy="365760"/>
          </a:xfrm>
          <a:prstGeom prst="rect">
            <a:avLst/>
          </a:prstGeom>
          <a:noFill/>
          <a:ln/>
        </p:spPr>
        <p:txBody>
          <a:bodyPr wrap="square" lIns="0" tIns="0" rIns="0" bIns="0" rtlCol="0" anchor="ctr"/>
          <a:lstStyle/>
          <a:p>
            <a:pPr algn="l" indent="0" marL="0">
              <a:buNone/>
            </a:pPr>
            <a:r>
              <a:rPr lang="ar-SA" altLang="en-US" sz="1700" b="1" dirty="0">
                <a:solidFill>
                  <a:srgbClr val="8A6508"/>
                </a:solidFill>
                <a:latin typeface="Arial" pitchFamily="34" charset="0"/>
                <a:ea typeface="Arial" pitchFamily="34" charset="-122"/>
                <a:cs typeface="Arial" pitchFamily="34" charset="-120"/>
              </a:rPr>
              <a:t>2,030 </a:t>
            </a:r>
            <a:pPr algn="l" indent="0" marL="0">
              <a:buNone/>
            </a:pPr>
            <a:r>
              <a:rPr lang="ar-SA" altLang="en-US" sz="1300" dirty="0">
                <a:solidFill>
                  <a:srgbClr val="4F6356"/>
                </a:solidFill>
                <a:latin typeface="Arial" pitchFamily="34" charset="0"/>
                <a:ea typeface="Arial" pitchFamily="34" charset="-122"/>
                <a:cs typeface="Arial" pitchFamily="34" charset="-120"/>
              </a:rPr>
              <a:t>شجرة متنوعة</a:t>
            </a:r>
            <a:endParaRPr lang="ar-SA" sz="1700" dirty="0"/>
          </a:p>
        </p:txBody>
      </p:sp>
      <p:sp>
        <p:nvSpPr>
          <p:cNvPr id="16" name="Shape 14"/>
          <p:cNvSpPr/>
          <p:nvPr/>
        </p:nvSpPr>
        <p:spPr>
          <a:xfrm>
            <a:off x="594360" y="3648456"/>
            <a:ext cx="11002975" cy="530352"/>
          </a:xfrm>
          <a:prstGeom prst="roundRect">
            <a:avLst>
              <a:gd name="adj" fmla="val 20690"/>
            </a:avLst>
          </a:prstGeom>
          <a:solidFill>
            <a:srgbClr val="F4F7F1"/>
          </a:solidFill>
          <a:ln w="9525">
            <a:solidFill>
              <a:srgbClr val="D6E0D1"/>
            </a:solidFill>
            <a:prstDash val="solid"/>
          </a:ln>
        </p:spPr>
      </p:sp>
      <p:sp>
        <p:nvSpPr>
          <p:cNvPr id="17" name="Text 15"/>
          <p:cNvSpPr txBox="1"/>
          <p:nvPr/>
        </p:nvSpPr>
        <p:spPr>
          <a:xfrm>
            <a:off x="8031175" y="3739896"/>
            <a:ext cx="3337560" cy="365760"/>
          </a:xfrm>
          <a:prstGeom prst="rect">
            <a:avLst/>
          </a:prstGeom>
          <a:noFill/>
          <a:ln/>
        </p:spPr>
        <p:txBody>
          <a:bodyPr wrap="square" lIns="0" tIns="0" rIns="0" bIns="0" rtlCol="0" anchor="ctr"/>
          <a:lstStyle/>
          <a:p>
            <a:pPr rtl="1" algn="r" indent="0" marL="0">
              <a:buNone/>
            </a:pPr>
            <a:r>
              <a:rPr lang="ar-SA" altLang="en-US" sz="1600" b="1" dirty="0">
                <a:solidFill>
                  <a:srgbClr val="15271C"/>
                </a:solidFill>
                <a:latin typeface="Arial" pitchFamily="34" charset="0"/>
                <a:ea typeface="Arial" pitchFamily="34" charset="-122"/>
                <a:cs typeface="Arial" pitchFamily="34" charset="-120"/>
              </a:rPr>
              <a:t>غصن الاستدامة</a:t>
            </a:r>
            <a:endParaRPr lang="ar-SA" sz="1600" dirty="0"/>
          </a:p>
        </p:txBody>
      </p:sp>
      <p:sp>
        <p:nvSpPr>
          <p:cNvPr id="18" name="Text 16"/>
          <p:cNvSpPr txBox="1"/>
          <p:nvPr/>
        </p:nvSpPr>
        <p:spPr>
          <a:xfrm>
            <a:off x="3246120" y="3739896"/>
            <a:ext cx="4693615" cy="365760"/>
          </a:xfrm>
          <a:prstGeom prst="rect">
            <a:avLst/>
          </a:prstGeom>
          <a:noFill/>
          <a:ln/>
        </p:spPr>
        <p:txBody>
          <a:bodyPr wrap="square" lIns="0" tIns="0" rIns="0" bIns="0" rtlCol="0" anchor="ctr"/>
          <a:lstStyle/>
          <a:p>
            <a:pPr rtl="1" algn="r" indent="0" marL="0">
              <a:buNone/>
            </a:pPr>
            <a:r>
              <a:rPr lang="ar-SA" altLang="en-US" sz="1300" dirty="0">
                <a:solidFill>
                  <a:srgbClr val="4F6356"/>
                </a:solidFill>
                <a:latin typeface="Arial" pitchFamily="34" charset="0"/>
                <a:ea typeface="Arial" pitchFamily="34" charset="-122"/>
                <a:cs typeface="Arial" pitchFamily="34" charset="-120"/>
              </a:rPr>
              <a:t>المرحلة الأولى ونواة التوسع في زراعة الشتلات</a:t>
            </a:r>
            <a:endParaRPr lang="ar-SA" sz="1300" dirty="0"/>
          </a:p>
        </p:txBody>
      </p:sp>
      <p:sp>
        <p:nvSpPr>
          <p:cNvPr id="19" name="Text 17"/>
          <p:cNvSpPr txBox="1"/>
          <p:nvPr/>
        </p:nvSpPr>
        <p:spPr>
          <a:xfrm>
            <a:off x="822960" y="3739896"/>
            <a:ext cx="2286000" cy="365760"/>
          </a:xfrm>
          <a:prstGeom prst="rect">
            <a:avLst/>
          </a:prstGeom>
          <a:noFill/>
          <a:ln/>
        </p:spPr>
        <p:txBody>
          <a:bodyPr wrap="square" lIns="0" tIns="0" rIns="0" bIns="0" rtlCol="0" anchor="ctr"/>
          <a:lstStyle/>
          <a:p>
            <a:pPr algn="l" indent="0" marL="0">
              <a:buNone/>
            </a:pPr>
            <a:r>
              <a:rPr lang="ar-SA" altLang="en-US" sz="1700" b="1" dirty="0">
                <a:solidFill>
                  <a:srgbClr val="8A6508"/>
                </a:solidFill>
                <a:latin typeface="Arial" pitchFamily="34" charset="0"/>
                <a:ea typeface="Arial" pitchFamily="34" charset="-122"/>
                <a:cs typeface="Arial" pitchFamily="34" charset="-120"/>
              </a:rPr>
              <a:t>2,030 </a:t>
            </a:r>
            <a:pPr algn="l" indent="0" marL="0">
              <a:buNone/>
            </a:pPr>
            <a:r>
              <a:rPr lang="ar-SA" altLang="en-US" sz="1300" dirty="0">
                <a:solidFill>
                  <a:srgbClr val="4F6356"/>
                </a:solidFill>
                <a:latin typeface="Arial" pitchFamily="34" charset="0"/>
                <a:ea typeface="Arial" pitchFamily="34" charset="-122"/>
                <a:cs typeface="Arial" pitchFamily="34" charset="-120"/>
              </a:rPr>
              <a:t>شتلة</a:t>
            </a:r>
            <a:endParaRPr lang="ar-SA" sz="1700" dirty="0"/>
          </a:p>
        </p:txBody>
      </p:sp>
      <p:sp>
        <p:nvSpPr>
          <p:cNvPr id="20" name="Shape 18"/>
          <p:cNvSpPr/>
          <p:nvPr/>
        </p:nvSpPr>
        <p:spPr>
          <a:xfrm>
            <a:off x="594360" y="4270248"/>
            <a:ext cx="11002975" cy="530352"/>
          </a:xfrm>
          <a:prstGeom prst="roundRect">
            <a:avLst>
              <a:gd name="adj" fmla="val 20690"/>
            </a:avLst>
          </a:prstGeom>
          <a:solidFill>
            <a:srgbClr val="FBFCF9"/>
          </a:solidFill>
          <a:ln w="9525">
            <a:solidFill>
              <a:srgbClr val="D6E0D1"/>
            </a:solidFill>
            <a:prstDash val="solid"/>
          </a:ln>
        </p:spPr>
      </p:sp>
      <p:sp>
        <p:nvSpPr>
          <p:cNvPr id="21" name="Text 19"/>
          <p:cNvSpPr txBox="1"/>
          <p:nvPr/>
        </p:nvSpPr>
        <p:spPr>
          <a:xfrm>
            <a:off x="8031175" y="4361688"/>
            <a:ext cx="3337560" cy="365760"/>
          </a:xfrm>
          <a:prstGeom prst="rect">
            <a:avLst/>
          </a:prstGeom>
          <a:noFill/>
          <a:ln/>
        </p:spPr>
        <p:txBody>
          <a:bodyPr wrap="square" lIns="0" tIns="0" rIns="0" bIns="0" rtlCol="0" anchor="ctr"/>
          <a:lstStyle/>
          <a:p>
            <a:pPr rtl="1" algn="r" indent="0" marL="0">
              <a:buNone/>
            </a:pPr>
            <a:r>
              <a:rPr lang="ar-SA" altLang="en-US" sz="1600" b="1" dirty="0">
                <a:solidFill>
                  <a:srgbClr val="15271C"/>
                </a:solidFill>
                <a:latin typeface="Arial" pitchFamily="34" charset="0"/>
                <a:ea typeface="Arial" pitchFamily="34" charset="-122"/>
                <a:cs typeface="Arial" pitchFamily="34" charset="-120"/>
              </a:rPr>
              <a:t>الغصن الأخضر</a:t>
            </a:r>
            <a:endParaRPr lang="ar-SA" sz="1600" dirty="0"/>
          </a:p>
        </p:txBody>
      </p:sp>
      <p:sp>
        <p:nvSpPr>
          <p:cNvPr id="22" name="Text 20"/>
          <p:cNvSpPr txBox="1"/>
          <p:nvPr/>
        </p:nvSpPr>
        <p:spPr>
          <a:xfrm>
            <a:off x="3246120" y="4361688"/>
            <a:ext cx="4693615" cy="365760"/>
          </a:xfrm>
          <a:prstGeom prst="rect">
            <a:avLst/>
          </a:prstGeom>
          <a:noFill/>
          <a:ln/>
        </p:spPr>
        <p:txBody>
          <a:bodyPr wrap="square" lIns="0" tIns="0" rIns="0" bIns="0" rtlCol="0" anchor="ctr"/>
          <a:lstStyle/>
          <a:p>
            <a:pPr rtl="1" algn="r" indent="0" marL="0">
              <a:buNone/>
            </a:pPr>
            <a:r>
              <a:rPr lang="ar-SA" altLang="en-US" sz="1300" dirty="0">
                <a:solidFill>
                  <a:srgbClr val="4F6356"/>
                </a:solidFill>
                <a:latin typeface="Arial" pitchFamily="34" charset="0"/>
                <a:ea typeface="Arial" pitchFamily="34" charset="-122"/>
                <a:cs typeface="Arial" pitchFamily="34" charset="-120"/>
              </a:rPr>
              <a:t>تعليم، وتدوير، وعرض، وتسويق</a:t>
            </a:r>
            <a:endParaRPr lang="ar-SA" sz="1300" dirty="0"/>
          </a:p>
        </p:txBody>
      </p:sp>
      <p:sp>
        <p:nvSpPr>
          <p:cNvPr id="23" name="Text 21"/>
          <p:cNvSpPr txBox="1"/>
          <p:nvPr/>
        </p:nvSpPr>
        <p:spPr>
          <a:xfrm>
            <a:off x="822960" y="4361688"/>
            <a:ext cx="2286000" cy="365760"/>
          </a:xfrm>
          <a:prstGeom prst="rect">
            <a:avLst/>
          </a:prstGeom>
          <a:noFill/>
          <a:ln/>
        </p:spPr>
        <p:txBody>
          <a:bodyPr wrap="square" lIns="0" tIns="0" rIns="0" bIns="0" rtlCol="0" anchor="ctr"/>
          <a:lstStyle/>
          <a:p>
            <a:pPr algn="l" indent="0" marL="0">
              <a:buNone/>
            </a:pPr>
            <a:r>
              <a:rPr lang="ar-SA" altLang="en-US" sz="1700" b="1" dirty="0">
                <a:solidFill>
                  <a:srgbClr val="8A6508"/>
                </a:solidFill>
                <a:latin typeface="Arial" pitchFamily="34" charset="0"/>
                <a:ea typeface="Arial" pitchFamily="34" charset="-122"/>
                <a:cs typeface="Arial" pitchFamily="34" charset="-120"/>
              </a:rPr>
              <a:t>2,030 </a:t>
            </a:r>
            <a:pPr algn="l" indent="0" marL="0">
              <a:buNone/>
            </a:pPr>
            <a:r>
              <a:rPr lang="ar-SA" altLang="en-US" sz="1300" dirty="0">
                <a:solidFill>
                  <a:srgbClr val="4F6356"/>
                </a:solidFill>
                <a:latin typeface="Arial" pitchFamily="34" charset="0"/>
                <a:ea typeface="Arial" pitchFamily="34" charset="-122"/>
                <a:cs typeface="Arial" pitchFamily="34" charset="-120"/>
              </a:rPr>
              <a:t>منتج معاد تدويره</a:t>
            </a:r>
            <a:endParaRPr lang="ar-SA" sz="1700" dirty="0"/>
          </a:p>
        </p:txBody>
      </p:sp>
      <p:sp>
        <p:nvSpPr>
          <p:cNvPr id="24" name="Shape 22"/>
          <p:cNvSpPr/>
          <p:nvPr/>
        </p:nvSpPr>
        <p:spPr>
          <a:xfrm>
            <a:off x="594360" y="4892040"/>
            <a:ext cx="11002975" cy="530352"/>
          </a:xfrm>
          <a:prstGeom prst="roundRect">
            <a:avLst>
              <a:gd name="adj" fmla="val 20690"/>
            </a:avLst>
          </a:prstGeom>
          <a:solidFill>
            <a:srgbClr val="F4F7F1"/>
          </a:solidFill>
          <a:ln w="9525">
            <a:solidFill>
              <a:srgbClr val="D6E0D1"/>
            </a:solidFill>
            <a:prstDash val="solid"/>
          </a:ln>
        </p:spPr>
      </p:sp>
      <p:sp>
        <p:nvSpPr>
          <p:cNvPr id="25" name="Text 23"/>
          <p:cNvSpPr txBox="1"/>
          <p:nvPr/>
        </p:nvSpPr>
        <p:spPr>
          <a:xfrm>
            <a:off x="8031175" y="4983480"/>
            <a:ext cx="3337560" cy="365760"/>
          </a:xfrm>
          <a:prstGeom prst="rect">
            <a:avLst/>
          </a:prstGeom>
          <a:noFill/>
          <a:ln/>
        </p:spPr>
        <p:txBody>
          <a:bodyPr wrap="square" lIns="0" tIns="0" rIns="0" bIns="0" rtlCol="0" anchor="ctr"/>
          <a:lstStyle/>
          <a:p>
            <a:pPr rtl="1" algn="r" indent="0" marL="0">
              <a:buNone/>
            </a:pPr>
            <a:r>
              <a:rPr lang="ar-SA" altLang="en-US" sz="1600" b="1" dirty="0">
                <a:solidFill>
                  <a:srgbClr val="15271C"/>
                </a:solidFill>
                <a:latin typeface="Arial" pitchFamily="34" charset="0"/>
                <a:ea typeface="Arial" pitchFamily="34" charset="-122"/>
                <a:cs typeface="Arial" pitchFamily="34" charset="-120"/>
              </a:rPr>
              <a:t>المسار السياحي البيئي الأخضر</a:t>
            </a:r>
            <a:endParaRPr lang="ar-SA" sz="1600" dirty="0"/>
          </a:p>
        </p:txBody>
      </p:sp>
      <p:sp>
        <p:nvSpPr>
          <p:cNvPr id="26" name="Text 24"/>
          <p:cNvSpPr txBox="1"/>
          <p:nvPr/>
        </p:nvSpPr>
        <p:spPr>
          <a:xfrm>
            <a:off x="3246120" y="4983480"/>
            <a:ext cx="4693615" cy="365760"/>
          </a:xfrm>
          <a:prstGeom prst="rect">
            <a:avLst/>
          </a:prstGeom>
          <a:noFill/>
          <a:ln/>
        </p:spPr>
        <p:txBody>
          <a:bodyPr wrap="square" lIns="0" tIns="0" rIns="0" bIns="0" rtlCol="0" anchor="ctr"/>
          <a:lstStyle/>
          <a:p>
            <a:pPr rtl="1" algn="r" indent="0" marL="0">
              <a:buNone/>
            </a:pPr>
            <a:r>
              <a:rPr lang="ar-SA" altLang="en-US" sz="1300" dirty="0">
                <a:solidFill>
                  <a:srgbClr val="4F6356"/>
                </a:solidFill>
                <a:latin typeface="Arial" pitchFamily="34" charset="0"/>
                <a:ea typeface="Arial" pitchFamily="34" charset="-122"/>
                <a:cs typeface="Arial" pitchFamily="34" charset="-120"/>
              </a:rPr>
              <a:t>رحلات بيئية لسياح من داخل المملكة وخارجها</a:t>
            </a:r>
            <a:endParaRPr lang="ar-SA" sz="1300" dirty="0"/>
          </a:p>
        </p:txBody>
      </p:sp>
      <p:sp>
        <p:nvSpPr>
          <p:cNvPr id="27" name="Text 25"/>
          <p:cNvSpPr txBox="1"/>
          <p:nvPr/>
        </p:nvSpPr>
        <p:spPr>
          <a:xfrm>
            <a:off x="822960" y="4983480"/>
            <a:ext cx="2286000" cy="365760"/>
          </a:xfrm>
          <a:prstGeom prst="rect">
            <a:avLst/>
          </a:prstGeom>
          <a:noFill/>
          <a:ln/>
        </p:spPr>
        <p:txBody>
          <a:bodyPr wrap="square" lIns="0" tIns="0" rIns="0" bIns="0" rtlCol="0" anchor="ctr"/>
          <a:lstStyle/>
          <a:p>
            <a:pPr algn="l" indent="0" marL="0">
              <a:buNone/>
            </a:pPr>
            <a:r>
              <a:rPr lang="ar-SA" altLang="en-US" sz="1700" b="1" dirty="0">
                <a:solidFill>
                  <a:srgbClr val="8A6508"/>
                </a:solidFill>
                <a:latin typeface="Arial" pitchFamily="34" charset="0"/>
                <a:ea typeface="Arial" pitchFamily="34" charset="-122"/>
                <a:cs typeface="Arial" pitchFamily="34" charset="-120"/>
              </a:rPr>
              <a:t>2,030 </a:t>
            </a:r>
            <a:pPr algn="l" indent="0" marL="0">
              <a:buNone/>
            </a:pPr>
            <a:r>
              <a:rPr lang="ar-SA" altLang="en-US" sz="1300" dirty="0">
                <a:solidFill>
                  <a:srgbClr val="4F6356"/>
                </a:solidFill>
                <a:latin typeface="Arial" pitchFamily="34" charset="0"/>
                <a:ea typeface="Arial" pitchFamily="34" charset="-122"/>
                <a:cs typeface="Arial" pitchFamily="34" charset="-120"/>
              </a:rPr>
              <a:t>سائح</a:t>
            </a:r>
            <a:endParaRPr lang="ar-SA" sz="1700" dirty="0"/>
          </a:p>
        </p:txBody>
      </p:sp>
      <p:sp>
        <p:nvSpPr>
          <p:cNvPr id="28" name="Shape 26"/>
          <p:cNvSpPr/>
          <p:nvPr/>
        </p:nvSpPr>
        <p:spPr>
          <a:xfrm>
            <a:off x="594360" y="5513832"/>
            <a:ext cx="11002975" cy="530352"/>
          </a:xfrm>
          <a:prstGeom prst="roundRect">
            <a:avLst>
              <a:gd name="adj" fmla="val 20690"/>
            </a:avLst>
          </a:prstGeom>
          <a:solidFill>
            <a:srgbClr val="FBFCF9"/>
          </a:solidFill>
          <a:ln w="9525">
            <a:solidFill>
              <a:srgbClr val="D6E0D1"/>
            </a:solidFill>
            <a:prstDash val="solid"/>
          </a:ln>
        </p:spPr>
      </p:sp>
      <p:sp>
        <p:nvSpPr>
          <p:cNvPr id="29" name="Text 27"/>
          <p:cNvSpPr txBox="1"/>
          <p:nvPr/>
        </p:nvSpPr>
        <p:spPr>
          <a:xfrm>
            <a:off x="8031175" y="5605272"/>
            <a:ext cx="3337560" cy="365760"/>
          </a:xfrm>
          <a:prstGeom prst="rect">
            <a:avLst/>
          </a:prstGeom>
          <a:noFill/>
          <a:ln/>
        </p:spPr>
        <p:txBody>
          <a:bodyPr wrap="square" lIns="0" tIns="0" rIns="0" bIns="0" rtlCol="0" anchor="ctr"/>
          <a:lstStyle/>
          <a:p>
            <a:pPr rtl="1" algn="r" indent="0" marL="0">
              <a:buNone/>
            </a:pPr>
            <a:r>
              <a:rPr lang="ar-SA" altLang="en-US" sz="1600" b="1" dirty="0">
                <a:solidFill>
                  <a:srgbClr val="15271C"/>
                </a:solidFill>
                <a:latin typeface="Arial" pitchFamily="34" charset="0"/>
                <a:ea typeface="Arial" pitchFamily="34" charset="-122"/>
                <a:cs typeface="Arial" pitchFamily="34" charset="-120"/>
              </a:rPr>
              <a:t>فريق المسؤولية البيئية التطوعي</a:t>
            </a:r>
            <a:endParaRPr lang="ar-SA" sz="1600" dirty="0"/>
          </a:p>
        </p:txBody>
      </p:sp>
      <p:sp>
        <p:nvSpPr>
          <p:cNvPr id="30" name="Text 28"/>
          <p:cNvSpPr txBox="1"/>
          <p:nvPr/>
        </p:nvSpPr>
        <p:spPr>
          <a:xfrm>
            <a:off x="3246120" y="5605272"/>
            <a:ext cx="4693615" cy="365760"/>
          </a:xfrm>
          <a:prstGeom prst="rect">
            <a:avLst/>
          </a:prstGeom>
          <a:noFill/>
          <a:ln/>
        </p:spPr>
        <p:txBody>
          <a:bodyPr wrap="square" lIns="0" tIns="0" rIns="0" bIns="0" rtlCol="0" anchor="ctr"/>
          <a:lstStyle/>
          <a:p>
            <a:pPr rtl="1" algn="r" indent="0" marL="0">
              <a:buNone/>
            </a:pPr>
            <a:r>
              <a:rPr lang="ar-SA" altLang="en-US" sz="1300" dirty="0">
                <a:solidFill>
                  <a:srgbClr val="4F6356"/>
                </a:solidFill>
                <a:latin typeface="Arial" pitchFamily="34" charset="0"/>
                <a:ea typeface="Arial" pitchFamily="34" charset="-122"/>
                <a:cs typeface="Arial" pitchFamily="34" charset="-120"/>
              </a:rPr>
              <a:t>عضوية احترافية للمتطوعين في العمل البيئي</a:t>
            </a:r>
            <a:endParaRPr lang="ar-SA" sz="1300" dirty="0"/>
          </a:p>
        </p:txBody>
      </p:sp>
      <p:sp>
        <p:nvSpPr>
          <p:cNvPr id="31" name="Text 29"/>
          <p:cNvSpPr txBox="1"/>
          <p:nvPr/>
        </p:nvSpPr>
        <p:spPr>
          <a:xfrm>
            <a:off x="822960" y="5605272"/>
            <a:ext cx="2286000" cy="365760"/>
          </a:xfrm>
          <a:prstGeom prst="rect">
            <a:avLst/>
          </a:prstGeom>
          <a:noFill/>
          <a:ln/>
        </p:spPr>
        <p:txBody>
          <a:bodyPr wrap="square" lIns="0" tIns="0" rIns="0" bIns="0" rtlCol="0" anchor="ctr"/>
          <a:lstStyle/>
          <a:p>
            <a:pPr algn="l" indent="0" marL="0">
              <a:buNone/>
            </a:pPr>
            <a:r>
              <a:rPr lang="ar-SA" altLang="en-US" sz="1700" b="1" dirty="0">
                <a:solidFill>
                  <a:srgbClr val="8A6508"/>
                </a:solidFill>
                <a:latin typeface="Arial" pitchFamily="34" charset="0"/>
                <a:ea typeface="Arial" pitchFamily="34" charset="-122"/>
                <a:cs typeface="Arial" pitchFamily="34" charset="-120"/>
              </a:rPr>
              <a:t>2,030 </a:t>
            </a:r>
            <a:pPr algn="l" indent="0" marL="0">
              <a:buNone/>
            </a:pPr>
            <a:r>
              <a:rPr lang="ar-SA" altLang="en-US" sz="1300" dirty="0">
                <a:solidFill>
                  <a:srgbClr val="4F6356"/>
                </a:solidFill>
                <a:latin typeface="Arial" pitchFamily="34" charset="0"/>
                <a:ea typeface="Arial" pitchFamily="34" charset="-122"/>
                <a:cs typeface="Arial" pitchFamily="34" charset="-120"/>
              </a:rPr>
              <a:t>متطوع</a:t>
            </a:r>
            <a:endParaRPr lang="ar-SA" sz="1700" dirty="0"/>
          </a:p>
        </p:txBody>
      </p:sp>
      <p:sp>
        <p:nvSpPr>
          <p:cNvPr id="32" name="Text 30"/>
          <p:cNvSpPr txBox="1"/>
          <p:nvPr/>
        </p:nvSpPr>
        <p:spPr>
          <a:xfrm>
            <a:off x="594360" y="6355080"/>
            <a:ext cx="914400" cy="274320"/>
          </a:xfrm>
          <a:prstGeom prst="rect">
            <a:avLst/>
          </a:prstGeom>
          <a:noFill/>
          <a:ln/>
        </p:spPr>
        <p:txBody>
          <a:bodyPr wrap="square" lIns="0" tIns="0" rIns="0" bIns="0" rtlCol="0" anchor="t"/>
          <a:lstStyle/>
          <a:p>
            <a:pPr algn="l" indent="0" marL="0">
              <a:buNone/>
            </a:pPr>
            <a:r>
              <a:rPr lang="ar-SA" altLang="en-US" sz="1100" dirty="0">
                <a:solidFill>
                  <a:srgbClr val="6B7D70"/>
                </a:solidFill>
                <a:latin typeface="Arial" pitchFamily="34" charset="0"/>
                <a:ea typeface="Arial" pitchFamily="34" charset="-122"/>
                <a:cs typeface="Arial" pitchFamily="34" charset="-120"/>
              </a:rPr>
              <a:t>08</a:t>
            </a:r>
            <a:endParaRPr lang="ar-SA" sz="1100" dirty="0"/>
          </a:p>
        </p:txBody>
      </p:sp>
      <p:sp>
        <p:nvSpPr>
          <p:cNvPr id="33" name="Text 31"/>
          <p:cNvSpPr txBox="1"/>
          <p:nvPr/>
        </p:nvSpPr>
        <p:spPr>
          <a:xfrm>
            <a:off x="7025335" y="6355080"/>
            <a:ext cx="4572000" cy="274320"/>
          </a:xfrm>
          <a:prstGeom prst="rect">
            <a:avLst/>
          </a:prstGeom>
          <a:noFill/>
          <a:ln/>
        </p:spPr>
        <p:txBody>
          <a:bodyPr wrap="square" lIns="0" tIns="0" rIns="0" bIns="0" rtlCol="0" anchor="t"/>
          <a:lstStyle/>
          <a:p>
            <a:pPr rtl="1" algn="r" indent="0" marL="0">
              <a:buNone/>
            </a:pPr>
            <a:r>
              <a:rPr lang="ar-SA" altLang="en-US" sz="1100" dirty="0">
                <a:solidFill>
                  <a:srgbClr val="6B7D70"/>
                </a:solidFill>
                <a:latin typeface="Arial" pitchFamily="34" charset="0"/>
                <a:ea typeface="Arial" pitchFamily="34" charset="-122"/>
                <a:cs typeface="Arial" pitchFamily="34" charset="-120"/>
              </a:rPr>
              <a:t>مبادرة الأثر الأخضر المستدام</a:t>
            </a:r>
            <a:endParaRPr lang="ar-SA"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1"/>
        </a:solidFill>
      </p:bgPr>
    </p:bg>
    <p:spTree>
      <p:nvGrpSpPr>
        <p:cNvPr id="1" name=""/>
        <p:cNvGrpSpPr/>
        <p:nvPr/>
      </p:nvGrpSpPr>
      <p:grpSpPr>
        <a:xfrm>
          <a:off x="0" y="0"/>
          <a:ext cx="0" cy="0"/>
          <a:chOff x="0" y="0"/>
          <a:chExt cx="0" cy="0"/>
        </a:xfrm>
      </p:grpSpPr>
      <p:sp>
        <p:nvSpPr>
          <p:cNvPr id="2" name="Text 0"/>
          <p:cNvSpPr txBox="1"/>
          <p:nvPr/>
        </p:nvSpPr>
        <p:spPr>
          <a:xfrm>
            <a:off x="594360" y="502920"/>
            <a:ext cx="11002975" cy="365760"/>
          </a:xfrm>
          <a:prstGeom prst="rect">
            <a:avLst/>
          </a:prstGeom>
          <a:noFill/>
          <a:ln/>
        </p:spPr>
        <p:txBody>
          <a:bodyPr wrap="square" lIns="0" tIns="0" rIns="0" bIns="0" rtlCol="0" anchor="t"/>
          <a:lstStyle/>
          <a:p>
            <a:pPr rtl="1" algn="r" indent="0" marL="0">
              <a:buNone/>
            </a:pPr>
            <a:r>
              <a:rPr lang="ar-SA" altLang="en-US" sz="1500" b="1" dirty="0">
                <a:solidFill>
                  <a:srgbClr val="8A6508"/>
                </a:solidFill>
                <a:latin typeface="Arial" pitchFamily="34" charset="0"/>
                <a:ea typeface="Arial" pitchFamily="34" charset="-122"/>
                <a:cs typeface="Arial" pitchFamily="34" charset="-120"/>
              </a:rPr>
              <a:t>التدشينات الخضراء · 2 من 2</a:t>
            </a:r>
            <a:endParaRPr lang="ar-SA" sz="1500" dirty="0"/>
          </a:p>
        </p:txBody>
      </p:sp>
      <p:sp>
        <p:nvSpPr>
          <p:cNvPr id="3" name="Text 1"/>
          <p:cNvSpPr txBox="1"/>
          <p:nvPr/>
        </p:nvSpPr>
        <p:spPr>
          <a:xfrm>
            <a:off x="594360" y="868680"/>
            <a:ext cx="11002975" cy="731520"/>
          </a:xfrm>
          <a:prstGeom prst="rect">
            <a:avLst/>
          </a:prstGeom>
          <a:noFill/>
          <a:ln/>
        </p:spPr>
        <p:txBody>
          <a:bodyPr wrap="square" lIns="0" tIns="0" rIns="0" bIns="0" rtlCol="0" anchor="t"/>
          <a:lstStyle/>
          <a:p>
            <a:pPr rtl="1" algn="r" indent="0" marL="0">
              <a:buNone/>
            </a:pPr>
            <a:r>
              <a:rPr lang="ar-SA" altLang="en-US" sz="3600" b="1" dirty="0">
                <a:solidFill>
                  <a:srgbClr val="1E5E36"/>
                </a:solidFill>
                <a:latin typeface="Arial" pitchFamily="34" charset="0"/>
                <a:ea typeface="Arial" pitchFamily="34" charset="-122"/>
                <a:cs typeface="Arial" pitchFamily="34" charset="-120"/>
              </a:rPr>
              <a:t>مشاريع المعرفة والإعلام والفن</a:t>
            </a:r>
            <a:endParaRPr lang="ar-SA" sz="3600" dirty="0"/>
          </a:p>
        </p:txBody>
      </p:sp>
      <p:sp>
        <p:nvSpPr>
          <p:cNvPr id="4" name="Shape 2"/>
          <p:cNvSpPr/>
          <p:nvPr/>
        </p:nvSpPr>
        <p:spPr>
          <a:xfrm>
            <a:off x="594360" y="1783080"/>
            <a:ext cx="11002975" cy="530352"/>
          </a:xfrm>
          <a:prstGeom prst="roundRect">
            <a:avLst>
              <a:gd name="adj" fmla="val 20690"/>
            </a:avLst>
          </a:prstGeom>
          <a:solidFill>
            <a:srgbClr val="FBFCF9"/>
          </a:solidFill>
          <a:ln w="9525">
            <a:solidFill>
              <a:srgbClr val="D6E0D1"/>
            </a:solidFill>
            <a:prstDash val="solid"/>
          </a:ln>
        </p:spPr>
      </p:sp>
      <p:sp>
        <p:nvSpPr>
          <p:cNvPr id="5" name="Text 3"/>
          <p:cNvSpPr txBox="1"/>
          <p:nvPr/>
        </p:nvSpPr>
        <p:spPr>
          <a:xfrm>
            <a:off x="8031175" y="1874520"/>
            <a:ext cx="3337560" cy="365760"/>
          </a:xfrm>
          <a:prstGeom prst="rect">
            <a:avLst/>
          </a:prstGeom>
          <a:noFill/>
          <a:ln/>
        </p:spPr>
        <p:txBody>
          <a:bodyPr wrap="square" lIns="0" tIns="0" rIns="0" bIns="0" rtlCol="0" anchor="ctr"/>
          <a:lstStyle/>
          <a:p>
            <a:pPr rtl="1" algn="r" indent="0" marL="0">
              <a:buNone/>
            </a:pPr>
            <a:r>
              <a:rPr lang="ar-SA" altLang="en-US" sz="1600" b="1" dirty="0">
                <a:solidFill>
                  <a:srgbClr val="15271C"/>
                </a:solidFill>
                <a:latin typeface="Arial" pitchFamily="34" charset="0"/>
                <a:ea typeface="Arial" pitchFamily="34" charset="-122"/>
                <a:cs typeface="Arial" pitchFamily="34" charset="-120"/>
              </a:rPr>
              <a:t>مركز الإعلام البيئي</a:t>
            </a:r>
            <a:endParaRPr lang="ar-SA" sz="1600" dirty="0"/>
          </a:p>
        </p:txBody>
      </p:sp>
      <p:sp>
        <p:nvSpPr>
          <p:cNvPr id="6" name="Text 4"/>
          <p:cNvSpPr txBox="1"/>
          <p:nvPr/>
        </p:nvSpPr>
        <p:spPr>
          <a:xfrm>
            <a:off x="3246120" y="1874520"/>
            <a:ext cx="4693615" cy="365760"/>
          </a:xfrm>
          <a:prstGeom prst="rect">
            <a:avLst/>
          </a:prstGeom>
          <a:noFill/>
          <a:ln/>
        </p:spPr>
        <p:txBody>
          <a:bodyPr wrap="square" lIns="0" tIns="0" rIns="0" bIns="0" rtlCol="0" anchor="ctr"/>
          <a:lstStyle/>
          <a:p>
            <a:pPr rtl="1" algn="r" indent="0" marL="0">
              <a:buNone/>
            </a:pPr>
            <a:r>
              <a:rPr lang="ar-SA" altLang="en-US" sz="1300" dirty="0">
                <a:solidFill>
                  <a:srgbClr val="4F6356"/>
                </a:solidFill>
                <a:latin typeface="Arial" pitchFamily="34" charset="0"/>
                <a:ea typeface="Arial" pitchFamily="34" charset="-122"/>
                <a:cs typeface="Arial" pitchFamily="34" charset="-120"/>
              </a:rPr>
              <a:t>مركز إعلامي مؤسسي لإنتاج المحتوى البيئي ونشره</a:t>
            </a:r>
            <a:endParaRPr lang="ar-SA" sz="1300" dirty="0"/>
          </a:p>
        </p:txBody>
      </p:sp>
      <p:sp>
        <p:nvSpPr>
          <p:cNvPr id="7" name="Text 5"/>
          <p:cNvSpPr txBox="1"/>
          <p:nvPr/>
        </p:nvSpPr>
        <p:spPr>
          <a:xfrm>
            <a:off x="822960" y="1874520"/>
            <a:ext cx="2286000" cy="365760"/>
          </a:xfrm>
          <a:prstGeom prst="rect">
            <a:avLst/>
          </a:prstGeom>
          <a:noFill/>
          <a:ln/>
        </p:spPr>
        <p:txBody>
          <a:bodyPr wrap="square" lIns="0" tIns="0" rIns="0" bIns="0" rtlCol="0" anchor="ctr"/>
          <a:lstStyle/>
          <a:p>
            <a:pPr algn="l" indent="0" marL="0">
              <a:buNone/>
            </a:pPr>
            <a:r>
              <a:rPr lang="ar-SA" altLang="en-US" sz="1700" b="1" dirty="0">
                <a:solidFill>
                  <a:srgbClr val="8A6508"/>
                </a:solidFill>
                <a:latin typeface="Arial" pitchFamily="34" charset="0"/>
                <a:ea typeface="Arial" pitchFamily="34" charset="-122"/>
                <a:cs typeface="Arial" pitchFamily="34" charset="-120"/>
              </a:rPr>
              <a:t>2,030 </a:t>
            </a:r>
            <a:pPr algn="l" indent="0" marL="0">
              <a:buNone/>
            </a:pPr>
            <a:r>
              <a:rPr lang="ar-SA" altLang="en-US" sz="1300" dirty="0">
                <a:solidFill>
                  <a:srgbClr val="4F6356"/>
                </a:solidFill>
                <a:latin typeface="Arial" pitchFamily="34" charset="0"/>
                <a:ea typeface="Arial" pitchFamily="34" charset="-122"/>
                <a:cs typeface="Arial" pitchFamily="34" charset="-120"/>
              </a:rPr>
              <a:t>منتج إعلامي</a:t>
            </a:r>
            <a:endParaRPr lang="ar-SA" sz="1700" dirty="0"/>
          </a:p>
        </p:txBody>
      </p:sp>
      <p:sp>
        <p:nvSpPr>
          <p:cNvPr id="8" name="Shape 6"/>
          <p:cNvSpPr/>
          <p:nvPr/>
        </p:nvSpPr>
        <p:spPr>
          <a:xfrm>
            <a:off x="594360" y="2404872"/>
            <a:ext cx="11002975" cy="530352"/>
          </a:xfrm>
          <a:prstGeom prst="roundRect">
            <a:avLst>
              <a:gd name="adj" fmla="val 20690"/>
            </a:avLst>
          </a:prstGeom>
          <a:solidFill>
            <a:srgbClr val="F4F7F1"/>
          </a:solidFill>
          <a:ln w="9525">
            <a:solidFill>
              <a:srgbClr val="D6E0D1"/>
            </a:solidFill>
            <a:prstDash val="solid"/>
          </a:ln>
        </p:spPr>
      </p:sp>
      <p:sp>
        <p:nvSpPr>
          <p:cNvPr id="9" name="Text 7"/>
          <p:cNvSpPr txBox="1"/>
          <p:nvPr/>
        </p:nvSpPr>
        <p:spPr>
          <a:xfrm>
            <a:off x="8031175" y="2496312"/>
            <a:ext cx="3337560" cy="365760"/>
          </a:xfrm>
          <a:prstGeom prst="rect">
            <a:avLst/>
          </a:prstGeom>
          <a:noFill/>
          <a:ln/>
        </p:spPr>
        <p:txBody>
          <a:bodyPr wrap="square" lIns="0" tIns="0" rIns="0" bIns="0" rtlCol="0" anchor="ctr"/>
          <a:lstStyle/>
          <a:p>
            <a:pPr rtl="1" algn="r" indent="0" marL="0">
              <a:buNone/>
            </a:pPr>
            <a:r>
              <a:rPr lang="ar-SA" altLang="en-US" sz="1600" b="1" dirty="0">
                <a:solidFill>
                  <a:srgbClr val="15271C"/>
                </a:solidFill>
                <a:latin typeface="Arial" pitchFamily="34" charset="0"/>
                <a:ea typeface="Arial" pitchFamily="34" charset="-122"/>
                <a:cs typeface="Arial" pitchFamily="34" charset="-120"/>
              </a:rPr>
              <a:t>بناء القدرات والتأهيل الأخضر</a:t>
            </a:r>
            <a:endParaRPr lang="ar-SA" sz="1600" dirty="0"/>
          </a:p>
        </p:txBody>
      </p:sp>
      <p:sp>
        <p:nvSpPr>
          <p:cNvPr id="10" name="Text 8"/>
          <p:cNvSpPr txBox="1"/>
          <p:nvPr/>
        </p:nvSpPr>
        <p:spPr>
          <a:xfrm>
            <a:off x="3246120" y="2496312"/>
            <a:ext cx="4693615" cy="365760"/>
          </a:xfrm>
          <a:prstGeom prst="rect">
            <a:avLst/>
          </a:prstGeom>
          <a:noFill/>
          <a:ln/>
        </p:spPr>
        <p:txBody>
          <a:bodyPr wrap="square" lIns="0" tIns="0" rIns="0" bIns="0" rtlCol="0" anchor="ctr"/>
          <a:lstStyle/>
          <a:p>
            <a:pPr rtl="1" algn="r" indent="0" marL="0">
              <a:buNone/>
            </a:pPr>
            <a:r>
              <a:rPr lang="ar-SA" altLang="en-US" sz="1300" dirty="0">
                <a:solidFill>
                  <a:srgbClr val="4F6356"/>
                </a:solidFill>
                <a:latin typeface="Arial" pitchFamily="34" charset="0"/>
                <a:ea typeface="Arial" pitchFamily="34" charset="-122"/>
                <a:cs typeface="Arial" pitchFamily="34" charset="-120"/>
              </a:rPr>
              <a:t>برامج تأهيل تفتح أمام المشاركين فرصًا خضراء</a:t>
            </a:r>
            <a:endParaRPr lang="ar-SA" sz="1300" dirty="0"/>
          </a:p>
        </p:txBody>
      </p:sp>
      <p:sp>
        <p:nvSpPr>
          <p:cNvPr id="11" name="Text 9"/>
          <p:cNvSpPr txBox="1"/>
          <p:nvPr/>
        </p:nvSpPr>
        <p:spPr>
          <a:xfrm>
            <a:off x="822960" y="2496312"/>
            <a:ext cx="2286000" cy="365760"/>
          </a:xfrm>
          <a:prstGeom prst="rect">
            <a:avLst/>
          </a:prstGeom>
          <a:noFill/>
          <a:ln/>
        </p:spPr>
        <p:txBody>
          <a:bodyPr wrap="square" lIns="0" tIns="0" rIns="0" bIns="0" rtlCol="0" anchor="ctr"/>
          <a:lstStyle/>
          <a:p>
            <a:pPr algn="l" indent="0" marL="0">
              <a:buNone/>
            </a:pPr>
            <a:r>
              <a:rPr lang="ar-SA" altLang="en-US" sz="1700" b="1" dirty="0">
                <a:solidFill>
                  <a:srgbClr val="8A6508"/>
                </a:solidFill>
                <a:latin typeface="Arial" pitchFamily="34" charset="0"/>
                <a:ea typeface="Arial" pitchFamily="34" charset="-122"/>
                <a:cs typeface="Arial" pitchFamily="34" charset="-120"/>
              </a:rPr>
              <a:t>2,030 </a:t>
            </a:r>
            <a:pPr algn="l" indent="0" marL="0">
              <a:buNone/>
            </a:pPr>
            <a:r>
              <a:rPr lang="ar-SA" altLang="en-US" sz="1300" dirty="0">
                <a:solidFill>
                  <a:srgbClr val="4F6356"/>
                </a:solidFill>
                <a:latin typeface="Arial" pitchFamily="34" charset="0"/>
                <a:ea typeface="Arial" pitchFamily="34" charset="-122"/>
                <a:cs typeface="Arial" pitchFamily="34" charset="-120"/>
              </a:rPr>
              <a:t>متدرب ومتدربة</a:t>
            </a:r>
            <a:endParaRPr lang="ar-SA" sz="1700" dirty="0"/>
          </a:p>
        </p:txBody>
      </p:sp>
      <p:sp>
        <p:nvSpPr>
          <p:cNvPr id="12" name="Shape 10"/>
          <p:cNvSpPr/>
          <p:nvPr/>
        </p:nvSpPr>
        <p:spPr>
          <a:xfrm>
            <a:off x="594360" y="3026664"/>
            <a:ext cx="11002975" cy="530352"/>
          </a:xfrm>
          <a:prstGeom prst="roundRect">
            <a:avLst>
              <a:gd name="adj" fmla="val 20690"/>
            </a:avLst>
          </a:prstGeom>
          <a:solidFill>
            <a:srgbClr val="FBFCF9"/>
          </a:solidFill>
          <a:ln w="9525">
            <a:solidFill>
              <a:srgbClr val="D6E0D1"/>
            </a:solidFill>
            <a:prstDash val="solid"/>
          </a:ln>
        </p:spPr>
      </p:sp>
      <p:sp>
        <p:nvSpPr>
          <p:cNvPr id="13" name="Text 11"/>
          <p:cNvSpPr txBox="1"/>
          <p:nvPr/>
        </p:nvSpPr>
        <p:spPr>
          <a:xfrm>
            <a:off x="8031175" y="3118104"/>
            <a:ext cx="3337560" cy="365760"/>
          </a:xfrm>
          <a:prstGeom prst="rect">
            <a:avLst/>
          </a:prstGeom>
          <a:noFill/>
          <a:ln/>
        </p:spPr>
        <p:txBody>
          <a:bodyPr wrap="square" lIns="0" tIns="0" rIns="0" bIns="0" rtlCol="0" anchor="ctr"/>
          <a:lstStyle/>
          <a:p>
            <a:pPr rtl="1" algn="r" indent="0" marL="0">
              <a:buNone/>
            </a:pPr>
            <a:r>
              <a:rPr lang="ar-SA" altLang="en-US" sz="1600" b="1" dirty="0">
                <a:solidFill>
                  <a:srgbClr val="15271C"/>
                </a:solidFill>
                <a:latin typeface="Arial" pitchFamily="34" charset="0"/>
                <a:ea typeface="Arial" pitchFamily="34" charset="-122"/>
                <a:cs typeface="Arial" pitchFamily="34" charset="-120"/>
              </a:rPr>
              <a:t>الفن الأخضر المستدام</a:t>
            </a:r>
            <a:endParaRPr lang="ar-SA" sz="1600" dirty="0"/>
          </a:p>
        </p:txBody>
      </p:sp>
      <p:sp>
        <p:nvSpPr>
          <p:cNvPr id="14" name="Text 12"/>
          <p:cNvSpPr txBox="1"/>
          <p:nvPr/>
        </p:nvSpPr>
        <p:spPr>
          <a:xfrm>
            <a:off x="3246120" y="3118104"/>
            <a:ext cx="4693615" cy="365760"/>
          </a:xfrm>
          <a:prstGeom prst="rect">
            <a:avLst/>
          </a:prstGeom>
          <a:noFill/>
          <a:ln/>
        </p:spPr>
        <p:txBody>
          <a:bodyPr wrap="square" lIns="0" tIns="0" rIns="0" bIns="0" rtlCol="0" anchor="ctr"/>
          <a:lstStyle/>
          <a:p>
            <a:pPr rtl="1" algn="r" indent="0" marL="0">
              <a:buNone/>
            </a:pPr>
            <a:r>
              <a:rPr lang="ar-SA" altLang="en-US" sz="1300" dirty="0">
                <a:solidFill>
                  <a:srgbClr val="4F6356"/>
                </a:solidFill>
                <a:latin typeface="Arial" pitchFamily="34" charset="0"/>
                <a:ea typeface="Arial" pitchFamily="34" charset="-122"/>
                <a:cs typeface="Arial" pitchFamily="34" charset="-120"/>
              </a:rPr>
              <a:t>معرض فني بيئي من لوحات وقطع وأعمال فنية</a:t>
            </a:r>
            <a:endParaRPr lang="ar-SA" sz="1300" dirty="0"/>
          </a:p>
        </p:txBody>
      </p:sp>
      <p:sp>
        <p:nvSpPr>
          <p:cNvPr id="15" name="Text 13"/>
          <p:cNvSpPr txBox="1"/>
          <p:nvPr/>
        </p:nvSpPr>
        <p:spPr>
          <a:xfrm>
            <a:off x="822960" y="3118104"/>
            <a:ext cx="2286000" cy="365760"/>
          </a:xfrm>
          <a:prstGeom prst="rect">
            <a:avLst/>
          </a:prstGeom>
          <a:noFill/>
          <a:ln/>
        </p:spPr>
        <p:txBody>
          <a:bodyPr wrap="square" lIns="0" tIns="0" rIns="0" bIns="0" rtlCol="0" anchor="ctr"/>
          <a:lstStyle/>
          <a:p>
            <a:pPr algn="l" indent="0" marL="0">
              <a:buNone/>
            </a:pPr>
            <a:r>
              <a:rPr lang="ar-SA" altLang="en-US" sz="1700" b="1" dirty="0">
                <a:solidFill>
                  <a:srgbClr val="8A6508"/>
                </a:solidFill>
                <a:latin typeface="Arial" pitchFamily="34" charset="0"/>
                <a:ea typeface="Arial" pitchFamily="34" charset="-122"/>
                <a:cs typeface="Arial" pitchFamily="34" charset="-120"/>
              </a:rPr>
              <a:t>2,030 </a:t>
            </a:r>
            <a:pPr algn="l" indent="0" marL="0">
              <a:buNone/>
            </a:pPr>
            <a:r>
              <a:rPr lang="ar-SA" altLang="en-US" sz="1300" dirty="0">
                <a:solidFill>
                  <a:srgbClr val="4F6356"/>
                </a:solidFill>
                <a:latin typeface="Arial" pitchFamily="34" charset="0"/>
                <a:ea typeface="Arial" pitchFamily="34" charset="-122"/>
                <a:cs typeface="Arial" pitchFamily="34" charset="-120"/>
              </a:rPr>
              <a:t>عمل فني</a:t>
            </a:r>
            <a:endParaRPr lang="ar-SA" sz="1700" dirty="0"/>
          </a:p>
        </p:txBody>
      </p:sp>
      <p:sp>
        <p:nvSpPr>
          <p:cNvPr id="16" name="Shape 14"/>
          <p:cNvSpPr/>
          <p:nvPr/>
        </p:nvSpPr>
        <p:spPr>
          <a:xfrm>
            <a:off x="594360" y="3648456"/>
            <a:ext cx="11002975" cy="530352"/>
          </a:xfrm>
          <a:prstGeom prst="roundRect">
            <a:avLst>
              <a:gd name="adj" fmla="val 20690"/>
            </a:avLst>
          </a:prstGeom>
          <a:solidFill>
            <a:srgbClr val="F4F7F1"/>
          </a:solidFill>
          <a:ln w="9525">
            <a:solidFill>
              <a:srgbClr val="D6E0D1"/>
            </a:solidFill>
            <a:prstDash val="solid"/>
          </a:ln>
        </p:spPr>
      </p:sp>
      <p:sp>
        <p:nvSpPr>
          <p:cNvPr id="17" name="Text 15"/>
          <p:cNvSpPr txBox="1"/>
          <p:nvPr/>
        </p:nvSpPr>
        <p:spPr>
          <a:xfrm>
            <a:off x="8031175" y="3739896"/>
            <a:ext cx="3337560" cy="365760"/>
          </a:xfrm>
          <a:prstGeom prst="rect">
            <a:avLst/>
          </a:prstGeom>
          <a:noFill/>
          <a:ln/>
        </p:spPr>
        <p:txBody>
          <a:bodyPr wrap="square" lIns="0" tIns="0" rIns="0" bIns="0" rtlCol="0" anchor="ctr"/>
          <a:lstStyle/>
          <a:p>
            <a:pPr rtl="1" algn="r" indent="0" marL="0">
              <a:buNone/>
            </a:pPr>
            <a:r>
              <a:rPr lang="ar-SA" altLang="en-US" sz="1600" b="1" dirty="0">
                <a:solidFill>
                  <a:srgbClr val="15271C"/>
                </a:solidFill>
                <a:latin typeface="Arial" pitchFamily="34" charset="0"/>
                <a:ea typeface="Arial" pitchFamily="34" charset="-122"/>
                <a:cs typeface="Arial" pitchFamily="34" charset="-120"/>
              </a:rPr>
              <a:t>جدارية الأثر الأخضر المستدام</a:t>
            </a:r>
            <a:endParaRPr lang="ar-SA" sz="1600" dirty="0"/>
          </a:p>
        </p:txBody>
      </p:sp>
      <p:sp>
        <p:nvSpPr>
          <p:cNvPr id="18" name="Text 16"/>
          <p:cNvSpPr txBox="1"/>
          <p:nvPr/>
        </p:nvSpPr>
        <p:spPr>
          <a:xfrm>
            <a:off x="3246120" y="3739896"/>
            <a:ext cx="4693615" cy="365760"/>
          </a:xfrm>
          <a:prstGeom prst="rect">
            <a:avLst/>
          </a:prstGeom>
          <a:noFill/>
          <a:ln/>
        </p:spPr>
        <p:txBody>
          <a:bodyPr wrap="square" lIns="0" tIns="0" rIns="0" bIns="0" rtlCol="0" anchor="ctr"/>
          <a:lstStyle/>
          <a:p>
            <a:pPr rtl="1" algn="r" indent="0" marL="0">
              <a:buNone/>
            </a:pPr>
            <a:r>
              <a:rPr lang="ar-SA" altLang="en-US" sz="1300" dirty="0">
                <a:solidFill>
                  <a:srgbClr val="4F6356"/>
                </a:solidFill>
                <a:latin typeface="Arial" pitchFamily="34" charset="0"/>
                <a:ea typeface="Arial" pitchFamily="34" charset="-122"/>
                <a:cs typeface="Arial" pitchFamily="34" charset="-120"/>
              </a:rPr>
              <a:t>جداريات على أسوار المدارس في المناسبات الوطنية والدولية</a:t>
            </a:r>
            <a:endParaRPr lang="ar-SA" sz="1300" dirty="0"/>
          </a:p>
        </p:txBody>
      </p:sp>
      <p:sp>
        <p:nvSpPr>
          <p:cNvPr id="19" name="Text 17"/>
          <p:cNvSpPr txBox="1"/>
          <p:nvPr/>
        </p:nvSpPr>
        <p:spPr>
          <a:xfrm>
            <a:off x="822960" y="3739896"/>
            <a:ext cx="2286000" cy="365760"/>
          </a:xfrm>
          <a:prstGeom prst="rect">
            <a:avLst/>
          </a:prstGeom>
          <a:noFill/>
          <a:ln/>
        </p:spPr>
        <p:txBody>
          <a:bodyPr wrap="square" lIns="0" tIns="0" rIns="0" bIns="0" rtlCol="0" anchor="ctr"/>
          <a:lstStyle/>
          <a:p>
            <a:pPr algn="l" indent="0" marL="0">
              <a:buNone/>
            </a:pPr>
            <a:r>
              <a:rPr lang="ar-SA" altLang="en-US" sz="1700" b="1" dirty="0">
                <a:solidFill>
                  <a:srgbClr val="8A6508"/>
                </a:solidFill>
                <a:latin typeface="Arial" pitchFamily="34" charset="0"/>
                <a:ea typeface="Arial" pitchFamily="34" charset="-122"/>
                <a:cs typeface="Arial" pitchFamily="34" charset="-120"/>
              </a:rPr>
              <a:t>2,030 </a:t>
            </a:r>
            <a:pPr algn="l" indent="0" marL="0">
              <a:buNone/>
            </a:pPr>
            <a:r>
              <a:rPr lang="ar-SA" altLang="en-US" sz="1300" dirty="0">
                <a:solidFill>
                  <a:srgbClr val="4F6356"/>
                </a:solidFill>
                <a:latin typeface="Arial" pitchFamily="34" charset="0"/>
                <a:ea typeface="Arial" pitchFamily="34" charset="-122"/>
                <a:cs typeface="Arial" pitchFamily="34" charset="-120"/>
              </a:rPr>
              <a:t>متر ومشارك</a:t>
            </a:r>
            <a:endParaRPr lang="ar-SA" sz="1700" dirty="0"/>
          </a:p>
        </p:txBody>
      </p:sp>
      <p:sp>
        <p:nvSpPr>
          <p:cNvPr id="20" name="Shape 18"/>
          <p:cNvSpPr/>
          <p:nvPr/>
        </p:nvSpPr>
        <p:spPr>
          <a:xfrm>
            <a:off x="594360" y="4270248"/>
            <a:ext cx="11002975" cy="530352"/>
          </a:xfrm>
          <a:prstGeom prst="roundRect">
            <a:avLst>
              <a:gd name="adj" fmla="val 20690"/>
            </a:avLst>
          </a:prstGeom>
          <a:solidFill>
            <a:srgbClr val="FBFCF9"/>
          </a:solidFill>
          <a:ln w="9525">
            <a:solidFill>
              <a:srgbClr val="D6E0D1"/>
            </a:solidFill>
            <a:prstDash val="solid"/>
          </a:ln>
        </p:spPr>
      </p:sp>
      <p:sp>
        <p:nvSpPr>
          <p:cNvPr id="21" name="Text 19"/>
          <p:cNvSpPr txBox="1"/>
          <p:nvPr/>
        </p:nvSpPr>
        <p:spPr>
          <a:xfrm>
            <a:off x="8031175" y="4361688"/>
            <a:ext cx="3337560" cy="365760"/>
          </a:xfrm>
          <a:prstGeom prst="rect">
            <a:avLst/>
          </a:prstGeom>
          <a:noFill/>
          <a:ln/>
        </p:spPr>
        <p:txBody>
          <a:bodyPr wrap="square" lIns="0" tIns="0" rIns="0" bIns="0" rtlCol="0" anchor="ctr"/>
          <a:lstStyle/>
          <a:p>
            <a:pPr rtl="1" algn="r" indent="0" marL="0">
              <a:buNone/>
            </a:pPr>
            <a:r>
              <a:rPr lang="ar-SA" altLang="en-US" sz="1600" b="1" dirty="0">
                <a:solidFill>
                  <a:srgbClr val="15271C"/>
                </a:solidFill>
                <a:latin typeface="Arial" pitchFamily="34" charset="0"/>
                <a:ea typeface="Arial" pitchFamily="34" charset="-122"/>
                <a:cs typeface="Arial" pitchFamily="34" charset="-120"/>
              </a:rPr>
              <a:t>مدونة مشاعر الأثر الأخضر</a:t>
            </a:r>
            <a:endParaRPr lang="ar-SA" sz="1600" dirty="0"/>
          </a:p>
        </p:txBody>
      </p:sp>
      <p:sp>
        <p:nvSpPr>
          <p:cNvPr id="22" name="Text 20"/>
          <p:cNvSpPr txBox="1"/>
          <p:nvPr/>
        </p:nvSpPr>
        <p:spPr>
          <a:xfrm>
            <a:off x="3246120" y="4361688"/>
            <a:ext cx="4693615" cy="365760"/>
          </a:xfrm>
          <a:prstGeom prst="rect">
            <a:avLst/>
          </a:prstGeom>
          <a:noFill/>
          <a:ln/>
        </p:spPr>
        <p:txBody>
          <a:bodyPr wrap="square" lIns="0" tIns="0" rIns="0" bIns="0" rtlCol="0" anchor="ctr"/>
          <a:lstStyle/>
          <a:p>
            <a:pPr rtl="1" algn="r" indent="0" marL="0">
              <a:buNone/>
            </a:pPr>
            <a:r>
              <a:rPr lang="ar-SA" altLang="en-US" sz="1300" dirty="0">
                <a:solidFill>
                  <a:srgbClr val="4F6356"/>
                </a:solidFill>
                <a:latin typeface="Arial" pitchFamily="34" charset="0"/>
                <a:ea typeface="Arial" pitchFamily="34" charset="-122"/>
                <a:cs typeface="Arial" pitchFamily="34" charset="-120"/>
              </a:rPr>
              <a:t>التعبير عن الأثر بالكتابة والرسم والتعبير الحر</a:t>
            </a:r>
            <a:endParaRPr lang="ar-SA" sz="1300" dirty="0"/>
          </a:p>
        </p:txBody>
      </p:sp>
      <p:sp>
        <p:nvSpPr>
          <p:cNvPr id="23" name="Text 21"/>
          <p:cNvSpPr txBox="1"/>
          <p:nvPr/>
        </p:nvSpPr>
        <p:spPr>
          <a:xfrm>
            <a:off x="822960" y="4361688"/>
            <a:ext cx="2286000" cy="365760"/>
          </a:xfrm>
          <a:prstGeom prst="rect">
            <a:avLst/>
          </a:prstGeom>
          <a:noFill/>
          <a:ln/>
        </p:spPr>
        <p:txBody>
          <a:bodyPr wrap="square" lIns="0" tIns="0" rIns="0" bIns="0" rtlCol="0" anchor="ctr"/>
          <a:lstStyle/>
          <a:p>
            <a:pPr algn="l" indent="0" marL="0">
              <a:buNone/>
            </a:pPr>
            <a:r>
              <a:rPr lang="ar-SA" altLang="en-US" sz="1700" b="1" dirty="0">
                <a:solidFill>
                  <a:srgbClr val="8A6508"/>
                </a:solidFill>
                <a:latin typeface="Arial" pitchFamily="34" charset="0"/>
                <a:ea typeface="Arial" pitchFamily="34" charset="-122"/>
                <a:cs typeface="Arial" pitchFamily="34" charset="-120"/>
              </a:rPr>
              <a:t>2,030 </a:t>
            </a:r>
            <a:pPr algn="l" indent="0" marL="0">
              <a:buNone/>
            </a:pPr>
            <a:r>
              <a:rPr lang="ar-SA" altLang="en-US" sz="1300" dirty="0">
                <a:solidFill>
                  <a:srgbClr val="4F6356"/>
                </a:solidFill>
                <a:latin typeface="Arial" pitchFamily="34" charset="0"/>
                <a:ea typeface="Arial" pitchFamily="34" charset="-122"/>
                <a:cs typeface="Arial" pitchFamily="34" charset="-120"/>
              </a:rPr>
              <a:t>مشاركة شعورية</a:t>
            </a:r>
            <a:endParaRPr lang="ar-SA" sz="1700" dirty="0"/>
          </a:p>
        </p:txBody>
      </p:sp>
      <p:sp>
        <p:nvSpPr>
          <p:cNvPr id="24" name="Shape 22"/>
          <p:cNvSpPr/>
          <p:nvPr/>
        </p:nvSpPr>
        <p:spPr>
          <a:xfrm>
            <a:off x="594360" y="4892040"/>
            <a:ext cx="11002975" cy="530352"/>
          </a:xfrm>
          <a:prstGeom prst="roundRect">
            <a:avLst>
              <a:gd name="adj" fmla="val 20690"/>
            </a:avLst>
          </a:prstGeom>
          <a:solidFill>
            <a:srgbClr val="F4F7F1"/>
          </a:solidFill>
          <a:ln w="9525">
            <a:solidFill>
              <a:srgbClr val="D6E0D1"/>
            </a:solidFill>
            <a:prstDash val="solid"/>
          </a:ln>
        </p:spPr>
      </p:sp>
      <p:sp>
        <p:nvSpPr>
          <p:cNvPr id="25" name="Text 23"/>
          <p:cNvSpPr txBox="1"/>
          <p:nvPr/>
        </p:nvSpPr>
        <p:spPr>
          <a:xfrm>
            <a:off x="8031175" y="4983480"/>
            <a:ext cx="3337560" cy="365760"/>
          </a:xfrm>
          <a:prstGeom prst="rect">
            <a:avLst/>
          </a:prstGeom>
          <a:noFill/>
          <a:ln/>
        </p:spPr>
        <p:txBody>
          <a:bodyPr wrap="square" lIns="0" tIns="0" rIns="0" bIns="0" rtlCol="0" anchor="ctr"/>
          <a:lstStyle/>
          <a:p>
            <a:pPr rtl="1" algn="r" indent="0" marL="0">
              <a:buNone/>
            </a:pPr>
            <a:r>
              <a:rPr lang="ar-SA" altLang="en-US" sz="1600" b="1" dirty="0">
                <a:solidFill>
                  <a:srgbClr val="15271C"/>
                </a:solidFill>
                <a:latin typeface="Arial" pitchFamily="34" charset="0"/>
                <a:ea typeface="Arial" pitchFamily="34" charset="-122"/>
                <a:cs typeface="Arial" pitchFamily="34" charset="-120"/>
              </a:rPr>
              <a:t>منصة المسؤولية الذكية</a:t>
            </a:r>
            <a:endParaRPr lang="ar-SA" sz="1600" dirty="0"/>
          </a:p>
        </p:txBody>
      </p:sp>
      <p:sp>
        <p:nvSpPr>
          <p:cNvPr id="26" name="Text 24"/>
          <p:cNvSpPr txBox="1"/>
          <p:nvPr/>
        </p:nvSpPr>
        <p:spPr>
          <a:xfrm>
            <a:off x="3246120" y="4983480"/>
            <a:ext cx="4693615" cy="365760"/>
          </a:xfrm>
          <a:prstGeom prst="rect">
            <a:avLst/>
          </a:prstGeom>
          <a:noFill/>
          <a:ln/>
        </p:spPr>
        <p:txBody>
          <a:bodyPr wrap="square" lIns="0" tIns="0" rIns="0" bIns="0" rtlCol="0" anchor="ctr"/>
          <a:lstStyle/>
          <a:p>
            <a:pPr rtl="1" algn="r" indent="0" marL="0">
              <a:buNone/>
            </a:pPr>
            <a:r>
              <a:rPr lang="ar-SA" altLang="en-US" sz="1300" dirty="0">
                <a:solidFill>
                  <a:srgbClr val="4F6356"/>
                </a:solidFill>
                <a:latin typeface="Arial" pitchFamily="34" charset="0"/>
                <a:ea typeface="Arial" pitchFamily="34" charset="-122"/>
                <a:cs typeface="Arial" pitchFamily="34" charset="-120"/>
              </a:rPr>
              <a:t>منظومة رقمية لإدارة تحقيق الأثر التنموي المستدام</a:t>
            </a:r>
            <a:endParaRPr lang="ar-SA" sz="1300" dirty="0"/>
          </a:p>
        </p:txBody>
      </p:sp>
      <p:sp>
        <p:nvSpPr>
          <p:cNvPr id="27" name="Text 25"/>
          <p:cNvSpPr txBox="1"/>
          <p:nvPr/>
        </p:nvSpPr>
        <p:spPr>
          <a:xfrm>
            <a:off x="822960" y="4983480"/>
            <a:ext cx="2286000" cy="365760"/>
          </a:xfrm>
          <a:prstGeom prst="rect">
            <a:avLst/>
          </a:prstGeom>
          <a:noFill/>
          <a:ln/>
        </p:spPr>
        <p:txBody>
          <a:bodyPr wrap="square" lIns="0" tIns="0" rIns="0" bIns="0" rtlCol="0" anchor="ctr"/>
          <a:lstStyle/>
          <a:p>
            <a:pPr algn="l" indent="0" marL="0">
              <a:buNone/>
            </a:pPr>
            <a:r>
              <a:rPr lang="ar-SA" altLang="en-US" sz="1700" b="1" dirty="0">
                <a:solidFill>
                  <a:srgbClr val="8A6508"/>
                </a:solidFill>
                <a:latin typeface="Arial" pitchFamily="34" charset="0"/>
                <a:ea typeface="Arial" pitchFamily="34" charset="-122"/>
                <a:cs typeface="Arial" pitchFamily="34" charset="-120"/>
              </a:rPr>
              <a:t>2,030 </a:t>
            </a:r>
            <a:pPr algn="l" indent="0" marL="0">
              <a:buNone/>
            </a:pPr>
            <a:r>
              <a:rPr lang="ar-SA" altLang="en-US" sz="1300" dirty="0">
                <a:solidFill>
                  <a:srgbClr val="4F6356"/>
                </a:solidFill>
                <a:latin typeface="Arial" pitchFamily="34" charset="0"/>
                <a:ea typeface="Arial" pitchFamily="34" charset="-122"/>
                <a:cs typeface="Arial" pitchFamily="34" charset="-120"/>
              </a:rPr>
              <a:t>عملية</a:t>
            </a:r>
            <a:endParaRPr lang="ar-SA" sz="1700" dirty="0"/>
          </a:p>
        </p:txBody>
      </p:sp>
      <p:sp>
        <p:nvSpPr>
          <p:cNvPr id="28" name="Shape 26"/>
          <p:cNvSpPr/>
          <p:nvPr/>
        </p:nvSpPr>
        <p:spPr>
          <a:xfrm>
            <a:off x="594360" y="5513832"/>
            <a:ext cx="11002975" cy="530352"/>
          </a:xfrm>
          <a:prstGeom prst="roundRect">
            <a:avLst>
              <a:gd name="adj" fmla="val 20690"/>
            </a:avLst>
          </a:prstGeom>
          <a:solidFill>
            <a:srgbClr val="FBFCF9"/>
          </a:solidFill>
          <a:ln w="9525">
            <a:solidFill>
              <a:srgbClr val="D6E0D1"/>
            </a:solidFill>
            <a:prstDash val="solid"/>
          </a:ln>
        </p:spPr>
      </p:sp>
      <p:sp>
        <p:nvSpPr>
          <p:cNvPr id="29" name="Text 27"/>
          <p:cNvSpPr txBox="1"/>
          <p:nvPr/>
        </p:nvSpPr>
        <p:spPr>
          <a:xfrm>
            <a:off x="8031175" y="5605272"/>
            <a:ext cx="3337560" cy="365760"/>
          </a:xfrm>
          <a:prstGeom prst="rect">
            <a:avLst/>
          </a:prstGeom>
          <a:noFill/>
          <a:ln/>
        </p:spPr>
        <p:txBody>
          <a:bodyPr wrap="square" lIns="0" tIns="0" rIns="0" bIns="0" rtlCol="0" anchor="ctr"/>
          <a:lstStyle/>
          <a:p>
            <a:pPr rtl="1" algn="r" indent="0" marL="0">
              <a:buNone/>
            </a:pPr>
            <a:r>
              <a:rPr lang="ar-SA" altLang="en-US" sz="1600" b="1" dirty="0">
                <a:solidFill>
                  <a:srgbClr val="15271C"/>
                </a:solidFill>
                <a:latin typeface="Arial" pitchFamily="34" charset="0"/>
                <a:ea typeface="Arial" pitchFamily="34" charset="-122"/>
                <a:cs typeface="Arial" pitchFamily="34" charset="-120"/>
              </a:rPr>
              <a:t>المنصة الرقمية</a:t>
            </a:r>
            <a:endParaRPr lang="ar-SA" sz="1600" dirty="0"/>
          </a:p>
        </p:txBody>
      </p:sp>
      <p:sp>
        <p:nvSpPr>
          <p:cNvPr id="30" name="Text 28"/>
          <p:cNvSpPr txBox="1"/>
          <p:nvPr/>
        </p:nvSpPr>
        <p:spPr>
          <a:xfrm>
            <a:off x="3246120" y="5605272"/>
            <a:ext cx="4693615" cy="365760"/>
          </a:xfrm>
          <a:prstGeom prst="rect">
            <a:avLst/>
          </a:prstGeom>
          <a:noFill/>
          <a:ln/>
        </p:spPr>
        <p:txBody>
          <a:bodyPr wrap="square" lIns="0" tIns="0" rIns="0" bIns="0" rtlCol="0" anchor="ctr"/>
          <a:lstStyle/>
          <a:p>
            <a:pPr rtl="1" algn="r" indent="0" marL="0">
              <a:buNone/>
            </a:pPr>
            <a:r>
              <a:rPr lang="ar-SA" altLang="en-US" sz="1300" dirty="0">
                <a:solidFill>
                  <a:srgbClr val="4F6356"/>
                </a:solidFill>
                <a:latin typeface="Arial" pitchFamily="34" charset="0"/>
                <a:ea typeface="Arial" pitchFamily="34" charset="-122"/>
                <a:cs typeface="Arial" pitchFamily="34" charset="-120"/>
              </a:rPr>
              <a:t>قناة مشاركة الجمهور الرقمية في أنشطة المبادرة</a:t>
            </a:r>
            <a:endParaRPr lang="ar-SA" sz="1300" dirty="0"/>
          </a:p>
        </p:txBody>
      </p:sp>
      <p:sp>
        <p:nvSpPr>
          <p:cNvPr id="31" name="Text 29"/>
          <p:cNvSpPr txBox="1"/>
          <p:nvPr/>
        </p:nvSpPr>
        <p:spPr>
          <a:xfrm>
            <a:off x="822960" y="5605272"/>
            <a:ext cx="2286000" cy="365760"/>
          </a:xfrm>
          <a:prstGeom prst="rect">
            <a:avLst/>
          </a:prstGeom>
          <a:noFill/>
          <a:ln/>
        </p:spPr>
        <p:txBody>
          <a:bodyPr wrap="square" lIns="0" tIns="0" rIns="0" bIns="0" rtlCol="0" anchor="ctr"/>
          <a:lstStyle/>
          <a:p>
            <a:pPr algn="l" indent="0" marL="0">
              <a:buNone/>
            </a:pPr>
            <a:r>
              <a:rPr lang="ar-SA" altLang="en-US" sz="1700" b="1" dirty="0">
                <a:solidFill>
                  <a:srgbClr val="8A6508"/>
                </a:solidFill>
                <a:latin typeface="Arial" pitchFamily="34" charset="0"/>
                <a:ea typeface="Arial" pitchFamily="34" charset="-122"/>
                <a:cs typeface="Arial" pitchFamily="34" charset="-120"/>
              </a:rPr>
              <a:t>2,030 </a:t>
            </a:r>
            <a:pPr algn="l" indent="0" marL="0">
              <a:buNone/>
            </a:pPr>
            <a:r>
              <a:rPr lang="ar-SA" altLang="en-US" sz="1300" dirty="0">
                <a:solidFill>
                  <a:srgbClr val="4F6356"/>
                </a:solidFill>
                <a:latin typeface="Arial" pitchFamily="34" charset="0"/>
                <a:ea typeface="Arial" pitchFamily="34" charset="-122"/>
                <a:cs typeface="Arial" pitchFamily="34" charset="-120"/>
              </a:rPr>
              <a:t>مشاركة رقمية</a:t>
            </a:r>
            <a:endParaRPr lang="ar-SA" sz="1700" dirty="0"/>
          </a:p>
        </p:txBody>
      </p:sp>
      <p:sp>
        <p:nvSpPr>
          <p:cNvPr id="32" name="Text 30"/>
          <p:cNvSpPr txBox="1"/>
          <p:nvPr/>
        </p:nvSpPr>
        <p:spPr>
          <a:xfrm>
            <a:off x="594360" y="6355080"/>
            <a:ext cx="914400" cy="274320"/>
          </a:xfrm>
          <a:prstGeom prst="rect">
            <a:avLst/>
          </a:prstGeom>
          <a:noFill/>
          <a:ln/>
        </p:spPr>
        <p:txBody>
          <a:bodyPr wrap="square" lIns="0" tIns="0" rIns="0" bIns="0" rtlCol="0" anchor="t"/>
          <a:lstStyle/>
          <a:p>
            <a:pPr algn="l" indent="0" marL="0">
              <a:buNone/>
            </a:pPr>
            <a:r>
              <a:rPr lang="ar-SA" altLang="en-US" sz="1100" dirty="0">
                <a:solidFill>
                  <a:srgbClr val="6B7D70"/>
                </a:solidFill>
                <a:latin typeface="Arial" pitchFamily="34" charset="0"/>
                <a:ea typeface="Arial" pitchFamily="34" charset="-122"/>
                <a:cs typeface="Arial" pitchFamily="34" charset="-120"/>
              </a:rPr>
              <a:t>09</a:t>
            </a:r>
            <a:endParaRPr lang="ar-SA" sz="1100" dirty="0"/>
          </a:p>
        </p:txBody>
      </p:sp>
      <p:sp>
        <p:nvSpPr>
          <p:cNvPr id="33" name="Text 31"/>
          <p:cNvSpPr txBox="1"/>
          <p:nvPr/>
        </p:nvSpPr>
        <p:spPr>
          <a:xfrm>
            <a:off x="7025335" y="6355080"/>
            <a:ext cx="4572000" cy="274320"/>
          </a:xfrm>
          <a:prstGeom prst="rect">
            <a:avLst/>
          </a:prstGeom>
          <a:noFill/>
          <a:ln/>
        </p:spPr>
        <p:txBody>
          <a:bodyPr wrap="square" lIns="0" tIns="0" rIns="0" bIns="0" rtlCol="0" anchor="t"/>
          <a:lstStyle/>
          <a:p>
            <a:pPr rtl="1" algn="r" indent="0" marL="0">
              <a:buNone/>
            </a:pPr>
            <a:r>
              <a:rPr lang="ar-SA" altLang="en-US" sz="1100" dirty="0">
                <a:solidFill>
                  <a:srgbClr val="6B7D70"/>
                </a:solidFill>
                <a:latin typeface="Arial" pitchFamily="34" charset="0"/>
                <a:ea typeface="Arial" pitchFamily="34" charset="-122"/>
                <a:cs typeface="Arial" pitchFamily="34" charset="-120"/>
              </a:rPr>
              <a:t>مبادرة الأثر الأخضر المستدام</a:t>
            </a:r>
            <a:endParaRPr lang="ar-SA"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F0E3"/>
        </a:solidFill>
      </p:bgPr>
    </p:bg>
    <p:spTree>
      <p:nvGrpSpPr>
        <p:cNvPr id="1" name=""/>
        <p:cNvGrpSpPr/>
        <p:nvPr/>
      </p:nvGrpSpPr>
      <p:grpSpPr>
        <a:xfrm>
          <a:off x="0" y="0"/>
          <a:ext cx="0" cy="0"/>
          <a:chOff x="0" y="0"/>
          <a:chExt cx="0" cy="0"/>
        </a:xfrm>
      </p:grpSpPr>
      <p:sp>
        <p:nvSpPr>
          <p:cNvPr id="2" name="Text 0"/>
          <p:cNvSpPr txBox="1"/>
          <p:nvPr/>
        </p:nvSpPr>
        <p:spPr>
          <a:xfrm>
            <a:off x="594360" y="502920"/>
            <a:ext cx="11002975" cy="365760"/>
          </a:xfrm>
          <a:prstGeom prst="rect">
            <a:avLst/>
          </a:prstGeom>
          <a:noFill/>
          <a:ln/>
        </p:spPr>
        <p:txBody>
          <a:bodyPr wrap="square" lIns="0" tIns="0" rIns="0" bIns="0" rtlCol="0" anchor="t"/>
          <a:lstStyle/>
          <a:p>
            <a:pPr rtl="1" algn="r" indent="0" marL="0">
              <a:buNone/>
            </a:pPr>
            <a:r>
              <a:rPr lang="ar-SA" altLang="en-US" sz="1500" b="1" dirty="0">
                <a:solidFill>
                  <a:srgbClr val="8A6508"/>
                </a:solidFill>
                <a:latin typeface="Arial" pitchFamily="34" charset="0"/>
                <a:ea typeface="Arial" pitchFamily="34" charset="-122"/>
                <a:cs typeface="Arial" pitchFamily="34" charset="-120"/>
              </a:rPr>
              <a:t>لمن نتوجه</a:t>
            </a:r>
            <a:endParaRPr lang="ar-SA" sz="1500" dirty="0"/>
          </a:p>
        </p:txBody>
      </p:sp>
      <p:sp>
        <p:nvSpPr>
          <p:cNvPr id="3" name="Text 1"/>
          <p:cNvSpPr txBox="1"/>
          <p:nvPr/>
        </p:nvSpPr>
        <p:spPr>
          <a:xfrm>
            <a:off x="594360" y="868680"/>
            <a:ext cx="11002975" cy="731520"/>
          </a:xfrm>
          <a:prstGeom prst="rect">
            <a:avLst/>
          </a:prstGeom>
          <a:noFill/>
          <a:ln/>
        </p:spPr>
        <p:txBody>
          <a:bodyPr wrap="square" lIns="0" tIns="0" rIns="0" bIns="0" rtlCol="0" anchor="t"/>
          <a:lstStyle/>
          <a:p>
            <a:pPr rtl="1" algn="r" indent="0" marL="0">
              <a:buNone/>
            </a:pPr>
            <a:r>
              <a:rPr lang="ar-SA" altLang="en-US" sz="3600" b="1" dirty="0">
                <a:solidFill>
                  <a:srgbClr val="1E5E36"/>
                </a:solidFill>
                <a:latin typeface="Arial" pitchFamily="34" charset="0"/>
                <a:ea typeface="Arial" pitchFamily="34" charset="-122"/>
                <a:cs typeface="Arial" pitchFamily="34" charset="-120"/>
              </a:rPr>
              <a:t>الفئات المستهدفة ورسالتنا لكل منها</a:t>
            </a:r>
            <a:endParaRPr lang="ar-SA" sz="3600" dirty="0"/>
          </a:p>
        </p:txBody>
      </p:sp>
      <p:sp>
        <p:nvSpPr>
          <p:cNvPr id="4" name="Shape 2"/>
          <p:cNvSpPr/>
          <p:nvPr/>
        </p:nvSpPr>
        <p:spPr>
          <a:xfrm>
            <a:off x="8112557" y="1828800"/>
            <a:ext cx="3484778" cy="1828800"/>
          </a:xfrm>
          <a:prstGeom prst="roundRect">
            <a:avLst>
              <a:gd name="adj" fmla="val 6000"/>
            </a:avLst>
          </a:prstGeom>
          <a:solidFill>
            <a:srgbClr val="FBFCF9"/>
          </a:solidFill>
          <a:ln w="9525">
            <a:solidFill>
              <a:srgbClr val="D6E0D1"/>
            </a:solidFill>
            <a:prstDash val="solid"/>
          </a:ln>
        </p:spPr>
      </p:sp>
      <p:sp>
        <p:nvSpPr>
          <p:cNvPr id="5" name="Text 3"/>
          <p:cNvSpPr txBox="1"/>
          <p:nvPr/>
        </p:nvSpPr>
        <p:spPr>
          <a:xfrm>
            <a:off x="8386877" y="2057400"/>
            <a:ext cx="2936138" cy="411480"/>
          </a:xfrm>
          <a:prstGeom prst="rect">
            <a:avLst/>
          </a:prstGeom>
          <a:noFill/>
          <a:ln/>
        </p:spPr>
        <p:txBody>
          <a:bodyPr wrap="square" lIns="0" tIns="0" rIns="0" bIns="0" rtlCol="0" anchor="t"/>
          <a:lstStyle/>
          <a:p>
            <a:pPr rtl="1" algn="r" indent="0" marL="0">
              <a:buNone/>
            </a:pPr>
            <a:r>
              <a:rPr lang="ar-SA" altLang="en-US" sz="1800" b="1" dirty="0">
                <a:solidFill>
                  <a:srgbClr val="15271C"/>
                </a:solidFill>
                <a:latin typeface="Arial" pitchFamily="34" charset="0"/>
                <a:ea typeface="Arial" pitchFamily="34" charset="-122"/>
                <a:cs typeface="Arial" pitchFamily="34" charset="-120"/>
              </a:rPr>
              <a:t>القطاع الحكومي</a:t>
            </a:r>
            <a:endParaRPr lang="ar-SA" sz="1800" dirty="0"/>
          </a:p>
        </p:txBody>
      </p:sp>
      <p:sp>
        <p:nvSpPr>
          <p:cNvPr id="6" name="Text 4"/>
          <p:cNvSpPr txBox="1"/>
          <p:nvPr/>
        </p:nvSpPr>
        <p:spPr>
          <a:xfrm>
            <a:off x="8386877" y="2514600"/>
            <a:ext cx="2936138" cy="365760"/>
          </a:xfrm>
          <a:prstGeom prst="rect">
            <a:avLst/>
          </a:prstGeom>
          <a:noFill/>
          <a:ln/>
        </p:spPr>
        <p:txBody>
          <a:bodyPr wrap="square" lIns="0" tIns="0" rIns="0" bIns="0" rtlCol="0" anchor="t"/>
          <a:lstStyle/>
          <a:p>
            <a:pPr rtl="1" algn="r" indent="0" marL="0">
              <a:buNone/>
            </a:pPr>
            <a:r>
              <a:rPr lang="ar-SA" altLang="en-US" sz="1300" dirty="0">
                <a:solidFill>
                  <a:srgbClr val="8A6508"/>
                </a:solidFill>
                <a:latin typeface="Arial" pitchFamily="34" charset="0"/>
                <a:ea typeface="Arial" pitchFamily="34" charset="-122"/>
                <a:cs typeface="Arial" pitchFamily="34" charset="-120"/>
              </a:rPr>
              <a:t>أكثر من 15 جهة · الشراكة المؤسسية</a:t>
            </a:r>
            <a:endParaRPr lang="ar-SA" sz="1300" dirty="0"/>
          </a:p>
        </p:txBody>
      </p:sp>
      <p:sp>
        <p:nvSpPr>
          <p:cNvPr id="7" name="Text 5"/>
          <p:cNvSpPr txBox="1"/>
          <p:nvPr/>
        </p:nvSpPr>
        <p:spPr>
          <a:xfrm>
            <a:off x="8386877" y="2971800"/>
            <a:ext cx="2936138" cy="457200"/>
          </a:xfrm>
          <a:prstGeom prst="rect">
            <a:avLst/>
          </a:prstGeom>
          <a:noFill/>
          <a:ln/>
        </p:spPr>
        <p:txBody>
          <a:bodyPr wrap="square" lIns="0" tIns="0" rIns="0" bIns="0" rtlCol="0" anchor="t"/>
          <a:lstStyle/>
          <a:p>
            <a:pPr rtl="1" algn="r" indent="0" marL="0">
              <a:buNone/>
            </a:pPr>
            <a:r>
              <a:rPr lang="ar-SA" altLang="en-US" sz="1900" b="1" dirty="0">
                <a:solidFill>
                  <a:srgbClr val="1E5E36"/>
                </a:solidFill>
                <a:latin typeface="Arial" pitchFamily="34" charset="0"/>
                <a:ea typeface="Arial" pitchFamily="34" charset="-122"/>
                <a:cs typeface="Arial" pitchFamily="34" charset="-120"/>
              </a:rPr>
              <a:t>«شريك استراتيجي»</a:t>
            </a:r>
            <a:endParaRPr lang="ar-SA" sz="1900" dirty="0"/>
          </a:p>
        </p:txBody>
      </p:sp>
      <p:sp>
        <p:nvSpPr>
          <p:cNvPr id="8" name="Shape 6"/>
          <p:cNvSpPr/>
          <p:nvPr/>
        </p:nvSpPr>
        <p:spPr>
          <a:xfrm>
            <a:off x="4353458" y="1828800"/>
            <a:ext cx="3484778" cy="1828800"/>
          </a:xfrm>
          <a:prstGeom prst="roundRect">
            <a:avLst>
              <a:gd name="adj" fmla="val 6000"/>
            </a:avLst>
          </a:prstGeom>
          <a:solidFill>
            <a:srgbClr val="FBFCF9"/>
          </a:solidFill>
          <a:ln w="9525">
            <a:solidFill>
              <a:srgbClr val="D6E0D1"/>
            </a:solidFill>
            <a:prstDash val="solid"/>
          </a:ln>
        </p:spPr>
      </p:sp>
      <p:sp>
        <p:nvSpPr>
          <p:cNvPr id="9" name="Text 7"/>
          <p:cNvSpPr txBox="1"/>
          <p:nvPr/>
        </p:nvSpPr>
        <p:spPr>
          <a:xfrm>
            <a:off x="4627778" y="2057400"/>
            <a:ext cx="2936138" cy="411480"/>
          </a:xfrm>
          <a:prstGeom prst="rect">
            <a:avLst/>
          </a:prstGeom>
          <a:noFill/>
          <a:ln/>
        </p:spPr>
        <p:txBody>
          <a:bodyPr wrap="square" lIns="0" tIns="0" rIns="0" bIns="0" rtlCol="0" anchor="t"/>
          <a:lstStyle/>
          <a:p>
            <a:pPr rtl="1" algn="r" indent="0" marL="0">
              <a:buNone/>
            </a:pPr>
            <a:r>
              <a:rPr lang="ar-SA" altLang="en-US" sz="1800" b="1" dirty="0">
                <a:solidFill>
                  <a:srgbClr val="15271C"/>
                </a:solidFill>
                <a:latin typeface="Arial" pitchFamily="34" charset="0"/>
                <a:ea typeface="Arial" pitchFamily="34" charset="-122"/>
                <a:cs typeface="Arial" pitchFamily="34" charset="-120"/>
              </a:rPr>
              <a:t>القطاع الخاص</a:t>
            </a:r>
            <a:endParaRPr lang="ar-SA" sz="1800" dirty="0"/>
          </a:p>
        </p:txBody>
      </p:sp>
      <p:sp>
        <p:nvSpPr>
          <p:cNvPr id="10" name="Text 8"/>
          <p:cNvSpPr txBox="1"/>
          <p:nvPr/>
        </p:nvSpPr>
        <p:spPr>
          <a:xfrm>
            <a:off x="4627778" y="2514600"/>
            <a:ext cx="2936138" cy="365760"/>
          </a:xfrm>
          <a:prstGeom prst="rect">
            <a:avLst/>
          </a:prstGeom>
          <a:noFill/>
          <a:ln/>
        </p:spPr>
        <p:txBody>
          <a:bodyPr wrap="square" lIns="0" tIns="0" rIns="0" bIns="0" rtlCol="0" anchor="t"/>
          <a:lstStyle/>
          <a:p>
            <a:pPr rtl="1" algn="r" indent="0" marL="0">
              <a:buNone/>
            </a:pPr>
            <a:r>
              <a:rPr lang="ar-SA" altLang="en-US" sz="1300" dirty="0">
                <a:solidFill>
                  <a:srgbClr val="8A6508"/>
                </a:solidFill>
                <a:latin typeface="Arial" pitchFamily="34" charset="0"/>
                <a:ea typeface="Arial" pitchFamily="34" charset="-122"/>
                <a:cs typeface="Arial" pitchFamily="34" charset="-120"/>
              </a:rPr>
              <a:t>أكثر من 10 جهات · المسؤولية الاجتماعية</a:t>
            </a:r>
            <a:endParaRPr lang="ar-SA" sz="1300" dirty="0"/>
          </a:p>
        </p:txBody>
      </p:sp>
      <p:sp>
        <p:nvSpPr>
          <p:cNvPr id="11" name="Text 9"/>
          <p:cNvSpPr txBox="1"/>
          <p:nvPr/>
        </p:nvSpPr>
        <p:spPr>
          <a:xfrm>
            <a:off x="4627778" y="2971800"/>
            <a:ext cx="2936138" cy="457200"/>
          </a:xfrm>
          <a:prstGeom prst="rect">
            <a:avLst/>
          </a:prstGeom>
          <a:noFill/>
          <a:ln/>
        </p:spPr>
        <p:txBody>
          <a:bodyPr wrap="square" lIns="0" tIns="0" rIns="0" bIns="0" rtlCol="0" anchor="t"/>
          <a:lstStyle/>
          <a:p>
            <a:pPr rtl="1" algn="r" indent="0" marL="0">
              <a:buNone/>
            </a:pPr>
            <a:r>
              <a:rPr lang="ar-SA" altLang="en-US" sz="1900" b="1" dirty="0">
                <a:solidFill>
                  <a:srgbClr val="1E5E36"/>
                </a:solidFill>
                <a:latin typeface="Arial" pitchFamily="34" charset="0"/>
                <a:ea typeface="Arial" pitchFamily="34" charset="-122"/>
                <a:cs typeface="Arial" pitchFamily="34" charset="-120"/>
              </a:rPr>
              <a:t>«استثمر في الأثر»</a:t>
            </a:r>
            <a:endParaRPr lang="ar-SA" sz="1900" dirty="0"/>
          </a:p>
        </p:txBody>
      </p:sp>
      <p:sp>
        <p:nvSpPr>
          <p:cNvPr id="12" name="Shape 10"/>
          <p:cNvSpPr/>
          <p:nvPr/>
        </p:nvSpPr>
        <p:spPr>
          <a:xfrm>
            <a:off x="594360" y="1828800"/>
            <a:ext cx="3484778" cy="1828800"/>
          </a:xfrm>
          <a:prstGeom prst="roundRect">
            <a:avLst>
              <a:gd name="adj" fmla="val 6000"/>
            </a:avLst>
          </a:prstGeom>
          <a:solidFill>
            <a:srgbClr val="FBFCF9"/>
          </a:solidFill>
          <a:ln w="9525">
            <a:solidFill>
              <a:srgbClr val="D6E0D1"/>
            </a:solidFill>
            <a:prstDash val="solid"/>
          </a:ln>
        </p:spPr>
      </p:sp>
      <p:sp>
        <p:nvSpPr>
          <p:cNvPr id="13" name="Text 11"/>
          <p:cNvSpPr txBox="1"/>
          <p:nvPr/>
        </p:nvSpPr>
        <p:spPr>
          <a:xfrm>
            <a:off x="868680" y="2057400"/>
            <a:ext cx="2936138" cy="411480"/>
          </a:xfrm>
          <a:prstGeom prst="rect">
            <a:avLst/>
          </a:prstGeom>
          <a:noFill/>
          <a:ln/>
        </p:spPr>
        <p:txBody>
          <a:bodyPr wrap="square" lIns="0" tIns="0" rIns="0" bIns="0" rtlCol="0" anchor="t"/>
          <a:lstStyle/>
          <a:p>
            <a:pPr rtl="1" algn="r" indent="0" marL="0">
              <a:buNone/>
            </a:pPr>
            <a:r>
              <a:rPr lang="ar-SA" altLang="en-US" sz="1800" b="1" dirty="0">
                <a:solidFill>
                  <a:srgbClr val="15271C"/>
                </a:solidFill>
                <a:latin typeface="Arial" pitchFamily="34" charset="0"/>
                <a:ea typeface="Arial" pitchFamily="34" charset="-122"/>
                <a:cs typeface="Arial" pitchFamily="34" charset="-120"/>
              </a:rPr>
              <a:t>القطاع غير الربحي</a:t>
            </a:r>
            <a:endParaRPr lang="ar-SA" sz="1800" dirty="0"/>
          </a:p>
        </p:txBody>
      </p:sp>
      <p:sp>
        <p:nvSpPr>
          <p:cNvPr id="14" name="Text 12"/>
          <p:cNvSpPr txBox="1"/>
          <p:nvPr/>
        </p:nvSpPr>
        <p:spPr>
          <a:xfrm>
            <a:off x="868680" y="2514600"/>
            <a:ext cx="2936138" cy="365760"/>
          </a:xfrm>
          <a:prstGeom prst="rect">
            <a:avLst/>
          </a:prstGeom>
          <a:noFill/>
          <a:ln/>
        </p:spPr>
        <p:txBody>
          <a:bodyPr wrap="square" lIns="0" tIns="0" rIns="0" bIns="0" rtlCol="0" anchor="t"/>
          <a:lstStyle/>
          <a:p>
            <a:pPr rtl="1" algn="r" indent="0" marL="0">
              <a:buNone/>
            </a:pPr>
            <a:r>
              <a:rPr lang="ar-SA" altLang="en-US" sz="1300" dirty="0">
                <a:solidFill>
                  <a:srgbClr val="8A6508"/>
                </a:solidFill>
                <a:latin typeface="Arial" pitchFamily="34" charset="0"/>
                <a:ea typeface="Arial" pitchFamily="34" charset="-122"/>
                <a:cs typeface="Arial" pitchFamily="34" charset="-120"/>
              </a:rPr>
              <a:t>أكثر من 15 جمعية · التكامل والتمكين</a:t>
            </a:r>
            <a:endParaRPr lang="ar-SA" sz="1300" dirty="0"/>
          </a:p>
        </p:txBody>
      </p:sp>
      <p:sp>
        <p:nvSpPr>
          <p:cNvPr id="15" name="Text 13"/>
          <p:cNvSpPr txBox="1"/>
          <p:nvPr/>
        </p:nvSpPr>
        <p:spPr>
          <a:xfrm>
            <a:off x="868680" y="2971800"/>
            <a:ext cx="2936138" cy="457200"/>
          </a:xfrm>
          <a:prstGeom prst="rect">
            <a:avLst/>
          </a:prstGeom>
          <a:noFill/>
          <a:ln/>
        </p:spPr>
        <p:txBody>
          <a:bodyPr wrap="square" lIns="0" tIns="0" rIns="0" bIns="0" rtlCol="0" anchor="t"/>
          <a:lstStyle/>
          <a:p>
            <a:pPr rtl="1" algn="r" indent="0" marL="0">
              <a:buNone/>
            </a:pPr>
            <a:r>
              <a:rPr lang="ar-SA" altLang="en-US" sz="1900" b="1" dirty="0">
                <a:solidFill>
                  <a:srgbClr val="1E5E36"/>
                </a:solidFill>
                <a:latin typeface="Arial" pitchFamily="34" charset="0"/>
                <a:ea typeface="Arial" pitchFamily="34" charset="-122"/>
                <a:cs typeface="Arial" pitchFamily="34" charset="-120"/>
              </a:rPr>
              <a:t>«معًا نصنع الأثر»</a:t>
            </a:r>
            <a:endParaRPr lang="ar-SA" sz="1900" dirty="0"/>
          </a:p>
        </p:txBody>
      </p:sp>
      <p:sp>
        <p:nvSpPr>
          <p:cNvPr id="16" name="Shape 14"/>
          <p:cNvSpPr/>
          <p:nvPr/>
        </p:nvSpPr>
        <p:spPr>
          <a:xfrm>
            <a:off x="8112557" y="3886200"/>
            <a:ext cx="3484778" cy="1828800"/>
          </a:xfrm>
          <a:prstGeom prst="roundRect">
            <a:avLst>
              <a:gd name="adj" fmla="val 6000"/>
            </a:avLst>
          </a:prstGeom>
          <a:solidFill>
            <a:srgbClr val="FBFCF9"/>
          </a:solidFill>
          <a:ln w="9525">
            <a:solidFill>
              <a:srgbClr val="D6E0D1"/>
            </a:solidFill>
            <a:prstDash val="solid"/>
          </a:ln>
        </p:spPr>
      </p:sp>
      <p:sp>
        <p:nvSpPr>
          <p:cNvPr id="17" name="Text 15"/>
          <p:cNvSpPr txBox="1"/>
          <p:nvPr/>
        </p:nvSpPr>
        <p:spPr>
          <a:xfrm>
            <a:off x="8386877" y="4114800"/>
            <a:ext cx="2936138" cy="411480"/>
          </a:xfrm>
          <a:prstGeom prst="rect">
            <a:avLst/>
          </a:prstGeom>
          <a:noFill/>
          <a:ln/>
        </p:spPr>
        <p:txBody>
          <a:bodyPr wrap="square" lIns="0" tIns="0" rIns="0" bIns="0" rtlCol="0" anchor="t"/>
          <a:lstStyle/>
          <a:p>
            <a:pPr rtl="1" algn="r" indent="0" marL="0">
              <a:buNone/>
            </a:pPr>
            <a:r>
              <a:rPr lang="ar-SA" altLang="en-US" sz="1800" b="1" dirty="0">
                <a:solidFill>
                  <a:srgbClr val="15271C"/>
                </a:solidFill>
                <a:latin typeface="Arial" pitchFamily="34" charset="0"/>
                <a:ea typeface="Arial" pitchFamily="34" charset="-122"/>
                <a:cs typeface="Arial" pitchFamily="34" charset="-120"/>
              </a:rPr>
              <a:t>المؤسسات التعليمية</a:t>
            </a:r>
            <a:endParaRPr lang="ar-SA" sz="1800" dirty="0"/>
          </a:p>
        </p:txBody>
      </p:sp>
      <p:sp>
        <p:nvSpPr>
          <p:cNvPr id="18" name="Text 16"/>
          <p:cNvSpPr txBox="1"/>
          <p:nvPr/>
        </p:nvSpPr>
        <p:spPr>
          <a:xfrm>
            <a:off x="8386877" y="4572000"/>
            <a:ext cx="2936138" cy="365760"/>
          </a:xfrm>
          <a:prstGeom prst="rect">
            <a:avLst/>
          </a:prstGeom>
          <a:noFill/>
          <a:ln/>
        </p:spPr>
        <p:txBody>
          <a:bodyPr wrap="square" lIns="0" tIns="0" rIns="0" bIns="0" rtlCol="0" anchor="t"/>
          <a:lstStyle/>
          <a:p>
            <a:pPr rtl="1" algn="r" indent="0" marL="0">
              <a:buNone/>
            </a:pPr>
            <a:r>
              <a:rPr lang="ar-SA" altLang="en-US" sz="1300" dirty="0">
                <a:solidFill>
                  <a:srgbClr val="8A6508"/>
                </a:solidFill>
                <a:latin typeface="Arial" pitchFamily="34" charset="0"/>
                <a:ea typeface="Arial" pitchFamily="34" charset="-122"/>
                <a:cs typeface="Arial" pitchFamily="34" charset="-120"/>
              </a:rPr>
              <a:t>15 مدرسة · التعلم والمشاركة الفعلية</a:t>
            </a:r>
            <a:endParaRPr lang="ar-SA" sz="1300" dirty="0"/>
          </a:p>
        </p:txBody>
      </p:sp>
      <p:sp>
        <p:nvSpPr>
          <p:cNvPr id="19" name="Text 17"/>
          <p:cNvSpPr txBox="1"/>
          <p:nvPr/>
        </p:nvSpPr>
        <p:spPr>
          <a:xfrm>
            <a:off x="8386877" y="5029200"/>
            <a:ext cx="2936138" cy="457200"/>
          </a:xfrm>
          <a:prstGeom prst="rect">
            <a:avLst/>
          </a:prstGeom>
          <a:noFill/>
          <a:ln/>
        </p:spPr>
        <p:txBody>
          <a:bodyPr wrap="square" lIns="0" tIns="0" rIns="0" bIns="0" rtlCol="0" anchor="t"/>
          <a:lstStyle/>
          <a:p>
            <a:pPr rtl="1" algn="r" indent="0" marL="0">
              <a:buNone/>
            </a:pPr>
            <a:r>
              <a:rPr lang="ar-SA" altLang="en-US" sz="1900" b="1" dirty="0">
                <a:solidFill>
                  <a:srgbClr val="1E5E36"/>
                </a:solidFill>
                <a:latin typeface="Arial" pitchFamily="34" charset="0"/>
                <a:ea typeface="Arial" pitchFamily="34" charset="-122"/>
                <a:cs typeface="Arial" pitchFamily="34" charset="-120"/>
              </a:rPr>
              <a:t>«أنت صانع الأثر»</a:t>
            </a:r>
            <a:endParaRPr lang="ar-SA" sz="1900" dirty="0"/>
          </a:p>
        </p:txBody>
      </p:sp>
      <p:sp>
        <p:nvSpPr>
          <p:cNvPr id="20" name="Shape 18"/>
          <p:cNvSpPr/>
          <p:nvPr/>
        </p:nvSpPr>
        <p:spPr>
          <a:xfrm>
            <a:off x="4353458" y="3886200"/>
            <a:ext cx="3484778" cy="1828800"/>
          </a:xfrm>
          <a:prstGeom prst="roundRect">
            <a:avLst>
              <a:gd name="adj" fmla="val 6000"/>
            </a:avLst>
          </a:prstGeom>
          <a:solidFill>
            <a:srgbClr val="FBFCF9"/>
          </a:solidFill>
          <a:ln w="9525">
            <a:solidFill>
              <a:srgbClr val="D6E0D1"/>
            </a:solidFill>
            <a:prstDash val="solid"/>
          </a:ln>
        </p:spPr>
      </p:sp>
      <p:sp>
        <p:nvSpPr>
          <p:cNvPr id="21" name="Text 19"/>
          <p:cNvSpPr txBox="1"/>
          <p:nvPr/>
        </p:nvSpPr>
        <p:spPr>
          <a:xfrm>
            <a:off x="4627778" y="4114800"/>
            <a:ext cx="2936138" cy="411480"/>
          </a:xfrm>
          <a:prstGeom prst="rect">
            <a:avLst/>
          </a:prstGeom>
          <a:noFill/>
          <a:ln/>
        </p:spPr>
        <p:txBody>
          <a:bodyPr wrap="square" lIns="0" tIns="0" rIns="0" bIns="0" rtlCol="0" anchor="t"/>
          <a:lstStyle/>
          <a:p>
            <a:pPr rtl="1" algn="r" indent="0" marL="0">
              <a:buNone/>
            </a:pPr>
            <a:r>
              <a:rPr lang="ar-SA" altLang="en-US" sz="1800" b="1" dirty="0">
                <a:solidFill>
                  <a:srgbClr val="15271C"/>
                </a:solidFill>
                <a:latin typeface="Arial" pitchFamily="34" charset="0"/>
                <a:ea typeface="Arial" pitchFamily="34" charset="-122"/>
                <a:cs typeface="Arial" pitchFamily="34" charset="-120"/>
              </a:rPr>
              <a:t>الإعلاميون وصنّاع المحتوى</a:t>
            </a:r>
            <a:endParaRPr lang="ar-SA" sz="1800" dirty="0"/>
          </a:p>
        </p:txBody>
      </p:sp>
      <p:sp>
        <p:nvSpPr>
          <p:cNvPr id="22" name="Text 20"/>
          <p:cNvSpPr txBox="1"/>
          <p:nvPr/>
        </p:nvSpPr>
        <p:spPr>
          <a:xfrm>
            <a:off x="4627778" y="4572000"/>
            <a:ext cx="2936138" cy="365760"/>
          </a:xfrm>
          <a:prstGeom prst="rect">
            <a:avLst/>
          </a:prstGeom>
          <a:noFill/>
          <a:ln/>
        </p:spPr>
        <p:txBody>
          <a:bodyPr wrap="square" lIns="0" tIns="0" rIns="0" bIns="0" rtlCol="0" anchor="t"/>
          <a:lstStyle/>
          <a:p>
            <a:pPr rtl="1" algn="r" indent="0" marL="0">
              <a:buNone/>
            </a:pPr>
            <a:r>
              <a:rPr lang="ar-SA" altLang="en-US" sz="1300" dirty="0">
                <a:solidFill>
                  <a:srgbClr val="8A6508"/>
                </a:solidFill>
                <a:latin typeface="Arial" pitchFamily="34" charset="0"/>
                <a:ea typeface="Arial" pitchFamily="34" charset="-122"/>
                <a:cs typeface="Arial" pitchFamily="34" charset="-120"/>
              </a:rPr>
              <a:t>أكثر من 5 منصات · القصة والأرقام</a:t>
            </a:r>
            <a:endParaRPr lang="ar-SA" sz="1300" dirty="0"/>
          </a:p>
        </p:txBody>
      </p:sp>
      <p:sp>
        <p:nvSpPr>
          <p:cNvPr id="23" name="Text 21"/>
          <p:cNvSpPr txBox="1"/>
          <p:nvPr/>
        </p:nvSpPr>
        <p:spPr>
          <a:xfrm>
            <a:off x="4627778" y="5029200"/>
            <a:ext cx="2936138" cy="457200"/>
          </a:xfrm>
          <a:prstGeom prst="rect">
            <a:avLst/>
          </a:prstGeom>
          <a:noFill/>
          <a:ln/>
        </p:spPr>
        <p:txBody>
          <a:bodyPr wrap="square" lIns="0" tIns="0" rIns="0" bIns="0" rtlCol="0" anchor="t"/>
          <a:lstStyle/>
          <a:p>
            <a:pPr rtl="1" algn="r" indent="0" marL="0">
              <a:buNone/>
            </a:pPr>
            <a:r>
              <a:rPr lang="ar-SA" altLang="en-US" sz="1900" b="1" dirty="0">
                <a:solidFill>
                  <a:srgbClr val="1E5E36"/>
                </a:solidFill>
                <a:latin typeface="Arial" pitchFamily="34" charset="0"/>
                <a:ea typeface="Arial" pitchFamily="34" charset="-122"/>
                <a:cs typeface="Arial" pitchFamily="34" charset="-120"/>
              </a:rPr>
              <a:t>«الأثر الذي يستحق النشر»</a:t>
            </a:r>
            <a:endParaRPr lang="ar-SA" sz="1900" dirty="0"/>
          </a:p>
        </p:txBody>
      </p:sp>
      <p:sp>
        <p:nvSpPr>
          <p:cNvPr id="24" name="Shape 22"/>
          <p:cNvSpPr/>
          <p:nvPr/>
        </p:nvSpPr>
        <p:spPr>
          <a:xfrm>
            <a:off x="594360" y="3886200"/>
            <a:ext cx="3484778" cy="1828800"/>
          </a:xfrm>
          <a:prstGeom prst="roundRect">
            <a:avLst>
              <a:gd name="adj" fmla="val 6000"/>
            </a:avLst>
          </a:prstGeom>
          <a:solidFill>
            <a:srgbClr val="FBFCF9"/>
          </a:solidFill>
          <a:ln w="9525">
            <a:solidFill>
              <a:srgbClr val="D6E0D1"/>
            </a:solidFill>
            <a:prstDash val="solid"/>
          </a:ln>
        </p:spPr>
      </p:sp>
      <p:sp>
        <p:nvSpPr>
          <p:cNvPr id="25" name="Text 23"/>
          <p:cNvSpPr txBox="1"/>
          <p:nvPr/>
        </p:nvSpPr>
        <p:spPr>
          <a:xfrm>
            <a:off x="868680" y="4114800"/>
            <a:ext cx="2936138" cy="411480"/>
          </a:xfrm>
          <a:prstGeom prst="rect">
            <a:avLst/>
          </a:prstGeom>
          <a:noFill/>
          <a:ln/>
        </p:spPr>
        <p:txBody>
          <a:bodyPr wrap="square" lIns="0" tIns="0" rIns="0" bIns="0" rtlCol="0" anchor="t"/>
          <a:lstStyle/>
          <a:p>
            <a:pPr rtl="1" algn="r" indent="0" marL="0">
              <a:buNone/>
            </a:pPr>
            <a:r>
              <a:rPr lang="ar-SA" altLang="en-US" sz="1800" b="1" dirty="0">
                <a:solidFill>
                  <a:srgbClr val="15271C"/>
                </a:solidFill>
                <a:latin typeface="Arial" pitchFamily="34" charset="0"/>
                <a:ea typeface="Arial" pitchFamily="34" charset="-122"/>
                <a:cs typeface="Arial" pitchFamily="34" charset="-120"/>
              </a:rPr>
              <a:t>المجتمع المحلي</a:t>
            </a:r>
            <a:endParaRPr lang="ar-SA" sz="1800" dirty="0"/>
          </a:p>
        </p:txBody>
      </p:sp>
      <p:sp>
        <p:nvSpPr>
          <p:cNvPr id="26" name="Text 24"/>
          <p:cNvSpPr txBox="1"/>
          <p:nvPr/>
        </p:nvSpPr>
        <p:spPr>
          <a:xfrm>
            <a:off x="868680" y="4572000"/>
            <a:ext cx="2936138" cy="365760"/>
          </a:xfrm>
          <a:prstGeom prst="rect">
            <a:avLst/>
          </a:prstGeom>
          <a:noFill/>
          <a:ln/>
        </p:spPr>
        <p:txBody>
          <a:bodyPr wrap="square" lIns="0" tIns="0" rIns="0" bIns="0" rtlCol="0" anchor="t"/>
          <a:lstStyle/>
          <a:p>
            <a:pPr rtl="1" algn="r" indent="0" marL="0">
              <a:buNone/>
            </a:pPr>
            <a:r>
              <a:rPr lang="ar-SA" altLang="en-US" sz="1300" dirty="0">
                <a:solidFill>
                  <a:srgbClr val="8A6508"/>
                </a:solidFill>
                <a:latin typeface="Arial" pitchFamily="34" charset="0"/>
                <a:ea typeface="Arial" pitchFamily="34" charset="-122"/>
                <a:cs typeface="Arial" pitchFamily="34" charset="-120"/>
              </a:rPr>
              <a:t>2,030 مشاركًا · المشاركة المجتمعية</a:t>
            </a:r>
            <a:endParaRPr lang="ar-SA" sz="1300" dirty="0"/>
          </a:p>
        </p:txBody>
      </p:sp>
      <p:sp>
        <p:nvSpPr>
          <p:cNvPr id="27" name="Text 25"/>
          <p:cNvSpPr txBox="1"/>
          <p:nvPr/>
        </p:nvSpPr>
        <p:spPr>
          <a:xfrm>
            <a:off x="868680" y="5029200"/>
            <a:ext cx="2936138" cy="457200"/>
          </a:xfrm>
          <a:prstGeom prst="rect">
            <a:avLst/>
          </a:prstGeom>
          <a:noFill/>
          <a:ln/>
        </p:spPr>
        <p:txBody>
          <a:bodyPr wrap="square" lIns="0" tIns="0" rIns="0" bIns="0" rtlCol="0" anchor="t"/>
          <a:lstStyle/>
          <a:p>
            <a:pPr rtl="1" algn="r" indent="0" marL="0">
              <a:buNone/>
            </a:pPr>
            <a:r>
              <a:rPr lang="ar-SA" altLang="en-US" sz="1900" b="1" dirty="0">
                <a:solidFill>
                  <a:srgbClr val="1E5E36"/>
                </a:solidFill>
                <a:latin typeface="Arial" pitchFamily="34" charset="0"/>
                <a:ea typeface="Arial" pitchFamily="34" charset="-122"/>
                <a:cs typeface="Arial" pitchFamily="34" charset="-120"/>
              </a:rPr>
              <a:t>«بيئتك مسؤوليتك»</a:t>
            </a:r>
            <a:endParaRPr lang="ar-SA" sz="1900" dirty="0"/>
          </a:p>
        </p:txBody>
      </p:sp>
      <p:sp>
        <p:nvSpPr>
          <p:cNvPr id="28" name="Text 26"/>
          <p:cNvSpPr txBox="1"/>
          <p:nvPr/>
        </p:nvSpPr>
        <p:spPr>
          <a:xfrm>
            <a:off x="594360" y="6355080"/>
            <a:ext cx="914400" cy="274320"/>
          </a:xfrm>
          <a:prstGeom prst="rect">
            <a:avLst/>
          </a:prstGeom>
          <a:noFill/>
          <a:ln/>
        </p:spPr>
        <p:txBody>
          <a:bodyPr wrap="square" lIns="0" tIns="0" rIns="0" bIns="0" rtlCol="0" anchor="t"/>
          <a:lstStyle/>
          <a:p>
            <a:pPr algn="l" indent="0" marL="0">
              <a:buNone/>
            </a:pPr>
            <a:r>
              <a:rPr lang="ar-SA" altLang="en-US" sz="1100" dirty="0">
                <a:solidFill>
                  <a:srgbClr val="6B7D70"/>
                </a:solidFill>
                <a:latin typeface="Arial" pitchFamily="34" charset="0"/>
                <a:ea typeface="Arial" pitchFamily="34" charset="-122"/>
                <a:cs typeface="Arial" pitchFamily="34" charset="-120"/>
              </a:rPr>
              <a:t>10</a:t>
            </a:r>
            <a:endParaRPr lang="ar-SA" sz="1100" dirty="0"/>
          </a:p>
        </p:txBody>
      </p:sp>
      <p:sp>
        <p:nvSpPr>
          <p:cNvPr id="29" name="Text 27"/>
          <p:cNvSpPr txBox="1"/>
          <p:nvPr/>
        </p:nvSpPr>
        <p:spPr>
          <a:xfrm>
            <a:off x="7025335" y="6355080"/>
            <a:ext cx="4572000" cy="274320"/>
          </a:xfrm>
          <a:prstGeom prst="rect">
            <a:avLst/>
          </a:prstGeom>
          <a:noFill/>
          <a:ln/>
        </p:spPr>
        <p:txBody>
          <a:bodyPr wrap="square" lIns="0" tIns="0" rIns="0" bIns="0" rtlCol="0" anchor="t"/>
          <a:lstStyle/>
          <a:p>
            <a:pPr rtl="1" algn="r" indent="0" marL="0">
              <a:buNone/>
            </a:pPr>
            <a:r>
              <a:rPr lang="ar-SA" altLang="en-US" sz="1100" dirty="0">
                <a:solidFill>
                  <a:srgbClr val="6B7D70"/>
                </a:solidFill>
                <a:latin typeface="Arial" pitchFamily="34" charset="0"/>
                <a:ea typeface="Arial" pitchFamily="34" charset="-122"/>
                <a:cs typeface="Arial" pitchFamily="34" charset="-120"/>
              </a:rPr>
              <a:t>مبادرة الأثر الأخضر المستدام</a:t>
            </a:r>
            <a:endParaRPr lang="ar-SA"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1"/>
        </a:solidFill>
      </p:bgPr>
    </p:bg>
    <p:spTree>
      <p:nvGrpSpPr>
        <p:cNvPr id="1" name=""/>
        <p:cNvGrpSpPr/>
        <p:nvPr/>
      </p:nvGrpSpPr>
      <p:grpSpPr>
        <a:xfrm>
          <a:off x="0" y="0"/>
          <a:ext cx="0" cy="0"/>
          <a:chOff x="0" y="0"/>
          <a:chExt cx="0" cy="0"/>
        </a:xfrm>
      </p:grpSpPr>
      <p:sp>
        <p:nvSpPr>
          <p:cNvPr id="2" name="Text 0"/>
          <p:cNvSpPr txBox="1"/>
          <p:nvPr/>
        </p:nvSpPr>
        <p:spPr>
          <a:xfrm>
            <a:off x="594360" y="502920"/>
            <a:ext cx="11002975" cy="365760"/>
          </a:xfrm>
          <a:prstGeom prst="rect">
            <a:avLst/>
          </a:prstGeom>
          <a:noFill/>
          <a:ln/>
        </p:spPr>
        <p:txBody>
          <a:bodyPr wrap="square" lIns="0" tIns="0" rIns="0" bIns="0" rtlCol="0" anchor="t"/>
          <a:lstStyle/>
          <a:p>
            <a:pPr rtl="1" algn="r" indent="0" marL="0">
              <a:buNone/>
            </a:pPr>
            <a:r>
              <a:rPr lang="ar-SA" altLang="en-US" sz="1500" b="1" dirty="0">
                <a:solidFill>
                  <a:srgbClr val="8A6508"/>
                </a:solidFill>
                <a:latin typeface="Arial" pitchFamily="34" charset="0"/>
                <a:ea typeface="Arial" pitchFamily="34" charset="-122"/>
                <a:cs typeface="Arial" pitchFamily="34" charset="-120"/>
              </a:rPr>
              <a:t>الإطار المرجعي</a:t>
            </a:r>
            <a:endParaRPr lang="ar-SA" sz="1500" dirty="0"/>
          </a:p>
        </p:txBody>
      </p:sp>
      <p:sp>
        <p:nvSpPr>
          <p:cNvPr id="3" name="Text 1"/>
          <p:cNvSpPr txBox="1"/>
          <p:nvPr/>
        </p:nvSpPr>
        <p:spPr>
          <a:xfrm>
            <a:off x="594360" y="868680"/>
            <a:ext cx="11002975" cy="731520"/>
          </a:xfrm>
          <a:prstGeom prst="rect">
            <a:avLst/>
          </a:prstGeom>
          <a:noFill/>
          <a:ln/>
        </p:spPr>
        <p:txBody>
          <a:bodyPr wrap="square" lIns="0" tIns="0" rIns="0" bIns="0" rtlCol="0" anchor="t"/>
          <a:lstStyle/>
          <a:p>
            <a:pPr rtl="1" algn="r" indent="0" marL="0">
              <a:buNone/>
            </a:pPr>
            <a:r>
              <a:rPr lang="ar-SA" altLang="en-US" sz="3600" b="1" dirty="0">
                <a:solidFill>
                  <a:srgbClr val="1E5E36"/>
                </a:solidFill>
                <a:latin typeface="Arial" pitchFamily="34" charset="0"/>
                <a:ea typeface="Arial" pitchFamily="34" charset="-122"/>
                <a:cs typeface="Arial" pitchFamily="34" charset="-120"/>
              </a:rPr>
              <a:t>المرجعيات الوطنية والدولية</a:t>
            </a:r>
            <a:endParaRPr lang="ar-SA" sz="3600" dirty="0"/>
          </a:p>
        </p:txBody>
      </p:sp>
      <p:sp>
        <p:nvSpPr>
          <p:cNvPr id="4" name="Shape 2"/>
          <p:cNvSpPr/>
          <p:nvPr/>
        </p:nvSpPr>
        <p:spPr>
          <a:xfrm>
            <a:off x="8051597" y="1783080"/>
            <a:ext cx="3545738" cy="411480"/>
          </a:xfrm>
          <a:prstGeom prst="roundRect">
            <a:avLst>
              <a:gd name="adj" fmla="val 26667"/>
            </a:avLst>
          </a:prstGeom>
          <a:solidFill>
            <a:srgbClr val="FBFCF9"/>
          </a:solidFill>
          <a:ln w="9525">
            <a:solidFill>
              <a:srgbClr val="D6E0D1"/>
            </a:solidFill>
            <a:prstDash val="solid"/>
          </a:ln>
        </p:spPr>
      </p:sp>
      <p:sp>
        <p:nvSpPr>
          <p:cNvPr id="5" name="Text 3"/>
          <p:cNvSpPr txBox="1"/>
          <p:nvPr/>
        </p:nvSpPr>
        <p:spPr>
          <a:xfrm>
            <a:off x="8234477" y="1828800"/>
            <a:ext cx="3179978" cy="320040"/>
          </a:xfrm>
          <a:prstGeom prst="rect">
            <a:avLst/>
          </a:prstGeom>
          <a:noFill/>
          <a:ln/>
        </p:spPr>
        <p:txBody>
          <a:bodyPr wrap="square" lIns="0" tIns="0" rIns="0" bIns="0" rtlCol="0" anchor="ctr"/>
          <a:lstStyle/>
          <a:p>
            <a:pPr rtl="1" algn="r" indent="0" marL="0">
              <a:buNone/>
            </a:pPr>
            <a:r>
              <a:rPr lang="ar-SA" altLang="en-US" sz="1250" dirty="0">
                <a:solidFill>
                  <a:srgbClr val="15271C"/>
                </a:solidFill>
                <a:latin typeface="Arial" pitchFamily="34" charset="0"/>
                <a:ea typeface="Arial" pitchFamily="34" charset="-122"/>
                <a:cs typeface="Arial" pitchFamily="34" charset="-120"/>
              </a:rPr>
              <a:t>رؤية المملكة 2030</a:t>
            </a:r>
            <a:endParaRPr lang="ar-SA" sz="1250" dirty="0"/>
          </a:p>
        </p:txBody>
      </p:sp>
      <p:sp>
        <p:nvSpPr>
          <p:cNvPr id="6" name="Shape 4"/>
          <p:cNvSpPr/>
          <p:nvPr/>
        </p:nvSpPr>
        <p:spPr>
          <a:xfrm>
            <a:off x="4322978" y="1783080"/>
            <a:ext cx="3545738" cy="411480"/>
          </a:xfrm>
          <a:prstGeom prst="roundRect">
            <a:avLst>
              <a:gd name="adj" fmla="val 26667"/>
            </a:avLst>
          </a:prstGeom>
          <a:solidFill>
            <a:srgbClr val="FBFCF9"/>
          </a:solidFill>
          <a:ln w="9525">
            <a:solidFill>
              <a:srgbClr val="D6E0D1"/>
            </a:solidFill>
            <a:prstDash val="solid"/>
          </a:ln>
        </p:spPr>
      </p:sp>
      <p:sp>
        <p:nvSpPr>
          <p:cNvPr id="7" name="Text 5"/>
          <p:cNvSpPr txBox="1"/>
          <p:nvPr/>
        </p:nvSpPr>
        <p:spPr>
          <a:xfrm>
            <a:off x="4505858" y="1828800"/>
            <a:ext cx="3179978" cy="320040"/>
          </a:xfrm>
          <a:prstGeom prst="rect">
            <a:avLst/>
          </a:prstGeom>
          <a:noFill/>
          <a:ln/>
        </p:spPr>
        <p:txBody>
          <a:bodyPr wrap="square" lIns="0" tIns="0" rIns="0" bIns="0" rtlCol="0" anchor="ctr"/>
          <a:lstStyle/>
          <a:p>
            <a:pPr rtl="1" algn="r" indent="0" marL="0">
              <a:buNone/>
            </a:pPr>
            <a:r>
              <a:rPr lang="ar-SA" altLang="en-US" sz="1250" dirty="0">
                <a:solidFill>
                  <a:srgbClr val="15271C"/>
                </a:solidFill>
                <a:latin typeface="Arial" pitchFamily="34" charset="0"/>
                <a:ea typeface="Arial" pitchFamily="34" charset="-122"/>
                <a:cs typeface="Arial" pitchFamily="34" charset="-120"/>
              </a:rPr>
              <a:t>مبادرة السعودية الخضراء</a:t>
            </a:r>
            <a:endParaRPr lang="ar-SA" sz="1250" dirty="0"/>
          </a:p>
        </p:txBody>
      </p:sp>
      <p:sp>
        <p:nvSpPr>
          <p:cNvPr id="8" name="Shape 6"/>
          <p:cNvSpPr/>
          <p:nvPr/>
        </p:nvSpPr>
        <p:spPr>
          <a:xfrm>
            <a:off x="594360" y="1783080"/>
            <a:ext cx="3545738" cy="411480"/>
          </a:xfrm>
          <a:prstGeom prst="roundRect">
            <a:avLst>
              <a:gd name="adj" fmla="val 26667"/>
            </a:avLst>
          </a:prstGeom>
          <a:solidFill>
            <a:srgbClr val="FBFCF9"/>
          </a:solidFill>
          <a:ln w="9525">
            <a:solidFill>
              <a:srgbClr val="D6E0D1"/>
            </a:solidFill>
            <a:prstDash val="solid"/>
          </a:ln>
        </p:spPr>
      </p:sp>
      <p:sp>
        <p:nvSpPr>
          <p:cNvPr id="9" name="Text 7"/>
          <p:cNvSpPr txBox="1"/>
          <p:nvPr/>
        </p:nvSpPr>
        <p:spPr>
          <a:xfrm>
            <a:off x="777240" y="1828800"/>
            <a:ext cx="3179978" cy="320040"/>
          </a:xfrm>
          <a:prstGeom prst="rect">
            <a:avLst/>
          </a:prstGeom>
          <a:noFill/>
          <a:ln/>
        </p:spPr>
        <p:txBody>
          <a:bodyPr wrap="square" lIns="0" tIns="0" rIns="0" bIns="0" rtlCol="0" anchor="ctr"/>
          <a:lstStyle/>
          <a:p>
            <a:pPr rtl="1" algn="r" indent="0" marL="0">
              <a:buNone/>
            </a:pPr>
            <a:r>
              <a:rPr lang="ar-SA" altLang="en-US" sz="1250" dirty="0">
                <a:solidFill>
                  <a:srgbClr val="15271C"/>
                </a:solidFill>
                <a:latin typeface="Arial" pitchFamily="34" charset="0"/>
                <a:ea typeface="Arial" pitchFamily="34" charset="-122"/>
                <a:cs typeface="Arial" pitchFamily="34" charset="-120"/>
              </a:rPr>
              <a:t>البرنامج الوطني للتشجير</a:t>
            </a:r>
            <a:endParaRPr lang="ar-SA" sz="1250" dirty="0"/>
          </a:p>
        </p:txBody>
      </p:sp>
      <p:sp>
        <p:nvSpPr>
          <p:cNvPr id="10" name="Shape 8"/>
          <p:cNvSpPr/>
          <p:nvPr/>
        </p:nvSpPr>
        <p:spPr>
          <a:xfrm>
            <a:off x="8051597" y="2286000"/>
            <a:ext cx="3545738" cy="411480"/>
          </a:xfrm>
          <a:prstGeom prst="roundRect">
            <a:avLst>
              <a:gd name="adj" fmla="val 26667"/>
            </a:avLst>
          </a:prstGeom>
          <a:solidFill>
            <a:srgbClr val="FBFCF9"/>
          </a:solidFill>
          <a:ln w="9525">
            <a:solidFill>
              <a:srgbClr val="D6E0D1"/>
            </a:solidFill>
            <a:prstDash val="solid"/>
          </a:ln>
        </p:spPr>
      </p:sp>
      <p:sp>
        <p:nvSpPr>
          <p:cNvPr id="11" name="Text 9"/>
          <p:cNvSpPr txBox="1"/>
          <p:nvPr/>
        </p:nvSpPr>
        <p:spPr>
          <a:xfrm>
            <a:off x="8234477" y="2331720"/>
            <a:ext cx="3179978" cy="320040"/>
          </a:xfrm>
          <a:prstGeom prst="rect">
            <a:avLst/>
          </a:prstGeom>
          <a:noFill/>
          <a:ln/>
        </p:spPr>
        <p:txBody>
          <a:bodyPr wrap="square" lIns="0" tIns="0" rIns="0" bIns="0" rtlCol="0" anchor="ctr"/>
          <a:lstStyle/>
          <a:p>
            <a:pPr rtl="1" algn="r" indent="0" marL="0">
              <a:buNone/>
            </a:pPr>
            <a:r>
              <a:rPr lang="ar-SA" altLang="en-US" sz="1250" dirty="0">
                <a:solidFill>
                  <a:srgbClr val="15271C"/>
                </a:solidFill>
                <a:latin typeface="Arial" pitchFamily="34" charset="0"/>
                <a:ea typeface="Arial" pitchFamily="34" charset="-122"/>
                <a:cs typeface="Arial" pitchFamily="34" charset="-120"/>
              </a:rPr>
              <a:t>الاستراتيجية الوطنية للبيئة</a:t>
            </a:r>
            <a:endParaRPr lang="ar-SA" sz="1250" dirty="0"/>
          </a:p>
        </p:txBody>
      </p:sp>
      <p:sp>
        <p:nvSpPr>
          <p:cNvPr id="12" name="Shape 10"/>
          <p:cNvSpPr/>
          <p:nvPr/>
        </p:nvSpPr>
        <p:spPr>
          <a:xfrm>
            <a:off x="4322978" y="2286000"/>
            <a:ext cx="3545738" cy="411480"/>
          </a:xfrm>
          <a:prstGeom prst="roundRect">
            <a:avLst>
              <a:gd name="adj" fmla="val 26667"/>
            </a:avLst>
          </a:prstGeom>
          <a:solidFill>
            <a:srgbClr val="FBFCF9"/>
          </a:solidFill>
          <a:ln w="9525">
            <a:solidFill>
              <a:srgbClr val="D6E0D1"/>
            </a:solidFill>
            <a:prstDash val="solid"/>
          </a:ln>
        </p:spPr>
      </p:sp>
      <p:sp>
        <p:nvSpPr>
          <p:cNvPr id="13" name="Text 11"/>
          <p:cNvSpPr txBox="1"/>
          <p:nvPr/>
        </p:nvSpPr>
        <p:spPr>
          <a:xfrm>
            <a:off x="4505858" y="2331720"/>
            <a:ext cx="3179978" cy="320040"/>
          </a:xfrm>
          <a:prstGeom prst="rect">
            <a:avLst/>
          </a:prstGeom>
          <a:noFill/>
          <a:ln/>
        </p:spPr>
        <p:txBody>
          <a:bodyPr wrap="square" lIns="0" tIns="0" rIns="0" bIns="0" rtlCol="0" anchor="ctr"/>
          <a:lstStyle/>
          <a:p>
            <a:pPr rtl="1" algn="r" indent="0" marL="0">
              <a:buNone/>
            </a:pPr>
            <a:r>
              <a:rPr lang="ar-SA" altLang="en-US" sz="1250" dirty="0">
                <a:solidFill>
                  <a:srgbClr val="15271C"/>
                </a:solidFill>
                <a:latin typeface="Arial" pitchFamily="34" charset="0"/>
                <a:ea typeface="Arial" pitchFamily="34" charset="-122"/>
                <a:cs typeface="Arial" pitchFamily="34" charset="-120"/>
              </a:rPr>
              <a:t>الاستراتيجية الوطنية للزراعة</a:t>
            </a:r>
            <a:endParaRPr lang="ar-SA" sz="1250" dirty="0"/>
          </a:p>
        </p:txBody>
      </p:sp>
      <p:sp>
        <p:nvSpPr>
          <p:cNvPr id="14" name="Shape 12"/>
          <p:cNvSpPr/>
          <p:nvPr/>
        </p:nvSpPr>
        <p:spPr>
          <a:xfrm>
            <a:off x="594360" y="2286000"/>
            <a:ext cx="3545738" cy="411480"/>
          </a:xfrm>
          <a:prstGeom prst="roundRect">
            <a:avLst>
              <a:gd name="adj" fmla="val 26667"/>
            </a:avLst>
          </a:prstGeom>
          <a:solidFill>
            <a:srgbClr val="FBFCF9"/>
          </a:solidFill>
          <a:ln w="9525">
            <a:solidFill>
              <a:srgbClr val="D6E0D1"/>
            </a:solidFill>
            <a:prstDash val="solid"/>
          </a:ln>
        </p:spPr>
      </p:sp>
      <p:sp>
        <p:nvSpPr>
          <p:cNvPr id="15" name="Text 13"/>
          <p:cNvSpPr txBox="1"/>
          <p:nvPr/>
        </p:nvSpPr>
        <p:spPr>
          <a:xfrm>
            <a:off x="777240" y="2331720"/>
            <a:ext cx="3179978" cy="320040"/>
          </a:xfrm>
          <a:prstGeom prst="rect">
            <a:avLst/>
          </a:prstGeom>
          <a:noFill/>
          <a:ln/>
        </p:spPr>
        <p:txBody>
          <a:bodyPr wrap="square" lIns="0" tIns="0" rIns="0" bIns="0" rtlCol="0" anchor="ctr"/>
          <a:lstStyle/>
          <a:p>
            <a:pPr rtl="1" algn="r" indent="0" marL="0">
              <a:buNone/>
            </a:pPr>
            <a:r>
              <a:rPr lang="ar-SA" altLang="en-US" sz="1250" dirty="0">
                <a:solidFill>
                  <a:srgbClr val="15271C"/>
                </a:solidFill>
                <a:latin typeface="Arial" pitchFamily="34" charset="0"/>
                <a:ea typeface="Arial" pitchFamily="34" charset="-122"/>
                <a:cs typeface="Arial" pitchFamily="34" charset="-120"/>
              </a:rPr>
              <a:t>الاستراتيجية الوطنية للمياه</a:t>
            </a:r>
            <a:endParaRPr lang="ar-SA" sz="1250" dirty="0"/>
          </a:p>
        </p:txBody>
      </p:sp>
      <p:sp>
        <p:nvSpPr>
          <p:cNvPr id="16" name="Shape 14"/>
          <p:cNvSpPr/>
          <p:nvPr/>
        </p:nvSpPr>
        <p:spPr>
          <a:xfrm>
            <a:off x="8051597" y="2788920"/>
            <a:ext cx="3545738" cy="411480"/>
          </a:xfrm>
          <a:prstGeom prst="roundRect">
            <a:avLst>
              <a:gd name="adj" fmla="val 26667"/>
            </a:avLst>
          </a:prstGeom>
          <a:solidFill>
            <a:srgbClr val="FBFCF9"/>
          </a:solidFill>
          <a:ln w="9525">
            <a:solidFill>
              <a:srgbClr val="D6E0D1"/>
            </a:solidFill>
            <a:prstDash val="solid"/>
          </a:ln>
        </p:spPr>
      </p:sp>
      <p:sp>
        <p:nvSpPr>
          <p:cNvPr id="17" name="Text 15"/>
          <p:cNvSpPr txBox="1"/>
          <p:nvPr/>
        </p:nvSpPr>
        <p:spPr>
          <a:xfrm>
            <a:off x="8234477" y="2834640"/>
            <a:ext cx="3179978" cy="320040"/>
          </a:xfrm>
          <a:prstGeom prst="rect">
            <a:avLst/>
          </a:prstGeom>
          <a:noFill/>
          <a:ln/>
        </p:spPr>
        <p:txBody>
          <a:bodyPr wrap="square" lIns="0" tIns="0" rIns="0" bIns="0" rtlCol="0" anchor="ctr"/>
          <a:lstStyle/>
          <a:p>
            <a:pPr rtl="1" algn="r" indent="0" marL="0">
              <a:buNone/>
            </a:pPr>
            <a:r>
              <a:rPr lang="ar-SA" altLang="en-US" sz="1250" dirty="0">
                <a:solidFill>
                  <a:srgbClr val="15271C"/>
                </a:solidFill>
                <a:latin typeface="Arial" pitchFamily="34" charset="0"/>
                <a:ea typeface="Arial" pitchFamily="34" charset="-122"/>
                <a:cs typeface="Arial" pitchFamily="34" charset="-120"/>
              </a:rPr>
              <a:t>الاستراتيجية الوطنية للسياحة</a:t>
            </a:r>
            <a:endParaRPr lang="ar-SA" sz="1250" dirty="0"/>
          </a:p>
        </p:txBody>
      </p:sp>
      <p:sp>
        <p:nvSpPr>
          <p:cNvPr id="18" name="Shape 16"/>
          <p:cNvSpPr/>
          <p:nvPr/>
        </p:nvSpPr>
        <p:spPr>
          <a:xfrm>
            <a:off x="4322978" y="2788920"/>
            <a:ext cx="3545738" cy="411480"/>
          </a:xfrm>
          <a:prstGeom prst="roundRect">
            <a:avLst>
              <a:gd name="adj" fmla="val 26667"/>
            </a:avLst>
          </a:prstGeom>
          <a:solidFill>
            <a:srgbClr val="FBFCF9"/>
          </a:solidFill>
          <a:ln w="9525">
            <a:solidFill>
              <a:srgbClr val="D6E0D1"/>
            </a:solidFill>
            <a:prstDash val="solid"/>
          </a:ln>
        </p:spPr>
      </p:sp>
      <p:sp>
        <p:nvSpPr>
          <p:cNvPr id="19" name="Text 17"/>
          <p:cNvSpPr txBox="1"/>
          <p:nvPr/>
        </p:nvSpPr>
        <p:spPr>
          <a:xfrm>
            <a:off x="4505858" y="2834640"/>
            <a:ext cx="3179978" cy="320040"/>
          </a:xfrm>
          <a:prstGeom prst="rect">
            <a:avLst/>
          </a:prstGeom>
          <a:noFill/>
          <a:ln/>
        </p:spPr>
        <p:txBody>
          <a:bodyPr wrap="square" lIns="0" tIns="0" rIns="0" bIns="0" rtlCol="0" anchor="ctr"/>
          <a:lstStyle/>
          <a:p>
            <a:pPr rtl="1" algn="r" indent="0" marL="0">
              <a:buNone/>
            </a:pPr>
            <a:r>
              <a:rPr lang="ar-SA" altLang="en-US" sz="1250" dirty="0">
                <a:solidFill>
                  <a:srgbClr val="15271C"/>
                </a:solidFill>
                <a:latin typeface="Arial" pitchFamily="34" charset="0"/>
                <a:ea typeface="Arial" pitchFamily="34" charset="-122"/>
                <a:cs typeface="Arial" pitchFamily="34" charset="-120"/>
              </a:rPr>
              <a:t>الاستراتيجية الوطنية للبيانات والذكاء الاصطناعي</a:t>
            </a:r>
            <a:endParaRPr lang="ar-SA" sz="1250" dirty="0"/>
          </a:p>
        </p:txBody>
      </p:sp>
      <p:sp>
        <p:nvSpPr>
          <p:cNvPr id="20" name="Shape 18"/>
          <p:cNvSpPr/>
          <p:nvPr/>
        </p:nvSpPr>
        <p:spPr>
          <a:xfrm>
            <a:off x="594360" y="2788920"/>
            <a:ext cx="3545738" cy="411480"/>
          </a:xfrm>
          <a:prstGeom prst="roundRect">
            <a:avLst>
              <a:gd name="adj" fmla="val 26667"/>
            </a:avLst>
          </a:prstGeom>
          <a:solidFill>
            <a:srgbClr val="FBFCF9"/>
          </a:solidFill>
          <a:ln w="9525">
            <a:solidFill>
              <a:srgbClr val="D6E0D1"/>
            </a:solidFill>
            <a:prstDash val="solid"/>
          </a:ln>
        </p:spPr>
      </p:sp>
      <p:sp>
        <p:nvSpPr>
          <p:cNvPr id="21" name="Text 19"/>
          <p:cNvSpPr txBox="1"/>
          <p:nvPr/>
        </p:nvSpPr>
        <p:spPr>
          <a:xfrm>
            <a:off x="777240" y="2834640"/>
            <a:ext cx="3179978" cy="320040"/>
          </a:xfrm>
          <a:prstGeom prst="rect">
            <a:avLst/>
          </a:prstGeom>
          <a:noFill/>
          <a:ln/>
        </p:spPr>
        <p:txBody>
          <a:bodyPr wrap="square" lIns="0" tIns="0" rIns="0" bIns="0" rtlCol="0" anchor="ctr"/>
          <a:lstStyle/>
          <a:p>
            <a:pPr rtl="1" algn="r" indent="0" marL="0">
              <a:buNone/>
            </a:pPr>
            <a:r>
              <a:rPr lang="ar-SA" altLang="en-US" sz="1250" dirty="0">
                <a:solidFill>
                  <a:srgbClr val="15271C"/>
                </a:solidFill>
                <a:latin typeface="Arial" pitchFamily="34" charset="0"/>
                <a:ea typeface="Arial" pitchFamily="34" charset="-122"/>
                <a:cs typeface="Arial" pitchFamily="34" charset="-120"/>
              </a:rPr>
              <a:t>الاستراتيجية الوطنية للمسؤولية الاجتماعية</a:t>
            </a:r>
            <a:endParaRPr lang="ar-SA" sz="1250" dirty="0"/>
          </a:p>
        </p:txBody>
      </p:sp>
      <p:sp>
        <p:nvSpPr>
          <p:cNvPr id="22" name="Shape 20"/>
          <p:cNvSpPr/>
          <p:nvPr/>
        </p:nvSpPr>
        <p:spPr>
          <a:xfrm>
            <a:off x="8051597" y="3291840"/>
            <a:ext cx="3545738" cy="411480"/>
          </a:xfrm>
          <a:prstGeom prst="roundRect">
            <a:avLst>
              <a:gd name="adj" fmla="val 26667"/>
            </a:avLst>
          </a:prstGeom>
          <a:solidFill>
            <a:srgbClr val="FBFCF9"/>
          </a:solidFill>
          <a:ln w="9525">
            <a:solidFill>
              <a:srgbClr val="D6E0D1"/>
            </a:solidFill>
            <a:prstDash val="solid"/>
          </a:ln>
        </p:spPr>
      </p:sp>
      <p:sp>
        <p:nvSpPr>
          <p:cNvPr id="23" name="Text 21"/>
          <p:cNvSpPr txBox="1"/>
          <p:nvPr/>
        </p:nvSpPr>
        <p:spPr>
          <a:xfrm>
            <a:off x="8234477" y="3337560"/>
            <a:ext cx="3179978" cy="320040"/>
          </a:xfrm>
          <a:prstGeom prst="rect">
            <a:avLst/>
          </a:prstGeom>
          <a:noFill/>
          <a:ln/>
        </p:spPr>
        <p:txBody>
          <a:bodyPr wrap="square" lIns="0" tIns="0" rIns="0" bIns="0" rtlCol="0" anchor="ctr"/>
          <a:lstStyle/>
          <a:p>
            <a:pPr rtl="1" algn="r" indent="0" marL="0">
              <a:buNone/>
            </a:pPr>
            <a:r>
              <a:rPr lang="ar-SA" altLang="en-US" sz="1250" dirty="0">
                <a:solidFill>
                  <a:srgbClr val="15271C"/>
                </a:solidFill>
                <a:latin typeface="Arial" pitchFamily="34" charset="0"/>
                <a:ea typeface="Arial" pitchFamily="34" charset="-122"/>
                <a:cs typeface="Arial" pitchFamily="34" charset="-120"/>
              </a:rPr>
              <a:t>ضوابط المبادرات التطوعية في قطاع إدارة النفايات</a:t>
            </a:r>
            <a:endParaRPr lang="ar-SA" sz="1250" dirty="0"/>
          </a:p>
        </p:txBody>
      </p:sp>
      <p:sp>
        <p:nvSpPr>
          <p:cNvPr id="24" name="Shape 22"/>
          <p:cNvSpPr/>
          <p:nvPr/>
        </p:nvSpPr>
        <p:spPr>
          <a:xfrm>
            <a:off x="4322978" y="3291840"/>
            <a:ext cx="3545738" cy="411480"/>
          </a:xfrm>
          <a:prstGeom prst="roundRect">
            <a:avLst>
              <a:gd name="adj" fmla="val 26667"/>
            </a:avLst>
          </a:prstGeom>
          <a:solidFill>
            <a:srgbClr val="FBFCF9"/>
          </a:solidFill>
          <a:ln w="9525">
            <a:solidFill>
              <a:srgbClr val="D6E0D1"/>
            </a:solidFill>
            <a:prstDash val="solid"/>
          </a:ln>
        </p:spPr>
      </p:sp>
      <p:sp>
        <p:nvSpPr>
          <p:cNvPr id="25" name="Text 23"/>
          <p:cNvSpPr txBox="1"/>
          <p:nvPr/>
        </p:nvSpPr>
        <p:spPr>
          <a:xfrm>
            <a:off x="4505858" y="3337560"/>
            <a:ext cx="3179978" cy="320040"/>
          </a:xfrm>
          <a:prstGeom prst="rect">
            <a:avLst/>
          </a:prstGeom>
          <a:noFill/>
          <a:ln/>
        </p:spPr>
        <p:txBody>
          <a:bodyPr wrap="square" lIns="0" tIns="0" rIns="0" bIns="0" rtlCol="0" anchor="ctr"/>
          <a:lstStyle/>
          <a:p>
            <a:pPr rtl="1" algn="r" indent="0" marL="0">
              <a:buNone/>
            </a:pPr>
            <a:r>
              <a:rPr lang="ar-SA" altLang="en-US" sz="1250" dirty="0">
                <a:solidFill>
                  <a:srgbClr val="15271C"/>
                </a:solidFill>
                <a:latin typeface="Arial" pitchFamily="34" charset="0"/>
                <a:ea typeface="Arial" pitchFamily="34" charset="-122"/>
                <a:cs typeface="Arial" pitchFamily="34" charset="-120"/>
              </a:rPr>
              <a:t>كود الطرق السعودي — الهيئة العامة للطرق</a:t>
            </a:r>
            <a:endParaRPr lang="ar-SA" sz="1250" dirty="0"/>
          </a:p>
        </p:txBody>
      </p:sp>
      <p:sp>
        <p:nvSpPr>
          <p:cNvPr id="26" name="Text 24"/>
          <p:cNvSpPr txBox="1"/>
          <p:nvPr/>
        </p:nvSpPr>
        <p:spPr>
          <a:xfrm>
            <a:off x="594360" y="3931920"/>
            <a:ext cx="11002975" cy="411480"/>
          </a:xfrm>
          <a:prstGeom prst="rect">
            <a:avLst/>
          </a:prstGeom>
          <a:noFill/>
          <a:ln/>
        </p:spPr>
        <p:txBody>
          <a:bodyPr wrap="square" lIns="0" tIns="0" rIns="0" bIns="0" rtlCol="0" anchor="t"/>
          <a:lstStyle/>
          <a:p>
            <a:pPr rtl="1" algn="r" indent="0" marL="0">
              <a:buNone/>
            </a:pPr>
            <a:r>
              <a:rPr lang="ar-SA" altLang="en-US" sz="1400" dirty="0">
                <a:solidFill>
                  <a:srgbClr val="4F6356"/>
                </a:solidFill>
                <a:latin typeface="Arial" pitchFamily="34" charset="0"/>
                <a:ea typeface="Arial" pitchFamily="34" charset="-122"/>
                <a:cs typeface="Arial" pitchFamily="34" charset="-120"/>
              </a:rPr>
              <a:t>دوليًا: أهداف الأمم المتحدة للتنمية المستدامة، واتفاق باريس للمناخ، واتفاقيات ريو، وإطار كونمينغ-مونتريال للتنوع البيولوجي</a:t>
            </a:r>
            <a:endParaRPr lang="ar-SA" sz="1400" dirty="0"/>
          </a:p>
        </p:txBody>
      </p:sp>
      <p:sp>
        <p:nvSpPr>
          <p:cNvPr id="27" name="Shape 25"/>
          <p:cNvSpPr/>
          <p:nvPr/>
        </p:nvSpPr>
        <p:spPr>
          <a:xfrm>
            <a:off x="9528414" y="4526280"/>
            <a:ext cx="2068921" cy="594360"/>
          </a:xfrm>
          <a:prstGeom prst="roundRect">
            <a:avLst>
              <a:gd name="adj" fmla="val 15385"/>
            </a:avLst>
          </a:prstGeom>
          <a:solidFill>
            <a:srgbClr val="DCEBD5"/>
          </a:solidFill>
          <a:ln w="12700">
            <a:solidFill>
              <a:srgbClr val="DCEBD5"/>
            </a:solidFill>
            <a:prstDash val="solid"/>
          </a:ln>
        </p:spPr>
      </p:sp>
      <p:sp>
        <p:nvSpPr>
          <p:cNvPr id="28" name="Text 26"/>
          <p:cNvSpPr txBox="1"/>
          <p:nvPr/>
        </p:nvSpPr>
        <p:spPr>
          <a:xfrm>
            <a:off x="10957255" y="4599432"/>
            <a:ext cx="502920" cy="457200"/>
          </a:xfrm>
          <a:prstGeom prst="rect">
            <a:avLst/>
          </a:prstGeom>
          <a:noFill/>
          <a:ln/>
        </p:spPr>
        <p:txBody>
          <a:bodyPr wrap="square" lIns="0" tIns="0" rIns="0" bIns="0" rtlCol="0" anchor="ctr"/>
          <a:lstStyle/>
          <a:p>
            <a:pPr algn="ctr" indent="0" marL="0">
              <a:buNone/>
            </a:pPr>
            <a:r>
              <a:rPr lang="ar-SA" altLang="en-US" sz="2000" b="1" dirty="0">
                <a:solidFill>
                  <a:srgbClr val="1E5E36"/>
                </a:solidFill>
                <a:latin typeface="Arial" pitchFamily="34" charset="0"/>
                <a:ea typeface="Arial" pitchFamily="34" charset="-122"/>
                <a:cs typeface="Arial" pitchFamily="34" charset="-120"/>
              </a:rPr>
              <a:t>4</a:t>
            </a:r>
            <a:endParaRPr lang="ar-SA" sz="2000" dirty="0"/>
          </a:p>
        </p:txBody>
      </p:sp>
      <p:sp>
        <p:nvSpPr>
          <p:cNvPr id="29" name="Text 27"/>
          <p:cNvSpPr txBox="1"/>
          <p:nvPr/>
        </p:nvSpPr>
        <p:spPr>
          <a:xfrm>
            <a:off x="9638142" y="4599432"/>
            <a:ext cx="1291681" cy="457200"/>
          </a:xfrm>
          <a:prstGeom prst="rect">
            <a:avLst/>
          </a:prstGeom>
          <a:noFill/>
          <a:ln/>
        </p:spPr>
        <p:txBody>
          <a:bodyPr wrap="square" lIns="0" tIns="0" rIns="0" bIns="0" rtlCol="0" anchor="ctr"/>
          <a:lstStyle/>
          <a:p>
            <a:pPr rtl="1" algn="r" indent="0" marL="0">
              <a:buNone/>
            </a:pPr>
            <a:r>
              <a:rPr lang="ar-SA" altLang="en-US" sz="1250" dirty="0">
                <a:solidFill>
                  <a:srgbClr val="1E5E36"/>
                </a:solidFill>
                <a:latin typeface="Arial" pitchFamily="34" charset="0"/>
                <a:ea typeface="Arial" pitchFamily="34" charset="-122"/>
                <a:cs typeface="Arial" pitchFamily="34" charset="-120"/>
              </a:rPr>
              <a:t>التعليم الجيد</a:t>
            </a:r>
            <a:endParaRPr lang="ar-SA" sz="1250" dirty="0"/>
          </a:p>
        </p:txBody>
      </p:sp>
      <p:sp>
        <p:nvSpPr>
          <p:cNvPr id="30" name="Shape 28"/>
          <p:cNvSpPr/>
          <p:nvPr/>
        </p:nvSpPr>
        <p:spPr>
          <a:xfrm>
            <a:off x="7294900" y="4526280"/>
            <a:ext cx="2068921" cy="594360"/>
          </a:xfrm>
          <a:prstGeom prst="roundRect">
            <a:avLst>
              <a:gd name="adj" fmla="val 15385"/>
            </a:avLst>
          </a:prstGeom>
          <a:solidFill>
            <a:srgbClr val="DCEBD5"/>
          </a:solidFill>
          <a:ln w="12700">
            <a:solidFill>
              <a:srgbClr val="DCEBD5"/>
            </a:solidFill>
            <a:prstDash val="solid"/>
          </a:ln>
        </p:spPr>
      </p:sp>
      <p:sp>
        <p:nvSpPr>
          <p:cNvPr id="31" name="Text 29"/>
          <p:cNvSpPr txBox="1"/>
          <p:nvPr/>
        </p:nvSpPr>
        <p:spPr>
          <a:xfrm>
            <a:off x="8723742" y="4599432"/>
            <a:ext cx="502920" cy="457200"/>
          </a:xfrm>
          <a:prstGeom prst="rect">
            <a:avLst/>
          </a:prstGeom>
          <a:noFill/>
          <a:ln/>
        </p:spPr>
        <p:txBody>
          <a:bodyPr wrap="square" lIns="0" tIns="0" rIns="0" bIns="0" rtlCol="0" anchor="ctr"/>
          <a:lstStyle/>
          <a:p>
            <a:pPr algn="ctr" indent="0" marL="0">
              <a:buNone/>
            </a:pPr>
            <a:r>
              <a:rPr lang="ar-SA" altLang="en-US" sz="2000" b="1" dirty="0">
                <a:solidFill>
                  <a:srgbClr val="1E5E36"/>
                </a:solidFill>
                <a:latin typeface="Arial" pitchFamily="34" charset="0"/>
                <a:ea typeface="Arial" pitchFamily="34" charset="-122"/>
                <a:cs typeface="Arial" pitchFamily="34" charset="-120"/>
              </a:rPr>
              <a:t>6</a:t>
            </a:r>
            <a:endParaRPr lang="ar-SA" sz="2000" dirty="0"/>
          </a:p>
        </p:txBody>
      </p:sp>
      <p:sp>
        <p:nvSpPr>
          <p:cNvPr id="32" name="Text 30"/>
          <p:cNvSpPr txBox="1"/>
          <p:nvPr/>
        </p:nvSpPr>
        <p:spPr>
          <a:xfrm>
            <a:off x="7404628" y="4599432"/>
            <a:ext cx="1291681" cy="457200"/>
          </a:xfrm>
          <a:prstGeom prst="rect">
            <a:avLst/>
          </a:prstGeom>
          <a:noFill/>
          <a:ln/>
        </p:spPr>
        <p:txBody>
          <a:bodyPr wrap="square" lIns="0" tIns="0" rIns="0" bIns="0" rtlCol="0" anchor="ctr"/>
          <a:lstStyle/>
          <a:p>
            <a:pPr rtl="1" algn="r" indent="0" marL="0">
              <a:buNone/>
            </a:pPr>
            <a:r>
              <a:rPr lang="ar-SA" altLang="en-US" sz="1250" dirty="0">
                <a:solidFill>
                  <a:srgbClr val="1E5E36"/>
                </a:solidFill>
                <a:latin typeface="Arial" pitchFamily="34" charset="0"/>
                <a:ea typeface="Arial" pitchFamily="34" charset="-122"/>
                <a:cs typeface="Arial" pitchFamily="34" charset="-120"/>
              </a:rPr>
              <a:t>المياه النظيفة</a:t>
            </a:r>
            <a:endParaRPr lang="ar-SA" sz="1250" dirty="0"/>
          </a:p>
        </p:txBody>
      </p:sp>
      <p:sp>
        <p:nvSpPr>
          <p:cNvPr id="33" name="Shape 31"/>
          <p:cNvSpPr/>
          <p:nvPr/>
        </p:nvSpPr>
        <p:spPr>
          <a:xfrm>
            <a:off x="5061387" y="4526280"/>
            <a:ext cx="2068921" cy="594360"/>
          </a:xfrm>
          <a:prstGeom prst="roundRect">
            <a:avLst>
              <a:gd name="adj" fmla="val 15385"/>
            </a:avLst>
          </a:prstGeom>
          <a:solidFill>
            <a:srgbClr val="DCEBD5"/>
          </a:solidFill>
          <a:ln w="12700">
            <a:solidFill>
              <a:srgbClr val="DCEBD5"/>
            </a:solidFill>
            <a:prstDash val="solid"/>
          </a:ln>
        </p:spPr>
      </p:sp>
      <p:sp>
        <p:nvSpPr>
          <p:cNvPr id="34" name="Text 32"/>
          <p:cNvSpPr txBox="1"/>
          <p:nvPr/>
        </p:nvSpPr>
        <p:spPr>
          <a:xfrm>
            <a:off x="6490228" y="4599432"/>
            <a:ext cx="502920" cy="457200"/>
          </a:xfrm>
          <a:prstGeom prst="rect">
            <a:avLst/>
          </a:prstGeom>
          <a:noFill/>
          <a:ln/>
        </p:spPr>
        <p:txBody>
          <a:bodyPr wrap="square" lIns="0" tIns="0" rIns="0" bIns="0" rtlCol="0" anchor="ctr"/>
          <a:lstStyle/>
          <a:p>
            <a:pPr algn="ctr" indent="0" marL="0">
              <a:buNone/>
            </a:pPr>
            <a:r>
              <a:rPr lang="ar-SA" altLang="en-US" sz="2000" b="1" dirty="0">
                <a:solidFill>
                  <a:srgbClr val="1E5E36"/>
                </a:solidFill>
                <a:latin typeface="Arial" pitchFamily="34" charset="0"/>
                <a:ea typeface="Arial" pitchFamily="34" charset="-122"/>
                <a:cs typeface="Arial" pitchFamily="34" charset="-120"/>
              </a:rPr>
              <a:t>7</a:t>
            </a:r>
            <a:endParaRPr lang="ar-SA" sz="2000" dirty="0"/>
          </a:p>
        </p:txBody>
      </p:sp>
      <p:sp>
        <p:nvSpPr>
          <p:cNvPr id="35" name="Text 33"/>
          <p:cNvSpPr txBox="1"/>
          <p:nvPr/>
        </p:nvSpPr>
        <p:spPr>
          <a:xfrm>
            <a:off x="5171115" y="4599432"/>
            <a:ext cx="1291681" cy="457200"/>
          </a:xfrm>
          <a:prstGeom prst="rect">
            <a:avLst/>
          </a:prstGeom>
          <a:noFill/>
          <a:ln/>
        </p:spPr>
        <p:txBody>
          <a:bodyPr wrap="square" lIns="0" tIns="0" rIns="0" bIns="0" rtlCol="0" anchor="ctr"/>
          <a:lstStyle/>
          <a:p>
            <a:pPr rtl="1" algn="r" indent="0" marL="0">
              <a:buNone/>
            </a:pPr>
            <a:r>
              <a:rPr lang="ar-SA" altLang="en-US" sz="1250" dirty="0">
                <a:solidFill>
                  <a:srgbClr val="1E5E36"/>
                </a:solidFill>
                <a:latin typeface="Arial" pitchFamily="34" charset="0"/>
                <a:ea typeface="Arial" pitchFamily="34" charset="-122"/>
                <a:cs typeface="Arial" pitchFamily="34" charset="-120"/>
              </a:rPr>
              <a:t>الطاقة النظيفة</a:t>
            </a:r>
            <a:endParaRPr lang="ar-SA" sz="1250" dirty="0"/>
          </a:p>
        </p:txBody>
      </p:sp>
      <p:sp>
        <p:nvSpPr>
          <p:cNvPr id="36" name="Shape 34"/>
          <p:cNvSpPr/>
          <p:nvPr/>
        </p:nvSpPr>
        <p:spPr>
          <a:xfrm>
            <a:off x="2827873" y="4526280"/>
            <a:ext cx="2068921" cy="594360"/>
          </a:xfrm>
          <a:prstGeom prst="roundRect">
            <a:avLst>
              <a:gd name="adj" fmla="val 15385"/>
            </a:avLst>
          </a:prstGeom>
          <a:solidFill>
            <a:srgbClr val="DCEBD5"/>
          </a:solidFill>
          <a:ln w="12700">
            <a:solidFill>
              <a:srgbClr val="DCEBD5"/>
            </a:solidFill>
            <a:prstDash val="solid"/>
          </a:ln>
        </p:spPr>
      </p:sp>
      <p:sp>
        <p:nvSpPr>
          <p:cNvPr id="37" name="Text 35"/>
          <p:cNvSpPr txBox="1"/>
          <p:nvPr/>
        </p:nvSpPr>
        <p:spPr>
          <a:xfrm>
            <a:off x="4256715" y="4599432"/>
            <a:ext cx="502920" cy="457200"/>
          </a:xfrm>
          <a:prstGeom prst="rect">
            <a:avLst/>
          </a:prstGeom>
          <a:noFill/>
          <a:ln/>
        </p:spPr>
        <p:txBody>
          <a:bodyPr wrap="square" lIns="0" tIns="0" rIns="0" bIns="0" rtlCol="0" anchor="ctr"/>
          <a:lstStyle/>
          <a:p>
            <a:pPr algn="ctr" indent="0" marL="0">
              <a:buNone/>
            </a:pPr>
            <a:r>
              <a:rPr lang="ar-SA" altLang="en-US" sz="2000" b="1" dirty="0">
                <a:solidFill>
                  <a:srgbClr val="1E5E36"/>
                </a:solidFill>
                <a:latin typeface="Arial" pitchFamily="34" charset="0"/>
                <a:ea typeface="Arial" pitchFamily="34" charset="-122"/>
                <a:cs typeface="Arial" pitchFamily="34" charset="-120"/>
              </a:rPr>
              <a:t>9</a:t>
            </a:r>
            <a:endParaRPr lang="ar-SA" sz="2000" dirty="0"/>
          </a:p>
        </p:txBody>
      </p:sp>
      <p:sp>
        <p:nvSpPr>
          <p:cNvPr id="38" name="Text 36"/>
          <p:cNvSpPr txBox="1"/>
          <p:nvPr/>
        </p:nvSpPr>
        <p:spPr>
          <a:xfrm>
            <a:off x="2937601" y="4599432"/>
            <a:ext cx="1291681" cy="457200"/>
          </a:xfrm>
          <a:prstGeom prst="rect">
            <a:avLst/>
          </a:prstGeom>
          <a:noFill/>
          <a:ln/>
        </p:spPr>
        <p:txBody>
          <a:bodyPr wrap="square" lIns="0" tIns="0" rIns="0" bIns="0" rtlCol="0" anchor="ctr"/>
          <a:lstStyle/>
          <a:p>
            <a:pPr rtl="1" algn="r" indent="0" marL="0">
              <a:buNone/>
            </a:pPr>
            <a:r>
              <a:rPr lang="ar-SA" altLang="en-US" sz="1250" dirty="0">
                <a:solidFill>
                  <a:srgbClr val="1E5E36"/>
                </a:solidFill>
                <a:latin typeface="Arial" pitchFamily="34" charset="0"/>
                <a:ea typeface="Arial" pitchFamily="34" charset="-122"/>
                <a:cs typeface="Arial" pitchFamily="34" charset="-120"/>
              </a:rPr>
              <a:t>الصناعة والابتكار</a:t>
            </a:r>
            <a:endParaRPr lang="ar-SA" sz="1250" dirty="0"/>
          </a:p>
        </p:txBody>
      </p:sp>
      <p:sp>
        <p:nvSpPr>
          <p:cNvPr id="39" name="Shape 37"/>
          <p:cNvSpPr/>
          <p:nvPr/>
        </p:nvSpPr>
        <p:spPr>
          <a:xfrm>
            <a:off x="594360" y="4526280"/>
            <a:ext cx="2068921" cy="594360"/>
          </a:xfrm>
          <a:prstGeom prst="roundRect">
            <a:avLst>
              <a:gd name="adj" fmla="val 15385"/>
            </a:avLst>
          </a:prstGeom>
          <a:solidFill>
            <a:srgbClr val="DCEBD5"/>
          </a:solidFill>
          <a:ln w="12700">
            <a:solidFill>
              <a:srgbClr val="DCEBD5"/>
            </a:solidFill>
            <a:prstDash val="solid"/>
          </a:ln>
        </p:spPr>
      </p:sp>
      <p:sp>
        <p:nvSpPr>
          <p:cNvPr id="40" name="Text 38"/>
          <p:cNvSpPr txBox="1"/>
          <p:nvPr/>
        </p:nvSpPr>
        <p:spPr>
          <a:xfrm>
            <a:off x="2023201" y="4599432"/>
            <a:ext cx="502920" cy="457200"/>
          </a:xfrm>
          <a:prstGeom prst="rect">
            <a:avLst/>
          </a:prstGeom>
          <a:noFill/>
          <a:ln/>
        </p:spPr>
        <p:txBody>
          <a:bodyPr wrap="square" lIns="0" tIns="0" rIns="0" bIns="0" rtlCol="0" anchor="ctr"/>
          <a:lstStyle/>
          <a:p>
            <a:pPr algn="ctr" indent="0" marL="0">
              <a:buNone/>
            </a:pPr>
            <a:r>
              <a:rPr lang="ar-SA" altLang="en-US" sz="2000" b="1" dirty="0">
                <a:solidFill>
                  <a:srgbClr val="1E5E36"/>
                </a:solidFill>
                <a:latin typeface="Arial" pitchFamily="34" charset="0"/>
                <a:ea typeface="Arial" pitchFamily="34" charset="-122"/>
                <a:cs typeface="Arial" pitchFamily="34" charset="-120"/>
              </a:rPr>
              <a:t>11</a:t>
            </a:r>
            <a:endParaRPr lang="ar-SA" sz="2000" dirty="0"/>
          </a:p>
        </p:txBody>
      </p:sp>
      <p:sp>
        <p:nvSpPr>
          <p:cNvPr id="41" name="Text 39"/>
          <p:cNvSpPr txBox="1"/>
          <p:nvPr/>
        </p:nvSpPr>
        <p:spPr>
          <a:xfrm>
            <a:off x="704088" y="4599432"/>
            <a:ext cx="1291681" cy="457200"/>
          </a:xfrm>
          <a:prstGeom prst="rect">
            <a:avLst/>
          </a:prstGeom>
          <a:noFill/>
          <a:ln/>
        </p:spPr>
        <p:txBody>
          <a:bodyPr wrap="square" lIns="0" tIns="0" rIns="0" bIns="0" rtlCol="0" anchor="ctr"/>
          <a:lstStyle/>
          <a:p>
            <a:pPr rtl="1" algn="r" indent="0" marL="0">
              <a:buNone/>
            </a:pPr>
            <a:r>
              <a:rPr lang="ar-SA" altLang="en-US" sz="1250" dirty="0">
                <a:solidFill>
                  <a:srgbClr val="1E5E36"/>
                </a:solidFill>
                <a:latin typeface="Arial" pitchFamily="34" charset="0"/>
                <a:ea typeface="Arial" pitchFamily="34" charset="-122"/>
                <a:cs typeface="Arial" pitchFamily="34" charset="-120"/>
              </a:rPr>
              <a:t>مدن مستدامة</a:t>
            </a:r>
            <a:endParaRPr lang="ar-SA" sz="1250" dirty="0"/>
          </a:p>
        </p:txBody>
      </p:sp>
      <p:sp>
        <p:nvSpPr>
          <p:cNvPr id="42" name="Shape 40"/>
          <p:cNvSpPr/>
          <p:nvPr/>
        </p:nvSpPr>
        <p:spPr>
          <a:xfrm>
            <a:off x="9528414" y="5257800"/>
            <a:ext cx="2068921" cy="594360"/>
          </a:xfrm>
          <a:prstGeom prst="roundRect">
            <a:avLst>
              <a:gd name="adj" fmla="val 15385"/>
            </a:avLst>
          </a:prstGeom>
          <a:solidFill>
            <a:srgbClr val="DCEBD5"/>
          </a:solidFill>
          <a:ln w="12700">
            <a:solidFill>
              <a:srgbClr val="DCEBD5"/>
            </a:solidFill>
            <a:prstDash val="solid"/>
          </a:ln>
        </p:spPr>
      </p:sp>
      <p:sp>
        <p:nvSpPr>
          <p:cNvPr id="43" name="Text 41"/>
          <p:cNvSpPr txBox="1"/>
          <p:nvPr/>
        </p:nvSpPr>
        <p:spPr>
          <a:xfrm>
            <a:off x="10957255" y="5330952"/>
            <a:ext cx="502920" cy="457200"/>
          </a:xfrm>
          <a:prstGeom prst="rect">
            <a:avLst/>
          </a:prstGeom>
          <a:noFill/>
          <a:ln/>
        </p:spPr>
        <p:txBody>
          <a:bodyPr wrap="square" lIns="0" tIns="0" rIns="0" bIns="0" rtlCol="0" anchor="ctr"/>
          <a:lstStyle/>
          <a:p>
            <a:pPr algn="ctr" indent="0" marL="0">
              <a:buNone/>
            </a:pPr>
            <a:r>
              <a:rPr lang="ar-SA" altLang="en-US" sz="2000" b="1" dirty="0">
                <a:solidFill>
                  <a:srgbClr val="1E5E36"/>
                </a:solidFill>
                <a:latin typeface="Arial" pitchFamily="34" charset="0"/>
                <a:ea typeface="Arial" pitchFamily="34" charset="-122"/>
                <a:cs typeface="Arial" pitchFamily="34" charset="-120"/>
              </a:rPr>
              <a:t>12</a:t>
            </a:r>
            <a:endParaRPr lang="ar-SA" sz="2000" dirty="0"/>
          </a:p>
        </p:txBody>
      </p:sp>
      <p:sp>
        <p:nvSpPr>
          <p:cNvPr id="44" name="Text 42"/>
          <p:cNvSpPr txBox="1"/>
          <p:nvPr/>
        </p:nvSpPr>
        <p:spPr>
          <a:xfrm>
            <a:off x="9638142" y="5330952"/>
            <a:ext cx="1291681" cy="457200"/>
          </a:xfrm>
          <a:prstGeom prst="rect">
            <a:avLst/>
          </a:prstGeom>
          <a:noFill/>
          <a:ln/>
        </p:spPr>
        <p:txBody>
          <a:bodyPr wrap="square" lIns="0" tIns="0" rIns="0" bIns="0" rtlCol="0" anchor="ctr"/>
          <a:lstStyle/>
          <a:p>
            <a:pPr rtl="1" algn="r" indent="0" marL="0">
              <a:buNone/>
            </a:pPr>
            <a:r>
              <a:rPr lang="ar-SA" altLang="en-US" sz="1250" dirty="0">
                <a:solidFill>
                  <a:srgbClr val="1E5E36"/>
                </a:solidFill>
                <a:latin typeface="Arial" pitchFamily="34" charset="0"/>
                <a:ea typeface="Arial" pitchFamily="34" charset="-122"/>
                <a:cs typeface="Arial" pitchFamily="34" charset="-120"/>
              </a:rPr>
              <a:t>الاستهلاك المسؤول</a:t>
            </a:r>
            <a:endParaRPr lang="ar-SA" sz="1250" dirty="0"/>
          </a:p>
        </p:txBody>
      </p:sp>
      <p:sp>
        <p:nvSpPr>
          <p:cNvPr id="45" name="Shape 43"/>
          <p:cNvSpPr/>
          <p:nvPr/>
        </p:nvSpPr>
        <p:spPr>
          <a:xfrm>
            <a:off x="7294900" y="5257800"/>
            <a:ext cx="2068921" cy="594360"/>
          </a:xfrm>
          <a:prstGeom prst="roundRect">
            <a:avLst>
              <a:gd name="adj" fmla="val 15385"/>
            </a:avLst>
          </a:prstGeom>
          <a:solidFill>
            <a:srgbClr val="DCEBD5"/>
          </a:solidFill>
          <a:ln w="12700">
            <a:solidFill>
              <a:srgbClr val="DCEBD5"/>
            </a:solidFill>
            <a:prstDash val="solid"/>
          </a:ln>
        </p:spPr>
      </p:sp>
      <p:sp>
        <p:nvSpPr>
          <p:cNvPr id="46" name="Text 44"/>
          <p:cNvSpPr txBox="1"/>
          <p:nvPr/>
        </p:nvSpPr>
        <p:spPr>
          <a:xfrm>
            <a:off x="8723742" y="5330952"/>
            <a:ext cx="502920" cy="457200"/>
          </a:xfrm>
          <a:prstGeom prst="rect">
            <a:avLst/>
          </a:prstGeom>
          <a:noFill/>
          <a:ln/>
        </p:spPr>
        <p:txBody>
          <a:bodyPr wrap="square" lIns="0" tIns="0" rIns="0" bIns="0" rtlCol="0" anchor="ctr"/>
          <a:lstStyle/>
          <a:p>
            <a:pPr algn="ctr" indent="0" marL="0">
              <a:buNone/>
            </a:pPr>
            <a:r>
              <a:rPr lang="ar-SA" altLang="en-US" sz="2000" b="1" dirty="0">
                <a:solidFill>
                  <a:srgbClr val="1E5E36"/>
                </a:solidFill>
                <a:latin typeface="Arial" pitchFamily="34" charset="0"/>
                <a:ea typeface="Arial" pitchFamily="34" charset="-122"/>
                <a:cs typeface="Arial" pitchFamily="34" charset="-120"/>
              </a:rPr>
              <a:t>13</a:t>
            </a:r>
            <a:endParaRPr lang="ar-SA" sz="2000" dirty="0"/>
          </a:p>
        </p:txBody>
      </p:sp>
      <p:sp>
        <p:nvSpPr>
          <p:cNvPr id="47" name="Text 45"/>
          <p:cNvSpPr txBox="1"/>
          <p:nvPr/>
        </p:nvSpPr>
        <p:spPr>
          <a:xfrm>
            <a:off x="7404628" y="5330952"/>
            <a:ext cx="1291681" cy="457200"/>
          </a:xfrm>
          <a:prstGeom prst="rect">
            <a:avLst/>
          </a:prstGeom>
          <a:noFill/>
          <a:ln/>
        </p:spPr>
        <p:txBody>
          <a:bodyPr wrap="square" lIns="0" tIns="0" rIns="0" bIns="0" rtlCol="0" anchor="ctr"/>
          <a:lstStyle/>
          <a:p>
            <a:pPr rtl="1" algn="r" indent="0" marL="0">
              <a:buNone/>
            </a:pPr>
            <a:r>
              <a:rPr lang="ar-SA" altLang="en-US" sz="1250" dirty="0">
                <a:solidFill>
                  <a:srgbClr val="1E5E36"/>
                </a:solidFill>
                <a:latin typeface="Arial" pitchFamily="34" charset="0"/>
                <a:ea typeface="Arial" pitchFamily="34" charset="-122"/>
                <a:cs typeface="Arial" pitchFamily="34" charset="-120"/>
              </a:rPr>
              <a:t>العمل المناخي</a:t>
            </a:r>
            <a:endParaRPr lang="ar-SA" sz="1250" dirty="0"/>
          </a:p>
        </p:txBody>
      </p:sp>
      <p:sp>
        <p:nvSpPr>
          <p:cNvPr id="48" name="Shape 46"/>
          <p:cNvSpPr/>
          <p:nvPr/>
        </p:nvSpPr>
        <p:spPr>
          <a:xfrm>
            <a:off x="5061387" y="5257800"/>
            <a:ext cx="2068921" cy="594360"/>
          </a:xfrm>
          <a:prstGeom prst="roundRect">
            <a:avLst>
              <a:gd name="adj" fmla="val 15385"/>
            </a:avLst>
          </a:prstGeom>
          <a:solidFill>
            <a:srgbClr val="DCEBD5"/>
          </a:solidFill>
          <a:ln w="12700">
            <a:solidFill>
              <a:srgbClr val="DCEBD5"/>
            </a:solidFill>
            <a:prstDash val="solid"/>
          </a:ln>
        </p:spPr>
      </p:sp>
      <p:sp>
        <p:nvSpPr>
          <p:cNvPr id="49" name="Text 47"/>
          <p:cNvSpPr txBox="1"/>
          <p:nvPr/>
        </p:nvSpPr>
        <p:spPr>
          <a:xfrm>
            <a:off x="6490228" y="5330952"/>
            <a:ext cx="502920" cy="457200"/>
          </a:xfrm>
          <a:prstGeom prst="rect">
            <a:avLst/>
          </a:prstGeom>
          <a:noFill/>
          <a:ln/>
        </p:spPr>
        <p:txBody>
          <a:bodyPr wrap="square" lIns="0" tIns="0" rIns="0" bIns="0" rtlCol="0" anchor="ctr"/>
          <a:lstStyle/>
          <a:p>
            <a:pPr algn="ctr" indent="0" marL="0">
              <a:buNone/>
            </a:pPr>
            <a:r>
              <a:rPr lang="ar-SA" altLang="en-US" sz="2000" b="1" dirty="0">
                <a:solidFill>
                  <a:srgbClr val="1E5E36"/>
                </a:solidFill>
                <a:latin typeface="Arial" pitchFamily="34" charset="0"/>
                <a:ea typeface="Arial" pitchFamily="34" charset="-122"/>
                <a:cs typeface="Arial" pitchFamily="34" charset="-120"/>
              </a:rPr>
              <a:t>15</a:t>
            </a:r>
            <a:endParaRPr lang="ar-SA" sz="2000" dirty="0"/>
          </a:p>
        </p:txBody>
      </p:sp>
      <p:sp>
        <p:nvSpPr>
          <p:cNvPr id="50" name="Text 48"/>
          <p:cNvSpPr txBox="1"/>
          <p:nvPr/>
        </p:nvSpPr>
        <p:spPr>
          <a:xfrm>
            <a:off x="5171115" y="5330952"/>
            <a:ext cx="1291681" cy="457200"/>
          </a:xfrm>
          <a:prstGeom prst="rect">
            <a:avLst/>
          </a:prstGeom>
          <a:noFill/>
          <a:ln/>
        </p:spPr>
        <p:txBody>
          <a:bodyPr wrap="square" lIns="0" tIns="0" rIns="0" bIns="0" rtlCol="0" anchor="ctr"/>
          <a:lstStyle/>
          <a:p>
            <a:pPr rtl="1" algn="r" indent="0" marL="0">
              <a:buNone/>
            </a:pPr>
            <a:r>
              <a:rPr lang="ar-SA" altLang="en-US" sz="1250" dirty="0">
                <a:solidFill>
                  <a:srgbClr val="1E5E36"/>
                </a:solidFill>
                <a:latin typeface="Arial" pitchFamily="34" charset="0"/>
                <a:ea typeface="Arial" pitchFamily="34" charset="-122"/>
                <a:cs typeface="Arial" pitchFamily="34" charset="-120"/>
              </a:rPr>
              <a:t>الحياة في البر</a:t>
            </a:r>
            <a:endParaRPr lang="ar-SA" sz="1250" dirty="0"/>
          </a:p>
        </p:txBody>
      </p:sp>
      <p:sp>
        <p:nvSpPr>
          <p:cNvPr id="51" name="Shape 49"/>
          <p:cNvSpPr/>
          <p:nvPr/>
        </p:nvSpPr>
        <p:spPr>
          <a:xfrm>
            <a:off x="2827873" y="5257800"/>
            <a:ext cx="2068921" cy="594360"/>
          </a:xfrm>
          <a:prstGeom prst="roundRect">
            <a:avLst>
              <a:gd name="adj" fmla="val 15385"/>
            </a:avLst>
          </a:prstGeom>
          <a:solidFill>
            <a:srgbClr val="DCEBD5"/>
          </a:solidFill>
          <a:ln w="12700">
            <a:solidFill>
              <a:srgbClr val="DCEBD5"/>
            </a:solidFill>
            <a:prstDash val="solid"/>
          </a:ln>
        </p:spPr>
      </p:sp>
      <p:sp>
        <p:nvSpPr>
          <p:cNvPr id="52" name="Text 50"/>
          <p:cNvSpPr txBox="1"/>
          <p:nvPr/>
        </p:nvSpPr>
        <p:spPr>
          <a:xfrm>
            <a:off x="4256715" y="5330952"/>
            <a:ext cx="502920" cy="457200"/>
          </a:xfrm>
          <a:prstGeom prst="rect">
            <a:avLst/>
          </a:prstGeom>
          <a:noFill/>
          <a:ln/>
        </p:spPr>
        <p:txBody>
          <a:bodyPr wrap="square" lIns="0" tIns="0" rIns="0" bIns="0" rtlCol="0" anchor="ctr"/>
          <a:lstStyle/>
          <a:p>
            <a:pPr algn="ctr" indent="0" marL="0">
              <a:buNone/>
            </a:pPr>
            <a:r>
              <a:rPr lang="ar-SA" altLang="en-US" sz="2000" b="1" dirty="0">
                <a:solidFill>
                  <a:srgbClr val="1E5E36"/>
                </a:solidFill>
                <a:latin typeface="Arial" pitchFamily="34" charset="0"/>
                <a:ea typeface="Arial" pitchFamily="34" charset="-122"/>
                <a:cs typeface="Arial" pitchFamily="34" charset="-120"/>
              </a:rPr>
              <a:t>17</a:t>
            </a:r>
            <a:endParaRPr lang="ar-SA" sz="2000" dirty="0"/>
          </a:p>
        </p:txBody>
      </p:sp>
      <p:sp>
        <p:nvSpPr>
          <p:cNvPr id="53" name="Text 51"/>
          <p:cNvSpPr txBox="1"/>
          <p:nvPr/>
        </p:nvSpPr>
        <p:spPr>
          <a:xfrm>
            <a:off x="2937601" y="5330952"/>
            <a:ext cx="1291681" cy="457200"/>
          </a:xfrm>
          <a:prstGeom prst="rect">
            <a:avLst/>
          </a:prstGeom>
          <a:noFill/>
          <a:ln/>
        </p:spPr>
        <p:txBody>
          <a:bodyPr wrap="square" lIns="0" tIns="0" rIns="0" bIns="0" rtlCol="0" anchor="ctr"/>
          <a:lstStyle/>
          <a:p>
            <a:pPr rtl="1" algn="r" indent="0" marL="0">
              <a:buNone/>
            </a:pPr>
            <a:r>
              <a:rPr lang="ar-SA" altLang="en-US" sz="1250" dirty="0">
                <a:solidFill>
                  <a:srgbClr val="1E5E36"/>
                </a:solidFill>
                <a:latin typeface="Arial" pitchFamily="34" charset="0"/>
                <a:ea typeface="Arial" pitchFamily="34" charset="-122"/>
                <a:cs typeface="Arial" pitchFamily="34" charset="-120"/>
              </a:rPr>
              <a:t>عقد الشراكات</a:t>
            </a:r>
            <a:endParaRPr lang="ar-SA" sz="1250" dirty="0"/>
          </a:p>
        </p:txBody>
      </p:sp>
      <p:sp>
        <p:nvSpPr>
          <p:cNvPr id="54" name="Text 52"/>
          <p:cNvSpPr txBox="1"/>
          <p:nvPr/>
        </p:nvSpPr>
        <p:spPr>
          <a:xfrm>
            <a:off x="594360" y="6355080"/>
            <a:ext cx="914400" cy="274320"/>
          </a:xfrm>
          <a:prstGeom prst="rect">
            <a:avLst/>
          </a:prstGeom>
          <a:noFill/>
          <a:ln/>
        </p:spPr>
        <p:txBody>
          <a:bodyPr wrap="square" lIns="0" tIns="0" rIns="0" bIns="0" rtlCol="0" anchor="t"/>
          <a:lstStyle/>
          <a:p>
            <a:pPr algn="l" indent="0" marL="0">
              <a:buNone/>
            </a:pPr>
            <a:r>
              <a:rPr lang="ar-SA" altLang="en-US" sz="1100" dirty="0">
                <a:solidFill>
                  <a:srgbClr val="6B7D70"/>
                </a:solidFill>
                <a:latin typeface="Arial" pitchFamily="34" charset="0"/>
                <a:ea typeface="Arial" pitchFamily="34" charset="-122"/>
                <a:cs typeface="Arial" pitchFamily="34" charset="-120"/>
              </a:rPr>
              <a:t>11</a:t>
            </a:r>
            <a:endParaRPr lang="ar-SA" sz="1100" dirty="0"/>
          </a:p>
        </p:txBody>
      </p:sp>
      <p:sp>
        <p:nvSpPr>
          <p:cNvPr id="55" name="Text 53"/>
          <p:cNvSpPr txBox="1"/>
          <p:nvPr/>
        </p:nvSpPr>
        <p:spPr>
          <a:xfrm>
            <a:off x="7025335" y="6355080"/>
            <a:ext cx="4572000" cy="274320"/>
          </a:xfrm>
          <a:prstGeom prst="rect">
            <a:avLst/>
          </a:prstGeom>
          <a:noFill/>
          <a:ln/>
        </p:spPr>
        <p:txBody>
          <a:bodyPr wrap="square" lIns="0" tIns="0" rIns="0" bIns="0" rtlCol="0" anchor="t"/>
          <a:lstStyle/>
          <a:p>
            <a:pPr rtl="1" algn="r" indent="0" marL="0">
              <a:buNone/>
            </a:pPr>
            <a:r>
              <a:rPr lang="ar-SA" altLang="en-US" sz="1100" dirty="0">
                <a:solidFill>
                  <a:srgbClr val="6B7D70"/>
                </a:solidFill>
                <a:latin typeface="Arial" pitchFamily="34" charset="0"/>
                <a:ea typeface="Arial" pitchFamily="34" charset="-122"/>
                <a:cs typeface="Arial" pitchFamily="34" charset="-120"/>
              </a:rPr>
              <a:t>مبادرة الأثر الأخضر المستدام</a:t>
            </a:r>
            <a:endParaRPr lang="ar-SA"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1"/>
        </a:solidFill>
      </p:bgPr>
    </p:bg>
    <p:spTree>
      <p:nvGrpSpPr>
        <p:cNvPr id="1" name=""/>
        <p:cNvGrpSpPr/>
        <p:nvPr/>
      </p:nvGrpSpPr>
      <p:grpSpPr>
        <a:xfrm>
          <a:off x="0" y="0"/>
          <a:ext cx="0" cy="0"/>
          <a:chOff x="0" y="0"/>
          <a:chExt cx="0" cy="0"/>
        </a:xfrm>
      </p:grpSpPr>
      <p:sp>
        <p:nvSpPr>
          <p:cNvPr id="2" name="Text 0"/>
          <p:cNvSpPr txBox="1"/>
          <p:nvPr/>
        </p:nvSpPr>
        <p:spPr>
          <a:xfrm>
            <a:off x="594360" y="502920"/>
            <a:ext cx="11002975" cy="365760"/>
          </a:xfrm>
          <a:prstGeom prst="rect">
            <a:avLst/>
          </a:prstGeom>
          <a:noFill/>
          <a:ln/>
        </p:spPr>
        <p:txBody>
          <a:bodyPr wrap="square" lIns="0" tIns="0" rIns="0" bIns="0" rtlCol="0" anchor="t"/>
          <a:lstStyle/>
          <a:p>
            <a:pPr rtl="1" algn="r" indent="0" marL="0">
              <a:buNone/>
            </a:pPr>
            <a:r>
              <a:rPr lang="ar-SA" altLang="en-US" sz="1500" b="1" dirty="0">
                <a:solidFill>
                  <a:srgbClr val="8A6508"/>
                </a:solidFill>
                <a:latin typeface="Arial" pitchFamily="34" charset="0"/>
                <a:ea typeface="Arial" pitchFamily="34" charset="-122"/>
                <a:cs typeface="Arial" pitchFamily="34" charset="-120"/>
              </a:rPr>
              <a:t>نطاق العمل</a:t>
            </a:r>
            <a:endParaRPr lang="ar-SA" sz="1500" dirty="0"/>
          </a:p>
        </p:txBody>
      </p:sp>
      <p:sp>
        <p:nvSpPr>
          <p:cNvPr id="3" name="Text 1"/>
          <p:cNvSpPr txBox="1"/>
          <p:nvPr/>
        </p:nvSpPr>
        <p:spPr>
          <a:xfrm>
            <a:off x="594360" y="868680"/>
            <a:ext cx="11002975" cy="731520"/>
          </a:xfrm>
          <a:prstGeom prst="rect">
            <a:avLst/>
          </a:prstGeom>
          <a:noFill/>
          <a:ln/>
        </p:spPr>
        <p:txBody>
          <a:bodyPr wrap="square" lIns="0" tIns="0" rIns="0" bIns="0" rtlCol="0" anchor="t"/>
          <a:lstStyle/>
          <a:p>
            <a:pPr rtl="1" algn="r" indent="0" marL="0">
              <a:buNone/>
            </a:pPr>
            <a:r>
              <a:rPr lang="ar-SA" altLang="en-US" sz="3600" b="1" dirty="0">
                <a:solidFill>
                  <a:srgbClr val="1E5E36"/>
                </a:solidFill>
                <a:latin typeface="Arial" pitchFamily="34" charset="0"/>
                <a:ea typeface="Arial" pitchFamily="34" charset="-122"/>
                <a:cs typeface="Arial" pitchFamily="34" charset="-120"/>
              </a:rPr>
              <a:t>المحاور الرئيسية</a:t>
            </a:r>
            <a:endParaRPr lang="ar-SA" sz="3600" dirty="0"/>
          </a:p>
        </p:txBody>
      </p:sp>
      <p:sp>
        <p:nvSpPr>
          <p:cNvPr id="4" name="Shape 2"/>
          <p:cNvSpPr/>
          <p:nvPr/>
        </p:nvSpPr>
        <p:spPr>
          <a:xfrm>
            <a:off x="6324448" y="1874520"/>
            <a:ext cx="5272888" cy="822960"/>
          </a:xfrm>
          <a:prstGeom prst="roundRect">
            <a:avLst>
              <a:gd name="adj" fmla="val 13333"/>
            </a:avLst>
          </a:prstGeom>
          <a:solidFill>
            <a:srgbClr val="FBFCF9"/>
          </a:solidFill>
          <a:ln w="9525">
            <a:solidFill>
              <a:srgbClr val="D6E0D1"/>
            </a:solidFill>
            <a:prstDash val="solid"/>
          </a:ln>
        </p:spPr>
      </p:sp>
      <p:sp>
        <p:nvSpPr>
          <p:cNvPr id="5" name="Shape 3"/>
          <p:cNvSpPr/>
          <p:nvPr/>
        </p:nvSpPr>
        <p:spPr>
          <a:xfrm>
            <a:off x="11002975" y="2148840"/>
            <a:ext cx="274320" cy="274320"/>
          </a:xfrm>
          <a:prstGeom prst="ellipse">
            <a:avLst/>
          </a:prstGeom>
          <a:solidFill>
            <a:srgbClr val="2F7D46"/>
          </a:solidFill>
          <a:ln w="12700">
            <a:solidFill>
              <a:srgbClr val="2F7D46"/>
            </a:solidFill>
            <a:prstDash val="solid"/>
          </a:ln>
        </p:spPr>
      </p:sp>
      <p:sp>
        <p:nvSpPr>
          <p:cNvPr id="6" name="Text 4"/>
          <p:cNvSpPr txBox="1"/>
          <p:nvPr/>
        </p:nvSpPr>
        <p:spPr>
          <a:xfrm>
            <a:off x="6598768" y="2057400"/>
            <a:ext cx="4267048" cy="457200"/>
          </a:xfrm>
          <a:prstGeom prst="rect">
            <a:avLst/>
          </a:prstGeom>
          <a:noFill/>
          <a:ln/>
        </p:spPr>
        <p:txBody>
          <a:bodyPr wrap="square" lIns="0" tIns="0" rIns="0" bIns="0" rtlCol="0" anchor="ctr"/>
          <a:lstStyle/>
          <a:p>
            <a:pPr rtl="1" algn="r" indent="0" marL="0">
              <a:buNone/>
            </a:pPr>
            <a:r>
              <a:rPr lang="ar-SA" altLang="en-US" sz="1600" dirty="0">
                <a:solidFill>
                  <a:srgbClr val="15271C"/>
                </a:solidFill>
                <a:latin typeface="Arial" pitchFamily="34" charset="0"/>
                <a:ea typeface="Arial" pitchFamily="34" charset="-122"/>
                <a:cs typeface="Arial" pitchFamily="34" charset="-120"/>
              </a:rPr>
              <a:t>إعادة التوازن البيئي وإيجاد الحلول المستدامة</a:t>
            </a:r>
            <a:endParaRPr lang="ar-SA" sz="1600" dirty="0"/>
          </a:p>
        </p:txBody>
      </p:sp>
      <p:sp>
        <p:nvSpPr>
          <p:cNvPr id="7" name="Shape 5"/>
          <p:cNvSpPr/>
          <p:nvPr/>
        </p:nvSpPr>
        <p:spPr>
          <a:xfrm>
            <a:off x="6324448" y="2898648"/>
            <a:ext cx="5272888" cy="822960"/>
          </a:xfrm>
          <a:prstGeom prst="roundRect">
            <a:avLst>
              <a:gd name="adj" fmla="val 13333"/>
            </a:avLst>
          </a:prstGeom>
          <a:solidFill>
            <a:srgbClr val="FBFCF9"/>
          </a:solidFill>
          <a:ln w="9525">
            <a:solidFill>
              <a:srgbClr val="D6E0D1"/>
            </a:solidFill>
            <a:prstDash val="solid"/>
          </a:ln>
        </p:spPr>
      </p:sp>
      <p:sp>
        <p:nvSpPr>
          <p:cNvPr id="8" name="Shape 6"/>
          <p:cNvSpPr/>
          <p:nvPr/>
        </p:nvSpPr>
        <p:spPr>
          <a:xfrm>
            <a:off x="11002975" y="3172968"/>
            <a:ext cx="274320" cy="274320"/>
          </a:xfrm>
          <a:prstGeom prst="ellipse">
            <a:avLst/>
          </a:prstGeom>
          <a:solidFill>
            <a:srgbClr val="2F7D46"/>
          </a:solidFill>
          <a:ln w="12700">
            <a:solidFill>
              <a:srgbClr val="2F7D46"/>
            </a:solidFill>
            <a:prstDash val="solid"/>
          </a:ln>
        </p:spPr>
      </p:sp>
      <p:sp>
        <p:nvSpPr>
          <p:cNvPr id="9" name="Text 7"/>
          <p:cNvSpPr txBox="1"/>
          <p:nvPr/>
        </p:nvSpPr>
        <p:spPr>
          <a:xfrm>
            <a:off x="6598768" y="3081528"/>
            <a:ext cx="4267048" cy="457200"/>
          </a:xfrm>
          <a:prstGeom prst="rect">
            <a:avLst/>
          </a:prstGeom>
          <a:noFill/>
          <a:ln/>
        </p:spPr>
        <p:txBody>
          <a:bodyPr wrap="square" lIns="0" tIns="0" rIns="0" bIns="0" rtlCol="0" anchor="ctr"/>
          <a:lstStyle/>
          <a:p>
            <a:pPr rtl="1" algn="r" indent="0" marL="0">
              <a:buNone/>
            </a:pPr>
            <a:r>
              <a:rPr lang="ar-SA" altLang="en-US" sz="1600" dirty="0">
                <a:solidFill>
                  <a:srgbClr val="15271C"/>
                </a:solidFill>
                <a:latin typeface="Arial" pitchFamily="34" charset="0"/>
                <a:ea typeface="Arial" pitchFamily="34" charset="-122"/>
                <a:cs typeface="Arial" pitchFamily="34" charset="-120"/>
              </a:rPr>
              <a:t>حماية البيئة والمحافظة على الموارد الطبيعية</a:t>
            </a:r>
            <a:endParaRPr lang="ar-SA" sz="1600" dirty="0"/>
          </a:p>
        </p:txBody>
      </p:sp>
      <p:sp>
        <p:nvSpPr>
          <p:cNvPr id="10" name="Shape 8"/>
          <p:cNvSpPr/>
          <p:nvPr/>
        </p:nvSpPr>
        <p:spPr>
          <a:xfrm>
            <a:off x="6324448" y="3922776"/>
            <a:ext cx="5272888" cy="822960"/>
          </a:xfrm>
          <a:prstGeom prst="roundRect">
            <a:avLst>
              <a:gd name="adj" fmla="val 13333"/>
            </a:avLst>
          </a:prstGeom>
          <a:solidFill>
            <a:srgbClr val="FBFCF9"/>
          </a:solidFill>
          <a:ln w="9525">
            <a:solidFill>
              <a:srgbClr val="D6E0D1"/>
            </a:solidFill>
            <a:prstDash val="solid"/>
          </a:ln>
        </p:spPr>
      </p:sp>
      <p:sp>
        <p:nvSpPr>
          <p:cNvPr id="11" name="Shape 9"/>
          <p:cNvSpPr/>
          <p:nvPr/>
        </p:nvSpPr>
        <p:spPr>
          <a:xfrm>
            <a:off x="11002975" y="4197096"/>
            <a:ext cx="274320" cy="274320"/>
          </a:xfrm>
          <a:prstGeom prst="ellipse">
            <a:avLst/>
          </a:prstGeom>
          <a:solidFill>
            <a:srgbClr val="2F7D46"/>
          </a:solidFill>
          <a:ln w="12700">
            <a:solidFill>
              <a:srgbClr val="2F7D46"/>
            </a:solidFill>
            <a:prstDash val="solid"/>
          </a:ln>
        </p:spPr>
      </p:sp>
      <p:sp>
        <p:nvSpPr>
          <p:cNvPr id="12" name="Text 10"/>
          <p:cNvSpPr txBox="1"/>
          <p:nvPr/>
        </p:nvSpPr>
        <p:spPr>
          <a:xfrm>
            <a:off x="6598768" y="4105656"/>
            <a:ext cx="4267048" cy="457200"/>
          </a:xfrm>
          <a:prstGeom prst="rect">
            <a:avLst/>
          </a:prstGeom>
          <a:noFill/>
          <a:ln/>
        </p:spPr>
        <p:txBody>
          <a:bodyPr wrap="square" lIns="0" tIns="0" rIns="0" bIns="0" rtlCol="0" anchor="ctr"/>
          <a:lstStyle/>
          <a:p>
            <a:pPr rtl="1" algn="r" indent="0" marL="0">
              <a:buNone/>
            </a:pPr>
            <a:r>
              <a:rPr lang="ar-SA" altLang="en-US" sz="1600" dirty="0">
                <a:solidFill>
                  <a:srgbClr val="15271C"/>
                </a:solidFill>
                <a:latin typeface="Arial" pitchFamily="34" charset="0"/>
                <a:ea typeface="Arial" pitchFamily="34" charset="-122"/>
                <a:cs typeface="Arial" pitchFamily="34" charset="-120"/>
              </a:rPr>
              <a:t>زيادة الغطاء النباتي ومكافحة التصحر</a:t>
            </a:r>
            <a:endParaRPr lang="ar-SA" sz="1600" dirty="0"/>
          </a:p>
        </p:txBody>
      </p:sp>
      <p:sp>
        <p:nvSpPr>
          <p:cNvPr id="13" name="Shape 11"/>
          <p:cNvSpPr/>
          <p:nvPr/>
        </p:nvSpPr>
        <p:spPr>
          <a:xfrm>
            <a:off x="6324448" y="4946904"/>
            <a:ext cx="5272888" cy="822960"/>
          </a:xfrm>
          <a:prstGeom prst="roundRect">
            <a:avLst>
              <a:gd name="adj" fmla="val 13333"/>
            </a:avLst>
          </a:prstGeom>
          <a:solidFill>
            <a:srgbClr val="FBFCF9"/>
          </a:solidFill>
          <a:ln w="9525">
            <a:solidFill>
              <a:srgbClr val="D6E0D1"/>
            </a:solidFill>
            <a:prstDash val="solid"/>
          </a:ln>
        </p:spPr>
      </p:sp>
      <p:sp>
        <p:nvSpPr>
          <p:cNvPr id="14" name="Shape 12"/>
          <p:cNvSpPr/>
          <p:nvPr/>
        </p:nvSpPr>
        <p:spPr>
          <a:xfrm>
            <a:off x="11002975" y="5221224"/>
            <a:ext cx="274320" cy="274320"/>
          </a:xfrm>
          <a:prstGeom prst="ellipse">
            <a:avLst/>
          </a:prstGeom>
          <a:solidFill>
            <a:srgbClr val="2F7D46"/>
          </a:solidFill>
          <a:ln w="12700">
            <a:solidFill>
              <a:srgbClr val="2F7D46"/>
            </a:solidFill>
            <a:prstDash val="solid"/>
          </a:ln>
        </p:spPr>
      </p:sp>
      <p:sp>
        <p:nvSpPr>
          <p:cNvPr id="15" name="Text 13"/>
          <p:cNvSpPr txBox="1"/>
          <p:nvPr/>
        </p:nvSpPr>
        <p:spPr>
          <a:xfrm>
            <a:off x="6598768" y="5129784"/>
            <a:ext cx="4267048" cy="457200"/>
          </a:xfrm>
          <a:prstGeom prst="rect">
            <a:avLst/>
          </a:prstGeom>
          <a:noFill/>
          <a:ln/>
        </p:spPr>
        <p:txBody>
          <a:bodyPr wrap="square" lIns="0" tIns="0" rIns="0" bIns="0" rtlCol="0" anchor="ctr"/>
          <a:lstStyle/>
          <a:p>
            <a:pPr rtl="1" algn="r" indent="0" marL="0">
              <a:buNone/>
            </a:pPr>
            <a:r>
              <a:rPr lang="ar-SA" altLang="en-US" sz="1600" dirty="0">
                <a:solidFill>
                  <a:srgbClr val="15271C"/>
                </a:solidFill>
                <a:latin typeface="Arial" pitchFamily="34" charset="0"/>
                <a:ea typeface="Arial" pitchFamily="34" charset="-122"/>
                <a:cs typeface="Arial" pitchFamily="34" charset="-120"/>
              </a:rPr>
              <a:t>تعزيز السياحة البيئية</a:t>
            </a:r>
            <a:endParaRPr lang="ar-SA" sz="1600" dirty="0"/>
          </a:p>
        </p:txBody>
      </p:sp>
      <p:sp>
        <p:nvSpPr>
          <p:cNvPr id="16" name="Shape 14"/>
          <p:cNvSpPr/>
          <p:nvPr/>
        </p:nvSpPr>
        <p:spPr>
          <a:xfrm>
            <a:off x="594360" y="1874520"/>
            <a:ext cx="5272888" cy="822960"/>
          </a:xfrm>
          <a:prstGeom prst="roundRect">
            <a:avLst>
              <a:gd name="adj" fmla="val 13333"/>
            </a:avLst>
          </a:prstGeom>
          <a:solidFill>
            <a:srgbClr val="FBFCF9"/>
          </a:solidFill>
          <a:ln w="9525">
            <a:solidFill>
              <a:srgbClr val="D6E0D1"/>
            </a:solidFill>
            <a:prstDash val="solid"/>
          </a:ln>
        </p:spPr>
      </p:sp>
      <p:sp>
        <p:nvSpPr>
          <p:cNvPr id="17" name="Shape 15"/>
          <p:cNvSpPr/>
          <p:nvPr/>
        </p:nvSpPr>
        <p:spPr>
          <a:xfrm>
            <a:off x="5272888" y="2148840"/>
            <a:ext cx="274320" cy="274320"/>
          </a:xfrm>
          <a:prstGeom prst="ellipse">
            <a:avLst/>
          </a:prstGeom>
          <a:solidFill>
            <a:srgbClr val="C9971C"/>
          </a:solidFill>
          <a:ln w="12700">
            <a:solidFill>
              <a:srgbClr val="C9971C"/>
            </a:solidFill>
            <a:prstDash val="solid"/>
          </a:ln>
        </p:spPr>
      </p:sp>
      <p:sp>
        <p:nvSpPr>
          <p:cNvPr id="18" name="Text 16"/>
          <p:cNvSpPr txBox="1"/>
          <p:nvPr/>
        </p:nvSpPr>
        <p:spPr>
          <a:xfrm>
            <a:off x="868680" y="2057400"/>
            <a:ext cx="4267048" cy="457200"/>
          </a:xfrm>
          <a:prstGeom prst="rect">
            <a:avLst/>
          </a:prstGeom>
          <a:noFill/>
          <a:ln/>
        </p:spPr>
        <p:txBody>
          <a:bodyPr wrap="square" lIns="0" tIns="0" rIns="0" bIns="0" rtlCol="0" anchor="ctr"/>
          <a:lstStyle/>
          <a:p>
            <a:pPr rtl="1" algn="r" indent="0" marL="0">
              <a:buNone/>
            </a:pPr>
            <a:r>
              <a:rPr lang="ar-SA" altLang="en-US" sz="1600" dirty="0">
                <a:solidFill>
                  <a:srgbClr val="15271C"/>
                </a:solidFill>
                <a:latin typeface="Arial" pitchFamily="34" charset="0"/>
                <a:ea typeface="Arial" pitchFamily="34" charset="-122"/>
                <a:cs typeface="Arial" pitchFamily="34" charset="-120"/>
              </a:rPr>
              <a:t>نشر الوعي والقيم المرتبطة بالاستدامة البيئية</a:t>
            </a:r>
            <a:endParaRPr lang="ar-SA" sz="1600" dirty="0"/>
          </a:p>
        </p:txBody>
      </p:sp>
      <p:sp>
        <p:nvSpPr>
          <p:cNvPr id="19" name="Shape 17"/>
          <p:cNvSpPr/>
          <p:nvPr/>
        </p:nvSpPr>
        <p:spPr>
          <a:xfrm>
            <a:off x="594360" y="2898648"/>
            <a:ext cx="5272888" cy="822960"/>
          </a:xfrm>
          <a:prstGeom prst="roundRect">
            <a:avLst>
              <a:gd name="adj" fmla="val 13333"/>
            </a:avLst>
          </a:prstGeom>
          <a:solidFill>
            <a:srgbClr val="FBFCF9"/>
          </a:solidFill>
          <a:ln w="9525">
            <a:solidFill>
              <a:srgbClr val="D6E0D1"/>
            </a:solidFill>
            <a:prstDash val="solid"/>
          </a:ln>
        </p:spPr>
      </p:sp>
      <p:sp>
        <p:nvSpPr>
          <p:cNvPr id="20" name="Shape 18"/>
          <p:cNvSpPr/>
          <p:nvPr/>
        </p:nvSpPr>
        <p:spPr>
          <a:xfrm>
            <a:off x="5272888" y="3172968"/>
            <a:ext cx="274320" cy="274320"/>
          </a:xfrm>
          <a:prstGeom prst="ellipse">
            <a:avLst/>
          </a:prstGeom>
          <a:solidFill>
            <a:srgbClr val="C9971C"/>
          </a:solidFill>
          <a:ln w="12700">
            <a:solidFill>
              <a:srgbClr val="C9971C"/>
            </a:solidFill>
            <a:prstDash val="solid"/>
          </a:ln>
        </p:spPr>
      </p:sp>
      <p:sp>
        <p:nvSpPr>
          <p:cNvPr id="21" name="Text 19"/>
          <p:cNvSpPr txBox="1"/>
          <p:nvPr/>
        </p:nvSpPr>
        <p:spPr>
          <a:xfrm>
            <a:off x="868680" y="3081528"/>
            <a:ext cx="4267048" cy="457200"/>
          </a:xfrm>
          <a:prstGeom prst="rect">
            <a:avLst/>
          </a:prstGeom>
          <a:noFill/>
          <a:ln/>
        </p:spPr>
        <p:txBody>
          <a:bodyPr wrap="square" lIns="0" tIns="0" rIns="0" bIns="0" rtlCol="0" anchor="ctr"/>
          <a:lstStyle/>
          <a:p>
            <a:pPr rtl="1" algn="r" indent="0" marL="0">
              <a:buNone/>
            </a:pPr>
            <a:r>
              <a:rPr lang="ar-SA" altLang="en-US" sz="1600" dirty="0">
                <a:solidFill>
                  <a:srgbClr val="15271C"/>
                </a:solidFill>
                <a:latin typeface="Arial" pitchFamily="34" charset="0"/>
                <a:ea typeface="Arial" pitchFamily="34" charset="-122"/>
                <a:cs typeface="Arial" pitchFamily="34" charset="-120"/>
              </a:rPr>
              <a:t>التعليم والتمكين وبناء القدرات الوطنية</a:t>
            </a:r>
            <a:endParaRPr lang="ar-SA" sz="1600" dirty="0"/>
          </a:p>
        </p:txBody>
      </p:sp>
      <p:sp>
        <p:nvSpPr>
          <p:cNvPr id="22" name="Shape 20"/>
          <p:cNvSpPr/>
          <p:nvPr/>
        </p:nvSpPr>
        <p:spPr>
          <a:xfrm>
            <a:off x="594360" y="3922776"/>
            <a:ext cx="5272888" cy="822960"/>
          </a:xfrm>
          <a:prstGeom prst="roundRect">
            <a:avLst>
              <a:gd name="adj" fmla="val 13333"/>
            </a:avLst>
          </a:prstGeom>
          <a:solidFill>
            <a:srgbClr val="FBFCF9"/>
          </a:solidFill>
          <a:ln w="9525">
            <a:solidFill>
              <a:srgbClr val="D6E0D1"/>
            </a:solidFill>
            <a:prstDash val="solid"/>
          </a:ln>
        </p:spPr>
      </p:sp>
      <p:sp>
        <p:nvSpPr>
          <p:cNvPr id="23" name="Shape 21"/>
          <p:cNvSpPr/>
          <p:nvPr/>
        </p:nvSpPr>
        <p:spPr>
          <a:xfrm>
            <a:off x="5272888" y="4197096"/>
            <a:ext cx="274320" cy="274320"/>
          </a:xfrm>
          <a:prstGeom prst="ellipse">
            <a:avLst/>
          </a:prstGeom>
          <a:solidFill>
            <a:srgbClr val="C9971C"/>
          </a:solidFill>
          <a:ln w="12700">
            <a:solidFill>
              <a:srgbClr val="C9971C"/>
            </a:solidFill>
            <a:prstDash val="solid"/>
          </a:ln>
        </p:spPr>
      </p:sp>
      <p:sp>
        <p:nvSpPr>
          <p:cNvPr id="24" name="Text 22"/>
          <p:cNvSpPr txBox="1"/>
          <p:nvPr/>
        </p:nvSpPr>
        <p:spPr>
          <a:xfrm>
            <a:off x="868680" y="4105656"/>
            <a:ext cx="4267048" cy="457200"/>
          </a:xfrm>
          <a:prstGeom prst="rect">
            <a:avLst/>
          </a:prstGeom>
          <a:noFill/>
          <a:ln/>
        </p:spPr>
        <p:txBody>
          <a:bodyPr wrap="square" lIns="0" tIns="0" rIns="0" bIns="0" rtlCol="0" anchor="ctr"/>
          <a:lstStyle/>
          <a:p>
            <a:pPr rtl="1" algn="r" indent="0" marL="0">
              <a:buNone/>
            </a:pPr>
            <a:r>
              <a:rPr lang="ar-SA" altLang="en-US" sz="1600" dirty="0">
                <a:solidFill>
                  <a:srgbClr val="15271C"/>
                </a:solidFill>
                <a:latin typeface="Arial" pitchFamily="34" charset="0"/>
                <a:ea typeface="Arial" pitchFamily="34" charset="-122"/>
                <a:cs typeface="Arial" pitchFamily="34" charset="-120"/>
              </a:rPr>
              <a:t>تعزيز الشراكات والمشاركة المجتمعية المستدامة</a:t>
            </a:r>
            <a:endParaRPr lang="ar-SA" sz="1600" dirty="0"/>
          </a:p>
        </p:txBody>
      </p:sp>
      <p:sp>
        <p:nvSpPr>
          <p:cNvPr id="25" name="Shape 23"/>
          <p:cNvSpPr/>
          <p:nvPr/>
        </p:nvSpPr>
        <p:spPr>
          <a:xfrm>
            <a:off x="594360" y="4946904"/>
            <a:ext cx="5272888" cy="822960"/>
          </a:xfrm>
          <a:prstGeom prst="roundRect">
            <a:avLst>
              <a:gd name="adj" fmla="val 13333"/>
            </a:avLst>
          </a:prstGeom>
          <a:solidFill>
            <a:srgbClr val="FBFCF9"/>
          </a:solidFill>
          <a:ln w="9525">
            <a:solidFill>
              <a:srgbClr val="D6E0D1"/>
            </a:solidFill>
            <a:prstDash val="solid"/>
          </a:ln>
        </p:spPr>
      </p:sp>
      <p:sp>
        <p:nvSpPr>
          <p:cNvPr id="26" name="Shape 24"/>
          <p:cNvSpPr/>
          <p:nvPr/>
        </p:nvSpPr>
        <p:spPr>
          <a:xfrm>
            <a:off x="5272888" y="5221224"/>
            <a:ext cx="274320" cy="274320"/>
          </a:xfrm>
          <a:prstGeom prst="ellipse">
            <a:avLst/>
          </a:prstGeom>
          <a:solidFill>
            <a:srgbClr val="C9971C"/>
          </a:solidFill>
          <a:ln w="12700">
            <a:solidFill>
              <a:srgbClr val="C9971C"/>
            </a:solidFill>
            <a:prstDash val="solid"/>
          </a:ln>
        </p:spPr>
      </p:sp>
      <p:sp>
        <p:nvSpPr>
          <p:cNvPr id="27" name="Text 25"/>
          <p:cNvSpPr txBox="1"/>
          <p:nvPr/>
        </p:nvSpPr>
        <p:spPr>
          <a:xfrm>
            <a:off x="868680" y="5129784"/>
            <a:ext cx="4267048" cy="457200"/>
          </a:xfrm>
          <a:prstGeom prst="rect">
            <a:avLst/>
          </a:prstGeom>
          <a:noFill/>
          <a:ln/>
        </p:spPr>
        <p:txBody>
          <a:bodyPr wrap="square" lIns="0" tIns="0" rIns="0" bIns="0" rtlCol="0" anchor="ctr"/>
          <a:lstStyle/>
          <a:p>
            <a:pPr rtl="1" algn="r" indent="0" marL="0">
              <a:buNone/>
            </a:pPr>
            <a:r>
              <a:rPr lang="ar-SA" altLang="en-US" sz="1600" dirty="0">
                <a:solidFill>
                  <a:srgbClr val="15271C"/>
                </a:solidFill>
                <a:latin typeface="Arial" pitchFamily="34" charset="0"/>
                <a:ea typeface="Arial" pitchFamily="34" charset="-122"/>
                <a:cs typeface="Arial" pitchFamily="34" charset="-120"/>
              </a:rPr>
              <a:t>إدارة تحقيق الأثر التنموي المستدام</a:t>
            </a:r>
            <a:endParaRPr lang="ar-SA" sz="1600" dirty="0"/>
          </a:p>
        </p:txBody>
      </p:sp>
      <p:sp>
        <p:nvSpPr>
          <p:cNvPr id="28" name="Text 26"/>
          <p:cNvSpPr txBox="1"/>
          <p:nvPr/>
        </p:nvSpPr>
        <p:spPr>
          <a:xfrm>
            <a:off x="594360" y="6355080"/>
            <a:ext cx="914400" cy="274320"/>
          </a:xfrm>
          <a:prstGeom prst="rect">
            <a:avLst/>
          </a:prstGeom>
          <a:noFill/>
          <a:ln/>
        </p:spPr>
        <p:txBody>
          <a:bodyPr wrap="square" lIns="0" tIns="0" rIns="0" bIns="0" rtlCol="0" anchor="t"/>
          <a:lstStyle/>
          <a:p>
            <a:pPr algn="l" indent="0" marL="0">
              <a:buNone/>
            </a:pPr>
            <a:r>
              <a:rPr lang="ar-SA" altLang="en-US" sz="1100" dirty="0">
                <a:solidFill>
                  <a:srgbClr val="6B7D70"/>
                </a:solidFill>
                <a:latin typeface="Arial" pitchFamily="34" charset="0"/>
                <a:ea typeface="Arial" pitchFamily="34" charset="-122"/>
                <a:cs typeface="Arial" pitchFamily="34" charset="-120"/>
              </a:rPr>
              <a:t>12</a:t>
            </a:r>
            <a:endParaRPr lang="ar-SA" sz="1100" dirty="0"/>
          </a:p>
        </p:txBody>
      </p:sp>
      <p:sp>
        <p:nvSpPr>
          <p:cNvPr id="29" name="Text 27"/>
          <p:cNvSpPr txBox="1"/>
          <p:nvPr/>
        </p:nvSpPr>
        <p:spPr>
          <a:xfrm>
            <a:off x="7025335" y="6355080"/>
            <a:ext cx="4572000" cy="274320"/>
          </a:xfrm>
          <a:prstGeom prst="rect">
            <a:avLst/>
          </a:prstGeom>
          <a:noFill/>
          <a:ln/>
        </p:spPr>
        <p:txBody>
          <a:bodyPr wrap="square" lIns="0" tIns="0" rIns="0" bIns="0" rtlCol="0" anchor="t"/>
          <a:lstStyle/>
          <a:p>
            <a:pPr rtl="1" algn="r" indent="0" marL="0">
              <a:buNone/>
            </a:pPr>
            <a:r>
              <a:rPr lang="ar-SA" altLang="en-US" sz="1100" dirty="0">
                <a:solidFill>
                  <a:srgbClr val="6B7D70"/>
                </a:solidFill>
                <a:latin typeface="Arial" pitchFamily="34" charset="0"/>
                <a:ea typeface="Arial" pitchFamily="34" charset="-122"/>
                <a:cs typeface="Arial" pitchFamily="34" charset="-120"/>
              </a:rPr>
              <a:t>مبادرة الأثر الأخضر المستدام</a:t>
            </a:r>
            <a:endParaRPr lang="ar-SA"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8F0E3"/>
        </a:solidFill>
      </p:bgPr>
    </p:bg>
    <p:spTree>
      <p:nvGrpSpPr>
        <p:cNvPr id="1" name=""/>
        <p:cNvGrpSpPr/>
        <p:nvPr/>
      </p:nvGrpSpPr>
      <p:grpSpPr>
        <a:xfrm>
          <a:off x="0" y="0"/>
          <a:ext cx="0" cy="0"/>
          <a:chOff x="0" y="0"/>
          <a:chExt cx="0" cy="0"/>
        </a:xfrm>
      </p:grpSpPr>
      <p:sp>
        <p:nvSpPr>
          <p:cNvPr id="2" name="Text 0"/>
          <p:cNvSpPr txBox="1"/>
          <p:nvPr/>
        </p:nvSpPr>
        <p:spPr>
          <a:xfrm>
            <a:off x="594360" y="502920"/>
            <a:ext cx="11002975" cy="365760"/>
          </a:xfrm>
          <a:prstGeom prst="rect">
            <a:avLst/>
          </a:prstGeom>
          <a:noFill/>
          <a:ln/>
        </p:spPr>
        <p:txBody>
          <a:bodyPr wrap="square" lIns="0" tIns="0" rIns="0" bIns="0" rtlCol="0" anchor="t"/>
          <a:lstStyle/>
          <a:p>
            <a:pPr rtl="1" algn="r" indent="0" marL="0">
              <a:buNone/>
            </a:pPr>
            <a:r>
              <a:rPr lang="ar-SA" altLang="en-US" sz="1500" b="1" dirty="0">
                <a:solidFill>
                  <a:srgbClr val="8A6508"/>
                </a:solidFill>
                <a:latin typeface="Arial" pitchFamily="34" charset="0"/>
                <a:ea typeface="Arial" pitchFamily="34" charset="-122"/>
                <a:cs typeface="Arial" pitchFamily="34" charset="-120"/>
              </a:rPr>
              <a:t>حفل الإطلاق</a:t>
            </a:r>
            <a:endParaRPr lang="ar-SA" sz="1500" dirty="0"/>
          </a:p>
        </p:txBody>
      </p:sp>
      <p:sp>
        <p:nvSpPr>
          <p:cNvPr id="3" name="Text 1"/>
          <p:cNvSpPr txBox="1"/>
          <p:nvPr/>
        </p:nvSpPr>
        <p:spPr>
          <a:xfrm>
            <a:off x="594360" y="868680"/>
            <a:ext cx="11002975" cy="731520"/>
          </a:xfrm>
          <a:prstGeom prst="rect">
            <a:avLst/>
          </a:prstGeom>
          <a:noFill/>
          <a:ln/>
        </p:spPr>
        <p:txBody>
          <a:bodyPr wrap="square" lIns="0" tIns="0" rIns="0" bIns="0" rtlCol="0" anchor="t"/>
          <a:lstStyle/>
          <a:p>
            <a:pPr rtl="1" algn="r" indent="0" marL="0">
              <a:buNone/>
            </a:pPr>
            <a:r>
              <a:rPr lang="ar-SA" altLang="en-US" sz="3600" b="1" dirty="0">
                <a:solidFill>
                  <a:srgbClr val="1E5E36"/>
                </a:solidFill>
                <a:latin typeface="Arial" pitchFamily="34" charset="0"/>
                <a:ea typeface="Arial" pitchFamily="34" charset="-122"/>
                <a:cs typeface="Arial" pitchFamily="34" charset="-120"/>
              </a:rPr>
              <a:t>ملتقى انطلاق «الأثر الأخضر المستدام»</a:t>
            </a:r>
            <a:endParaRPr lang="ar-SA" sz="3600" dirty="0"/>
          </a:p>
        </p:txBody>
      </p:sp>
      <p:sp>
        <p:nvSpPr>
          <p:cNvPr id="4" name="Shape 2"/>
          <p:cNvSpPr/>
          <p:nvPr/>
        </p:nvSpPr>
        <p:spPr>
          <a:xfrm>
            <a:off x="9018041" y="1828800"/>
            <a:ext cx="2579294" cy="1097280"/>
          </a:xfrm>
          <a:prstGeom prst="roundRect">
            <a:avLst>
              <a:gd name="adj" fmla="val 10000"/>
            </a:avLst>
          </a:prstGeom>
          <a:solidFill>
            <a:srgbClr val="FBFCF9"/>
          </a:solidFill>
          <a:ln w="9525">
            <a:solidFill>
              <a:srgbClr val="D6E0D1"/>
            </a:solidFill>
            <a:prstDash val="solid"/>
          </a:ln>
        </p:spPr>
      </p:sp>
      <p:sp>
        <p:nvSpPr>
          <p:cNvPr id="5" name="Text 3"/>
          <p:cNvSpPr txBox="1"/>
          <p:nvPr/>
        </p:nvSpPr>
        <p:spPr>
          <a:xfrm>
            <a:off x="9246641" y="1965960"/>
            <a:ext cx="2122094" cy="320040"/>
          </a:xfrm>
          <a:prstGeom prst="rect">
            <a:avLst/>
          </a:prstGeom>
          <a:noFill/>
          <a:ln/>
        </p:spPr>
        <p:txBody>
          <a:bodyPr wrap="square" lIns="0" tIns="0" rIns="0" bIns="0" rtlCol="0" anchor="t"/>
          <a:lstStyle/>
          <a:p>
            <a:pPr rtl="1" algn="r" indent="0" marL="0">
              <a:buNone/>
            </a:pPr>
            <a:r>
              <a:rPr lang="ar-SA" altLang="en-US" sz="1250" dirty="0">
                <a:solidFill>
                  <a:srgbClr val="4F6356"/>
                </a:solidFill>
                <a:latin typeface="Arial" pitchFamily="34" charset="0"/>
                <a:ea typeface="Arial" pitchFamily="34" charset="-122"/>
                <a:cs typeface="Arial" pitchFamily="34" charset="-120"/>
              </a:rPr>
              <a:t>التاريخ</a:t>
            </a:r>
            <a:endParaRPr lang="ar-SA" sz="1250" dirty="0"/>
          </a:p>
        </p:txBody>
      </p:sp>
      <p:sp>
        <p:nvSpPr>
          <p:cNvPr id="6" name="Text 4"/>
          <p:cNvSpPr txBox="1"/>
          <p:nvPr/>
        </p:nvSpPr>
        <p:spPr>
          <a:xfrm>
            <a:off x="9246641" y="2331720"/>
            <a:ext cx="2122094" cy="457200"/>
          </a:xfrm>
          <a:prstGeom prst="rect">
            <a:avLst/>
          </a:prstGeom>
          <a:noFill/>
          <a:ln/>
        </p:spPr>
        <p:txBody>
          <a:bodyPr wrap="square" lIns="0" tIns="0" rIns="0" bIns="0" rtlCol="0" anchor="t"/>
          <a:lstStyle/>
          <a:p>
            <a:pPr rtl="1" algn="r" indent="0" marL="0">
              <a:buNone/>
            </a:pPr>
            <a:r>
              <a:rPr lang="ar-SA" altLang="en-US" sz="1500" b="1" dirty="0">
                <a:solidFill>
                  <a:srgbClr val="15271C"/>
                </a:solidFill>
                <a:latin typeface="Arial" pitchFamily="34" charset="0"/>
                <a:ea typeface="Arial" pitchFamily="34" charset="-122"/>
                <a:cs typeface="Arial" pitchFamily="34" charset="-120"/>
              </a:rPr>
              <a:t>الأربعاء 14 أكتوبر 2026</a:t>
            </a:r>
            <a:endParaRPr lang="ar-SA" sz="1500" dirty="0"/>
          </a:p>
        </p:txBody>
      </p:sp>
      <p:sp>
        <p:nvSpPr>
          <p:cNvPr id="7" name="Shape 5"/>
          <p:cNvSpPr/>
          <p:nvPr/>
        </p:nvSpPr>
        <p:spPr>
          <a:xfrm>
            <a:off x="6210148" y="1828800"/>
            <a:ext cx="2579294" cy="1097280"/>
          </a:xfrm>
          <a:prstGeom prst="roundRect">
            <a:avLst>
              <a:gd name="adj" fmla="val 10000"/>
            </a:avLst>
          </a:prstGeom>
          <a:solidFill>
            <a:srgbClr val="FBFCF9"/>
          </a:solidFill>
          <a:ln w="9525">
            <a:solidFill>
              <a:srgbClr val="D6E0D1"/>
            </a:solidFill>
            <a:prstDash val="solid"/>
          </a:ln>
        </p:spPr>
      </p:sp>
      <p:sp>
        <p:nvSpPr>
          <p:cNvPr id="8" name="Text 6"/>
          <p:cNvSpPr txBox="1"/>
          <p:nvPr/>
        </p:nvSpPr>
        <p:spPr>
          <a:xfrm>
            <a:off x="6438748" y="1965960"/>
            <a:ext cx="2122094" cy="320040"/>
          </a:xfrm>
          <a:prstGeom prst="rect">
            <a:avLst/>
          </a:prstGeom>
          <a:noFill/>
          <a:ln/>
        </p:spPr>
        <p:txBody>
          <a:bodyPr wrap="square" lIns="0" tIns="0" rIns="0" bIns="0" rtlCol="0" anchor="t"/>
          <a:lstStyle/>
          <a:p>
            <a:pPr rtl="1" algn="r" indent="0" marL="0">
              <a:buNone/>
            </a:pPr>
            <a:r>
              <a:rPr lang="ar-SA" altLang="en-US" sz="1250" dirty="0">
                <a:solidFill>
                  <a:srgbClr val="4F6356"/>
                </a:solidFill>
                <a:latin typeface="Arial" pitchFamily="34" charset="0"/>
                <a:ea typeface="Arial" pitchFamily="34" charset="-122"/>
                <a:cs typeface="Arial" pitchFamily="34" charset="-120"/>
              </a:rPr>
              <a:t>المكان</a:t>
            </a:r>
            <a:endParaRPr lang="ar-SA" sz="1250" dirty="0"/>
          </a:p>
        </p:txBody>
      </p:sp>
      <p:sp>
        <p:nvSpPr>
          <p:cNvPr id="9" name="Text 7"/>
          <p:cNvSpPr txBox="1"/>
          <p:nvPr/>
        </p:nvSpPr>
        <p:spPr>
          <a:xfrm>
            <a:off x="6438748" y="2331720"/>
            <a:ext cx="2122094" cy="457200"/>
          </a:xfrm>
          <a:prstGeom prst="rect">
            <a:avLst/>
          </a:prstGeom>
          <a:noFill/>
          <a:ln/>
        </p:spPr>
        <p:txBody>
          <a:bodyPr wrap="square" lIns="0" tIns="0" rIns="0" bIns="0" rtlCol="0" anchor="t"/>
          <a:lstStyle/>
          <a:p>
            <a:pPr rtl="1" algn="r" indent="0" marL="0">
              <a:buNone/>
            </a:pPr>
            <a:r>
              <a:rPr lang="ar-SA" altLang="en-US" sz="1500" b="1" dirty="0">
                <a:solidFill>
                  <a:srgbClr val="15271C"/>
                </a:solidFill>
                <a:latin typeface="Arial" pitchFamily="34" charset="0"/>
                <a:ea typeface="Arial" pitchFamily="34" charset="-122"/>
                <a:cs typeface="Arial" pitchFamily="34" charset="-120"/>
              </a:rPr>
              <a:t>ديوان وزارة البيئة — الرياض</a:t>
            </a:r>
            <a:endParaRPr lang="ar-SA" sz="1500" dirty="0"/>
          </a:p>
        </p:txBody>
      </p:sp>
      <p:sp>
        <p:nvSpPr>
          <p:cNvPr id="10" name="Shape 8"/>
          <p:cNvSpPr/>
          <p:nvPr/>
        </p:nvSpPr>
        <p:spPr>
          <a:xfrm>
            <a:off x="3402254" y="1828800"/>
            <a:ext cx="2579294" cy="1097280"/>
          </a:xfrm>
          <a:prstGeom prst="roundRect">
            <a:avLst>
              <a:gd name="adj" fmla="val 10000"/>
            </a:avLst>
          </a:prstGeom>
          <a:solidFill>
            <a:srgbClr val="FBFCF9"/>
          </a:solidFill>
          <a:ln w="9525">
            <a:solidFill>
              <a:srgbClr val="D6E0D1"/>
            </a:solidFill>
            <a:prstDash val="solid"/>
          </a:ln>
        </p:spPr>
      </p:sp>
      <p:sp>
        <p:nvSpPr>
          <p:cNvPr id="11" name="Text 9"/>
          <p:cNvSpPr txBox="1"/>
          <p:nvPr/>
        </p:nvSpPr>
        <p:spPr>
          <a:xfrm>
            <a:off x="3630854" y="1965960"/>
            <a:ext cx="2122094" cy="320040"/>
          </a:xfrm>
          <a:prstGeom prst="rect">
            <a:avLst/>
          </a:prstGeom>
          <a:noFill/>
          <a:ln/>
        </p:spPr>
        <p:txBody>
          <a:bodyPr wrap="square" lIns="0" tIns="0" rIns="0" bIns="0" rtlCol="0" anchor="t"/>
          <a:lstStyle/>
          <a:p>
            <a:pPr rtl="1" algn="r" indent="0" marL="0">
              <a:buNone/>
            </a:pPr>
            <a:r>
              <a:rPr lang="ar-SA" altLang="en-US" sz="1250" dirty="0">
                <a:solidFill>
                  <a:srgbClr val="4F6356"/>
                </a:solidFill>
                <a:latin typeface="Arial" pitchFamily="34" charset="0"/>
                <a:ea typeface="Arial" pitchFamily="34" charset="-122"/>
                <a:cs typeface="Arial" pitchFamily="34" charset="-120"/>
              </a:rPr>
              <a:t>الوقت</a:t>
            </a:r>
            <a:endParaRPr lang="ar-SA" sz="1250" dirty="0"/>
          </a:p>
        </p:txBody>
      </p:sp>
      <p:sp>
        <p:nvSpPr>
          <p:cNvPr id="12" name="Text 10"/>
          <p:cNvSpPr txBox="1"/>
          <p:nvPr/>
        </p:nvSpPr>
        <p:spPr>
          <a:xfrm>
            <a:off x="3630854" y="2331720"/>
            <a:ext cx="2122094" cy="457200"/>
          </a:xfrm>
          <a:prstGeom prst="rect">
            <a:avLst/>
          </a:prstGeom>
          <a:noFill/>
          <a:ln/>
        </p:spPr>
        <p:txBody>
          <a:bodyPr wrap="square" lIns="0" tIns="0" rIns="0" bIns="0" rtlCol="0" anchor="t"/>
          <a:lstStyle/>
          <a:p>
            <a:pPr rtl="1" algn="r" indent="0" marL="0">
              <a:buNone/>
            </a:pPr>
            <a:r>
              <a:rPr lang="ar-SA" altLang="en-US" sz="1500" b="1" dirty="0">
                <a:solidFill>
                  <a:srgbClr val="15271C"/>
                </a:solidFill>
                <a:latin typeface="Arial" pitchFamily="34" charset="0"/>
                <a:ea typeface="Arial" pitchFamily="34" charset="-122"/>
                <a:cs typeface="Arial" pitchFamily="34" charset="-120"/>
              </a:rPr>
              <a:t>من 9:00 ص إلى 12:45 م</a:t>
            </a:r>
            <a:endParaRPr lang="ar-SA" sz="1500" dirty="0"/>
          </a:p>
        </p:txBody>
      </p:sp>
      <p:sp>
        <p:nvSpPr>
          <p:cNvPr id="13" name="Shape 11"/>
          <p:cNvSpPr/>
          <p:nvPr/>
        </p:nvSpPr>
        <p:spPr>
          <a:xfrm>
            <a:off x="594360" y="1828800"/>
            <a:ext cx="2579294" cy="1097280"/>
          </a:xfrm>
          <a:prstGeom prst="roundRect">
            <a:avLst>
              <a:gd name="adj" fmla="val 10000"/>
            </a:avLst>
          </a:prstGeom>
          <a:solidFill>
            <a:srgbClr val="FBFCF9"/>
          </a:solidFill>
          <a:ln w="9525">
            <a:solidFill>
              <a:srgbClr val="D6E0D1"/>
            </a:solidFill>
            <a:prstDash val="solid"/>
          </a:ln>
        </p:spPr>
      </p:sp>
      <p:sp>
        <p:nvSpPr>
          <p:cNvPr id="14" name="Text 12"/>
          <p:cNvSpPr txBox="1"/>
          <p:nvPr/>
        </p:nvSpPr>
        <p:spPr>
          <a:xfrm>
            <a:off x="822960" y="1965960"/>
            <a:ext cx="2122094" cy="320040"/>
          </a:xfrm>
          <a:prstGeom prst="rect">
            <a:avLst/>
          </a:prstGeom>
          <a:noFill/>
          <a:ln/>
        </p:spPr>
        <p:txBody>
          <a:bodyPr wrap="square" lIns="0" tIns="0" rIns="0" bIns="0" rtlCol="0" anchor="t"/>
          <a:lstStyle/>
          <a:p>
            <a:pPr rtl="1" algn="r" indent="0" marL="0">
              <a:buNone/>
            </a:pPr>
            <a:r>
              <a:rPr lang="ar-SA" altLang="en-US" sz="1250" dirty="0">
                <a:solidFill>
                  <a:srgbClr val="4F6356"/>
                </a:solidFill>
                <a:latin typeface="Arial" pitchFamily="34" charset="0"/>
                <a:ea typeface="Arial" pitchFamily="34" charset="-122"/>
                <a:cs typeface="Arial" pitchFamily="34" charset="-120"/>
              </a:rPr>
              <a:t>الحضور المتوقع</a:t>
            </a:r>
            <a:endParaRPr lang="ar-SA" sz="1250" dirty="0"/>
          </a:p>
        </p:txBody>
      </p:sp>
      <p:sp>
        <p:nvSpPr>
          <p:cNvPr id="15" name="Text 13"/>
          <p:cNvSpPr txBox="1"/>
          <p:nvPr/>
        </p:nvSpPr>
        <p:spPr>
          <a:xfrm>
            <a:off x="822960" y="2331720"/>
            <a:ext cx="2122094" cy="457200"/>
          </a:xfrm>
          <a:prstGeom prst="rect">
            <a:avLst/>
          </a:prstGeom>
          <a:noFill/>
          <a:ln/>
        </p:spPr>
        <p:txBody>
          <a:bodyPr wrap="square" lIns="0" tIns="0" rIns="0" bIns="0" rtlCol="0" anchor="t"/>
          <a:lstStyle/>
          <a:p>
            <a:pPr rtl="1" algn="r" indent="0" marL="0">
              <a:buNone/>
            </a:pPr>
            <a:r>
              <a:rPr lang="ar-SA" altLang="en-US" sz="1500" b="1" dirty="0">
                <a:solidFill>
                  <a:srgbClr val="15271C"/>
                </a:solidFill>
                <a:latin typeface="Arial" pitchFamily="34" charset="0"/>
                <a:ea typeface="Arial" pitchFamily="34" charset="-122"/>
                <a:cs typeface="Arial" pitchFamily="34" charset="-120"/>
              </a:rPr>
              <a:t>أكثر من 150 مشاركًا</a:t>
            </a:r>
            <a:endParaRPr lang="ar-SA" sz="1500" dirty="0"/>
          </a:p>
        </p:txBody>
      </p:sp>
      <p:sp>
        <p:nvSpPr>
          <p:cNvPr id="16" name="Shape 14"/>
          <p:cNvSpPr/>
          <p:nvPr/>
        </p:nvSpPr>
        <p:spPr>
          <a:xfrm>
            <a:off x="6324448" y="3337560"/>
            <a:ext cx="5272888" cy="713232"/>
          </a:xfrm>
          <a:prstGeom prst="roundRect">
            <a:avLst>
              <a:gd name="adj" fmla="val 15385"/>
            </a:avLst>
          </a:prstGeom>
          <a:solidFill>
            <a:srgbClr val="FBFCF9"/>
          </a:solidFill>
          <a:ln w="9525">
            <a:solidFill>
              <a:srgbClr val="D6E0D1"/>
            </a:solidFill>
            <a:prstDash val="solid"/>
          </a:ln>
        </p:spPr>
      </p:sp>
      <p:sp>
        <p:nvSpPr>
          <p:cNvPr id="17" name="Text 15"/>
          <p:cNvSpPr txBox="1"/>
          <p:nvPr/>
        </p:nvSpPr>
        <p:spPr>
          <a:xfrm>
            <a:off x="9265615" y="3511296"/>
            <a:ext cx="2103120" cy="365760"/>
          </a:xfrm>
          <a:prstGeom prst="rect">
            <a:avLst/>
          </a:prstGeom>
          <a:noFill/>
          <a:ln/>
        </p:spPr>
        <p:txBody>
          <a:bodyPr wrap="square" lIns="0" tIns="0" rIns="0" bIns="0" rtlCol="0" anchor="ctr"/>
          <a:lstStyle/>
          <a:p>
            <a:pPr rtl="1" algn="r" indent="0" marL="0">
              <a:buNone/>
            </a:pPr>
            <a:r>
              <a:rPr lang="ar-SA" altLang="en-US" sz="1250" dirty="0">
                <a:solidFill>
                  <a:srgbClr val="4F6356"/>
                </a:solidFill>
                <a:latin typeface="Arial" pitchFamily="34" charset="0"/>
                <a:ea typeface="Arial" pitchFamily="34" charset="-122"/>
                <a:cs typeface="Arial" pitchFamily="34" charset="-120"/>
              </a:rPr>
              <a:t>الجهة المنظمة</a:t>
            </a:r>
            <a:endParaRPr lang="ar-SA" sz="1250" dirty="0"/>
          </a:p>
        </p:txBody>
      </p:sp>
      <p:sp>
        <p:nvSpPr>
          <p:cNvPr id="18" name="Text 16"/>
          <p:cNvSpPr txBox="1"/>
          <p:nvPr/>
        </p:nvSpPr>
        <p:spPr>
          <a:xfrm>
            <a:off x="6553048" y="3511296"/>
            <a:ext cx="2575408" cy="365760"/>
          </a:xfrm>
          <a:prstGeom prst="rect">
            <a:avLst/>
          </a:prstGeom>
          <a:noFill/>
          <a:ln/>
        </p:spPr>
        <p:txBody>
          <a:bodyPr wrap="square" lIns="0" tIns="0" rIns="0" bIns="0" rtlCol="0" anchor="ctr"/>
          <a:lstStyle/>
          <a:p>
            <a:pPr rtl="1" algn="r" indent="0" marL="0">
              <a:buNone/>
            </a:pPr>
            <a:r>
              <a:rPr lang="ar-SA" altLang="en-US" sz="1450" b="1" dirty="0">
                <a:solidFill>
                  <a:srgbClr val="15271C"/>
                </a:solidFill>
                <a:latin typeface="Arial" pitchFamily="34" charset="0"/>
                <a:ea typeface="Arial" pitchFamily="34" charset="-122"/>
                <a:cs typeface="Arial" pitchFamily="34" charset="-120"/>
              </a:rPr>
              <a:t>جمعية المسؤولية البيئية الأهلية</a:t>
            </a:r>
            <a:endParaRPr lang="ar-SA" sz="1450" dirty="0"/>
          </a:p>
        </p:txBody>
      </p:sp>
      <p:sp>
        <p:nvSpPr>
          <p:cNvPr id="19" name="Shape 17"/>
          <p:cNvSpPr/>
          <p:nvPr/>
        </p:nvSpPr>
        <p:spPr>
          <a:xfrm>
            <a:off x="6324448" y="4206240"/>
            <a:ext cx="5272888" cy="713232"/>
          </a:xfrm>
          <a:prstGeom prst="roundRect">
            <a:avLst>
              <a:gd name="adj" fmla="val 15385"/>
            </a:avLst>
          </a:prstGeom>
          <a:solidFill>
            <a:srgbClr val="FBFCF9"/>
          </a:solidFill>
          <a:ln w="9525">
            <a:solidFill>
              <a:srgbClr val="D6E0D1"/>
            </a:solidFill>
            <a:prstDash val="solid"/>
          </a:ln>
        </p:spPr>
      </p:sp>
      <p:sp>
        <p:nvSpPr>
          <p:cNvPr id="20" name="Text 18"/>
          <p:cNvSpPr txBox="1"/>
          <p:nvPr/>
        </p:nvSpPr>
        <p:spPr>
          <a:xfrm>
            <a:off x="9265615" y="4379976"/>
            <a:ext cx="2103120" cy="365760"/>
          </a:xfrm>
          <a:prstGeom prst="rect">
            <a:avLst/>
          </a:prstGeom>
          <a:noFill/>
          <a:ln/>
        </p:spPr>
        <p:txBody>
          <a:bodyPr wrap="square" lIns="0" tIns="0" rIns="0" bIns="0" rtlCol="0" anchor="ctr"/>
          <a:lstStyle/>
          <a:p>
            <a:pPr rtl="1" algn="r" indent="0" marL="0">
              <a:buNone/>
            </a:pPr>
            <a:r>
              <a:rPr lang="ar-SA" altLang="en-US" sz="1250" dirty="0">
                <a:solidFill>
                  <a:srgbClr val="4F6356"/>
                </a:solidFill>
                <a:latin typeface="Arial" pitchFamily="34" charset="0"/>
                <a:ea typeface="Arial" pitchFamily="34" charset="-122"/>
                <a:cs typeface="Arial" pitchFamily="34" charset="-120"/>
              </a:rPr>
              <a:t>الإشراف الفني</a:t>
            </a:r>
            <a:endParaRPr lang="ar-SA" sz="1250" dirty="0"/>
          </a:p>
        </p:txBody>
      </p:sp>
      <p:sp>
        <p:nvSpPr>
          <p:cNvPr id="21" name="Text 19"/>
          <p:cNvSpPr txBox="1"/>
          <p:nvPr/>
        </p:nvSpPr>
        <p:spPr>
          <a:xfrm>
            <a:off x="6553048" y="4379976"/>
            <a:ext cx="2575408" cy="365760"/>
          </a:xfrm>
          <a:prstGeom prst="rect">
            <a:avLst/>
          </a:prstGeom>
          <a:noFill/>
          <a:ln/>
        </p:spPr>
        <p:txBody>
          <a:bodyPr wrap="square" lIns="0" tIns="0" rIns="0" bIns="0" rtlCol="0" anchor="ctr"/>
          <a:lstStyle/>
          <a:p>
            <a:pPr rtl="1" algn="r" indent="0" marL="0">
              <a:buNone/>
            </a:pPr>
            <a:r>
              <a:rPr lang="ar-SA" altLang="en-US" sz="1450" b="1" dirty="0">
                <a:solidFill>
                  <a:srgbClr val="15271C"/>
                </a:solidFill>
                <a:latin typeface="Arial" pitchFamily="34" charset="0"/>
                <a:ea typeface="Arial" pitchFamily="34" charset="-122"/>
                <a:cs typeface="Arial" pitchFamily="34" charset="-120"/>
              </a:rPr>
              <a:t>وزارة البيئة والمياه والزراعة</a:t>
            </a:r>
            <a:endParaRPr lang="ar-SA" sz="1450" dirty="0"/>
          </a:p>
        </p:txBody>
      </p:sp>
      <p:sp>
        <p:nvSpPr>
          <p:cNvPr id="22" name="Shape 20"/>
          <p:cNvSpPr/>
          <p:nvPr/>
        </p:nvSpPr>
        <p:spPr>
          <a:xfrm>
            <a:off x="6324448" y="5074920"/>
            <a:ext cx="5272888" cy="713232"/>
          </a:xfrm>
          <a:prstGeom prst="roundRect">
            <a:avLst>
              <a:gd name="adj" fmla="val 15385"/>
            </a:avLst>
          </a:prstGeom>
          <a:solidFill>
            <a:srgbClr val="FBFCF9"/>
          </a:solidFill>
          <a:ln w="9525">
            <a:solidFill>
              <a:srgbClr val="D6E0D1"/>
            </a:solidFill>
            <a:prstDash val="solid"/>
          </a:ln>
        </p:spPr>
      </p:sp>
      <p:sp>
        <p:nvSpPr>
          <p:cNvPr id="23" name="Text 21"/>
          <p:cNvSpPr txBox="1"/>
          <p:nvPr/>
        </p:nvSpPr>
        <p:spPr>
          <a:xfrm>
            <a:off x="9265615" y="5248656"/>
            <a:ext cx="2103120" cy="365760"/>
          </a:xfrm>
          <a:prstGeom prst="rect">
            <a:avLst/>
          </a:prstGeom>
          <a:noFill/>
          <a:ln/>
        </p:spPr>
        <p:txBody>
          <a:bodyPr wrap="square" lIns="0" tIns="0" rIns="0" bIns="0" rtlCol="0" anchor="ctr"/>
          <a:lstStyle/>
          <a:p>
            <a:pPr rtl="1" algn="r" indent="0" marL="0">
              <a:buNone/>
            </a:pPr>
            <a:r>
              <a:rPr lang="ar-SA" altLang="en-US" sz="1250" dirty="0">
                <a:solidFill>
                  <a:srgbClr val="4F6356"/>
                </a:solidFill>
                <a:latin typeface="Arial" pitchFamily="34" charset="0"/>
                <a:ea typeface="Arial" pitchFamily="34" charset="-122"/>
                <a:cs typeface="Arial" pitchFamily="34" charset="-120"/>
              </a:rPr>
              <a:t>الإشراف التنظيمي</a:t>
            </a:r>
            <a:endParaRPr lang="ar-SA" sz="1250" dirty="0"/>
          </a:p>
        </p:txBody>
      </p:sp>
      <p:sp>
        <p:nvSpPr>
          <p:cNvPr id="24" name="Text 22"/>
          <p:cNvSpPr txBox="1"/>
          <p:nvPr/>
        </p:nvSpPr>
        <p:spPr>
          <a:xfrm>
            <a:off x="6553048" y="5248656"/>
            <a:ext cx="2575408" cy="365760"/>
          </a:xfrm>
          <a:prstGeom prst="rect">
            <a:avLst/>
          </a:prstGeom>
          <a:noFill/>
          <a:ln/>
        </p:spPr>
        <p:txBody>
          <a:bodyPr wrap="square" lIns="0" tIns="0" rIns="0" bIns="0" rtlCol="0" anchor="ctr"/>
          <a:lstStyle/>
          <a:p>
            <a:pPr rtl="1" algn="r" indent="0" marL="0">
              <a:buNone/>
            </a:pPr>
            <a:r>
              <a:rPr lang="ar-SA" altLang="en-US" sz="1450" b="1" dirty="0">
                <a:solidFill>
                  <a:srgbClr val="15271C"/>
                </a:solidFill>
                <a:latin typeface="Arial" pitchFamily="34" charset="0"/>
                <a:ea typeface="Arial" pitchFamily="34" charset="-122"/>
                <a:cs typeface="Arial" pitchFamily="34" charset="-120"/>
              </a:rPr>
              <a:t>الإدارة العامة لمنظمات القطاع غير الربحي</a:t>
            </a:r>
            <a:endParaRPr lang="ar-SA" sz="1450" dirty="0"/>
          </a:p>
        </p:txBody>
      </p:sp>
      <p:sp>
        <p:nvSpPr>
          <p:cNvPr id="25" name="Shape 23"/>
          <p:cNvSpPr/>
          <p:nvPr/>
        </p:nvSpPr>
        <p:spPr>
          <a:xfrm>
            <a:off x="594360" y="3337560"/>
            <a:ext cx="5272888" cy="713232"/>
          </a:xfrm>
          <a:prstGeom prst="roundRect">
            <a:avLst>
              <a:gd name="adj" fmla="val 15385"/>
            </a:avLst>
          </a:prstGeom>
          <a:solidFill>
            <a:srgbClr val="FBFCF9"/>
          </a:solidFill>
          <a:ln w="9525">
            <a:solidFill>
              <a:srgbClr val="D6E0D1"/>
            </a:solidFill>
            <a:prstDash val="solid"/>
          </a:ln>
        </p:spPr>
      </p:sp>
      <p:sp>
        <p:nvSpPr>
          <p:cNvPr id="26" name="Text 24"/>
          <p:cNvSpPr txBox="1"/>
          <p:nvPr/>
        </p:nvSpPr>
        <p:spPr>
          <a:xfrm>
            <a:off x="3535528" y="3511296"/>
            <a:ext cx="2103120" cy="365760"/>
          </a:xfrm>
          <a:prstGeom prst="rect">
            <a:avLst/>
          </a:prstGeom>
          <a:noFill/>
          <a:ln/>
        </p:spPr>
        <p:txBody>
          <a:bodyPr wrap="square" lIns="0" tIns="0" rIns="0" bIns="0" rtlCol="0" anchor="ctr"/>
          <a:lstStyle/>
          <a:p>
            <a:pPr rtl="1" algn="r" indent="0" marL="0">
              <a:buNone/>
            </a:pPr>
            <a:r>
              <a:rPr lang="ar-SA" altLang="en-US" sz="1250" dirty="0">
                <a:solidFill>
                  <a:srgbClr val="4F6356"/>
                </a:solidFill>
                <a:latin typeface="Arial" pitchFamily="34" charset="0"/>
                <a:ea typeface="Arial" pitchFamily="34" charset="-122"/>
                <a:cs typeface="Arial" pitchFamily="34" charset="-120"/>
              </a:rPr>
              <a:t>الراعي الرسمي المستهدف</a:t>
            </a:r>
            <a:endParaRPr lang="ar-SA" sz="1250" dirty="0"/>
          </a:p>
        </p:txBody>
      </p:sp>
      <p:sp>
        <p:nvSpPr>
          <p:cNvPr id="27" name="Text 25"/>
          <p:cNvSpPr txBox="1"/>
          <p:nvPr/>
        </p:nvSpPr>
        <p:spPr>
          <a:xfrm>
            <a:off x="822960" y="3511296"/>
            <a:ext cx="2575408" cy="365760"/>
          </a:xfrm>
          <a:prstGeom prst="rect">
            <a:avLst/>
          </a:prstGeom>
          <a:noFill/>
          <a:ln/>
        </p:spPr>
        <p:txBody>
          <a:bodyPr wrap="square" lIns="0" tIns="0" rIns="0" bIns="0" rtlCol="0" anchor="ctr"/>
          <a:lstStyle/>
          <a:p>
            <a:pPr rtl="1" algn="r" indent="0" marL="0">
              <a:buNone/>
            </a:pPr>
            <a:r>
              <a:rPr lang="ar-SA" altLang="en-US" sz="1450" b="1" dirty="0">
                <a:solidFill>
                  <a:srgbClr val="15271C"/>
                </a:solidFill>
                <a:latin typeface="Arial" pitchFamily="34" charset="0"/>
                <a:ea typeface="Arial" pitchFamily="34" charset="-122"/>
                <a:cs typeface="Arial" pitchFamily="34" charset="-120"/>
              </a:rPr>
              <a:t>م. منصور المشيطي — نائب الوزير</a:t>
            </a:r>
            <a:endParaRPr lang="ar-SA" sz="1450" dirty="0"/>
          </a:p>
        </p:txBody>
      </p:sp>
      <p:sp>
        <p:nvSpPr>
          <p:cNvPr id="28" name="Shape 26"/>
          <p:cNvSpPr/>
          <p:nvPr/>
        </p:nvSpPr>
        <p:spPr>
          <a:xfrm>
            <a:off x="594360" y="4206240"/>
            <a:ext cx="5272888" cy="713232"/>
          </a:xfrm>
          <a:prstGeom prst="roundRect">
            <a:avLst>
              <a:gd name="adj" fmla="val 15385"/>
            </a:avLst>
          </a:prstGeom>
          <a:solidFill>
            <a:srgbClr val="FBFCF9"/>
          </a:solidFill>
          <a:ln w="9525">
            <a:solidFill>
              <a:srgbClr val="D6E0D1"/>
            </a:solidFill>
            <a:prstDash val="solid"/>
          </a:ln>
        </p:spPr>
      </p:sp>
      <p:sp>
        <p:nvSpPr>
          <p:cNvPr id="29" name="Text 27"/>
          <p:cNvSpPr txBox="1"/>
          <p:nvPr/>
        </p:nvSpPr>
        <p:spPr>
          <a:xfrm>
            <a:off x="3535528" y="4379976"/>
            <a:ext cx="2103120" cy="365760"/>
          </a:xfrm>
          <a:prstGeom prst="rect">
            <a:avLst/>
          </a:prstGeom>
          <a:noFill/>
          <a:ln/>
        </p:spPr>
        <p:txBody>
          <a:bodyPr wrap="square" lIns="0" tIns="0" rIns="0" bIns="0" rtlCol="0" anchor="ctr"/>
          <a:lstStyle/>
          <a:p>
            <a:pPr rtl="1" algn="r" indent="0" marL="0">
              <a:buNone/>
            </a:pPr>
            <a:r>
              <a:rPr lang="ar-SA" altLang="en-US" sz="1250" dirty="0">
                <a:solidFill>
                  <a:srgbClr val="4F6356"/>
                </a:solidFill>
                <a:latin typeface="Arial" pitchFamily="34" charset="0"/>
                <a:ea typeface="Arial" pitchFamily="34" charset="-122"/>
                <a:cs typeface="Arial" pitchFamily="34" charset="-120"/>
              </a:rPr>
              <a:t>الشريك الاستراتيجي</a:t>
            </a:r>
            <a:endParaRPr lang="ar-SA" sz="1250" dirty="0"/>
          </a:p>
        </p:txBody>
      </p:sp>
      <p:sp>
        <p:nvSpPr>
          <p:cNvPr id="30" name="Text 28"/>
          <p:cNvSpPr txBox="1"/>
          <p:nvPr/>
        </p:nvSpPr>
        <p:spPr>
          <a:xfrm>
            <a:off x="822960" y="4379976"/>
            <a:ext cx="2575408" cy="365760"/>
          </a:xfrm>
          <a:prstGeom prst="rect">
            <a:avLst/>
          </a:prstGeom>
          <a:noFill/>
          <a:ln/>
        </p:spPr>
        <p:txBody>
          <a:bodyPr wrap="square" lIns="0" tIns="0" rIns="0" bIns="0" rtlCol="0" anchor="ctr"/>
          <a:lstStyle/>
          <a:p>
            <a:pPr rtl="1" algn="r" indent="0" marL="0">
              <a:buNone/>
            </a:pPr>
            <a:r>
              <a:rPr lang="ar-SA" altLang="en-US" sz="1450" b="1" dirty="0">
                <a:solidFill>
                  <a:srgbClr val="15271C"/>
                </a:solidFill>
                <a:latin typeface="Arial" pitchFamily="34" charset="0"/>
                <a:ea typeface="Arial" pitchFamily="34" charset="-122"/>
                <a:cs typeface="Arial" pitchFamily="34" charset="-120"/>
              </a:rPr>
              <a:t>الإدارة العامة للتعليم بمنطقة الرياض</a:t>
            </a:r>
            <a:endParaRPr lang="ar-SA" sz="1450" dirty="0"/>
          </a:p>
        </p:txBody>
      </p:sp>
      <p:sp>
        <p:nvSpPr>
          <p:cNvPr id="31" name="Shape 29"/>
          <p:cNvSpPr/>
          <p:nvPr/>
        </p:nvSpPr>
        <p:spPr>
          <a:xfrm>
            <a:off x="594360" y="5074920"/>
            <a:ext cx="5272888" cy="713232"/>
          </a:xfrm>
          <a:prstGeom prst="roundRect">
            <a:avLst>
              <a:gd name="adj" fmla="val 15385"/>
            </a:avLst>
          </a:prstGeom>
          <a:solidFill>
            <a:srgbClr val="FBFCF9"/>
          </a:solidFill>
          <a:ln w="9525">
            <a:solidFill>
              <a:srgbClr val="D6E0D1"/>
            </a:solidFill>
            <a:prstDash val="solid"/>
          </a:ln>
        </p:spPr>
      </p:sp>
      <p:sp>
        <p:nvSpPr>
          <p:cNvPr id="32" name="Text 30"/>
          <p:cNvSpPr txBox="1"/>
          <p:nvPr/>
        </p:nvSpPr>
        <p:spPr>
          <a:xfrm>
            <a:off x="3535528" y="5248656"/>
            <a:ext cx="2103120" cy="365760"/>
          </a:xfrm>
          <a:prstGeom prst="rect">
            <a:avLst/>
          </a:prstGeom>
          <a:noFill/>
          <a:ln/>
        </p:spPr>
        <p:txBody>
          <a:bodyPr wrap="square" lIns="0" tIns="0" rIns="0" bIns="0" rtlCol="0" anchor="ctr"/>
          <a:lstStyle/>
          <a:p>
            <a:pPr rtl="1" algn="r" indent="0" marL="0">
              <a:buNone/>
            </a:pPr>
            <a:r>
              <a:rPr lang="ar-SA" altLang="en-US" sz="1250" dirty="0">
                <a:solidFill>
                  <a:srgbClr val="4F6356"/>
                </a:solidFill>
                <a:latin typeface="Arial" pitchFamily="34" charset="0"/>
                <a:ea typeface="Arial" pitchFamily="34" charset="-122"/>
                <a:cs typeface="Arial" pitchFamily="34" charset="-120"/>
              </a:rPr>
              <a:t>الشريك المجتمعي</a:t>
            </a:r>
            <a:endParaRPr lang="ar-SA" sz="1250" dirty="0"/>
          </a:p>
        </p:txBody>
      </p:sp>
      <p:sp>
        <p:nvSpPr>
          <p:cNvPr id="33" name="Text 31"/>
          <p:cNvSpPr txBox="1"/>
          <p:nvPr/>
        </p:nvSpPr>
        <p:spPr>
          <a:xfrm>
            <a:off x="822960" y="5248656"/>
            <a:ext cx="2575408" cy="365760"/>
          </a:xfrm>
          <a:prstGeom prst="rect">
            <a:avLst/>
          </a:prstGeom>
          <a:noFill/>
          <a:ln/>
        </p:spPr>
        <p:txBody>
          <a:bodyPr wrap="square" lIns="0" tIns="0" rIns="0" bIns="0" rtlCol="0" anchor="ctr"/>
          <a:lstStyle/>
          <a:p>
            <a:pPr rtl="1" algn="r" indent="0" marL="0">
              <a:buNone/>
            </a:pPr>
            <a:r>
              <a:rPr lang="ar-SA" altLang="en-US" sz="1450" b="1" dirty="0">
                <a:solidFill>
                  <a:srgbClr val="15271C"/>
                </a:solidFill>
                <a:latin typeface="Arial" pitchFamily="34" charset="0"/>
                <a:ea typeface="Arial" pitchFamily="34" charset="-122"/>
                <a:cs typeface="Arial" pitchFamily="34" charset="-120"/>
              </a:rPr>
              <a:t>جمعية المسؤولية المجتمعية</a:t>
            </a:r>
            <a:endParaRPr lang="ar-SA" sz="1450" dirty="0"/>
          </a:p>
        </p:txBody>
      </p:sp>
      <p:sp>
        <p:nvSpPr>
          <p:cNvPr id="35" name="Text 32"/>
          <p:cNvSpPr txBox="1"/>
          <p:nvPr/>
        </p:nvSpPr>
        <p:spPr>
          <a:xfrm>
            <a:off x="594360" y="6355080"/>
            <a:ext cx="914400" cy="274320"/>
          </a:xfrm>
          <a:prstGeom prst="rect">
            <a:avLst/>
          </a:prstGeom>
          <a:noFill/>
          <a:ln/>
        </p:spPr>
        <p:txBody>
          <a:bodyPr wrap="square" lIns="0" tIns="0" rIns="0" bIns="0" rtlCol="0" anchor="t"/>
          <a:lstStyle/>
          <a:p>
            <a:pPr algn="l" indent="0" marL="0">
              <a:buNone/>
            </a:pPr>
            <a:r>
              <a:rPr lang="ar-SA" altLang="en-US" sz="1100" dirty="0">
                <a:solidFill>
                  <a:srgbClr val="6B7D70"/>
                </a:solidFill>
                <a:latin typeface="Arial" pitchFamily="34" charset="0"/>
                <a:ea typeface="Arial" pitchFamily="34" charset="-122"/>
                <a:cs typeface="Arial" pitchFamily="34" charset="-120"/>
              </a:rPr>
              <a:t>13</a:t>
            </a:r>
            <a:endParaRPr lang="ar-SA" sz="1100" dirty="0"/>
          </a:p>
        </p:txBody>
      </p:sp>
      <p:sp>
        <p:nvSpPr>
          <p:cNvPr id="36" name="Text 33"/>
          <p:cNvSpPr txBox="1"/>
          <p:nvPr/>
        </p:nvSpPr>
        <p:spPr>
          <a:xfrm>
            <a:off x="7025335" y="6355080"/>
            <a:ext cx="4572000" cy="274320"/>
          </a:xfrm>
          <a:prstGeom prst="rect">
            <a:avLst/>
          </a:prstGeom>
          <a:noFill/>
          <a:ln/>
        </p:spPr>
        <p:txBody>
          <a:bodyPr wrap="square" lIns="0" tIns="0" rIns="0" bIns="0" rtlCol="0" anchor="t"/>
          <a:lstStyle/>
          <a:p>
            <a:pPr rtl="1" algn="r" indent="0" marL="0">
              <a:buNone/>
            </a:pPr>
            <a:r>
              <a:rPr lang="ar-SA" altLang="en-US" sz="1100" dirty="0">
                <a:solidFill>
                  <a:srgbClr val="6B7D70"/>
                </a:solidFill>
                <a:latin typeface="Arial" pitchFamily="34" charset="0"/>
                <a:ea typeface="Arial" pitchFamily="34" charset="-122"/>
                <a:cs typeface="Arial" pitchFamily="34" charset="-120"/>
              </a:rPr>
              <a:t>مبادرة الأثر الأخضر المستدام</a:t>
            </a:r>
            <a:endParaRPr lang="ar-SA"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1"/>
        </a:solidFill>
      </p:bgPr>
    </p:bg>
    <p:spTree>
      <p:nvGrpSpPr>
        <p:cNvPr id="1" name=""/>
        <p:cNvGrpSpPr/>
        <p:nvPr/>
      </p:nvGrpSpPr>
      <p:grpSpPr>
        <a:xfrm>
          <a:off x="0" y="0"/>
          <a:ext cx="0" cy="0"/>
          <a:chOff x="0" y="0"/>
          <a:chExt cx="0" cy="0"/>
        </a:xfrm>
      </p:grpSpPr>
      <p:sp>
        <p:nvSpPr>
          <p:cNvPr id="2" name="Text 0"/>
          <p:cNvSpPr txBox="1"/>
          <p:nvPr/>
        </p:nvSpPr>
        <p:spPr>
          <a:xfrm>
            <a:off x="594360" y="548640"/>
            <a:ext cx="11002975" cy="731520"/>
          </a:xfrm>
          <a:prstGeom prst="rect">
            <a:avLst/>
          </a:prstGeom>
          <a:noFill/>
          <a:ln/>
        </p:spPr>
        <p:txBody>
          <a:bodyPr wrap="square" lIns="0" tIns="0" rIns="0" bIns="0" rtlCol="0" anchor="t"/>
          <a:lstStyle/>
          <a:p>
            <a:pPr rtl="1" algn="r" indent="0" marL="0">
              <a:buNone/>
            </a:pPr>
            <a:r>
              <a:rPr lang="ar-SA" altLang="en-US" sz="3600" b="1" dirty="0">
                <a:solidFill>
                  <a:srgbClr val="1E5E36"/>
                </a:solidFill>
                <a:latin typeface="Arial" pitchFamily="34" charset="0"/>
                <a:ea typeface="Arial" pitchFamily="34" charset="-122"/>
                <a:cs typeface="Arial" pitchFamily="34" charset="-120"/>
              </a:rPr>
              <a:t>البرنامج الرسمي للملتقى</a:t>
            </a:r>
            <a:endParaRPr lang="ar-SA" sz="36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324448" y="1508760"/>
          <a:ext cx="5272888" cy="914400"/>
        </p:xfrm>
        <a:graphic>
          <a:graphicData uri="http://schemas.openxmlformats.org/drawingml/2006/table">
            <a:tbl>
              <a:tblPr/>
              <a:tblGrid>
                <a:gridCol w="3992728"/>
                <a:gridCol w="1280160"/>
              </a:tblGrid>
              <a:tr h="374904">
                <a:tc>
                  <a:txBody>
                    <a:bodyPr/>
                    <a:lstStyle/>
                    <a:p>
                      <a:pPr rtl="1" algn="r" indent="0" marL="0">
                        <a:buNone/>
                      </a:pPr>
                      <a:r>
                        <a:rPr lang="en-US" sz="1300" b="1" dirty="0">
                          <a:solidFill>
                            <a:srgbClr val="FFFFFF"/>
                          </a:solidFill>
                          <a:latin typeface="Arial" pitchFamily="34" charset="0"/>
                          <a:ea typeface="Arial" pitchFamily="34" charset="-122"/>
                          <a:cs typeface="Arial" pitchFamily="34" charset="-120"/>
                        </a:rPr>
                        <a:t>الفقرة</a:t>
                      </a:r>
                      <a:endParaRPr lang="en-US" sz="1300" dirty="0">
                        <a:latin typeface="Arial" charset="0"/>
                        <a:ea typeface="Arial" charset="0"/>
                        <a:cs typeface="Arial" charset="0"/>
                      </a:endParaRPr>
                    </a:p>
                  </a:txBody>
                  <a:tcPr marL="7315200" marR="7315200" marT="0" marB="0" anchor="ctr">
                    <a:lnL w="6350" cap="flat" cmpd="sng" algn="ctr">
                      <a:solidFill>
                        <a:srgbClr val="D6E0D1"/>
                      </a:solidFill>
                      <a:prstDash val="solid"/>
                      <a:round/>
                      <a:headEnd type="none" w="med" len="med"/>
                      <a:tailEnd type="none" w="med" len="med"/>
                    </a:lnL>
                    <a:lnR w="6350" cap="flat" cmpd="sng" algn="ctr">
                      <a:solidFill>
                        <a:srgbClr val="D6E0D1"/>
                      </a:solidFill>
                      <a:prstDash val="solid"/>
                      <a:round/>
                      <a:headEnd type="none" w="med" len="med"/>
                      <a:tailEnd type="none" w="med" len="med"/>
                    </a:lnR>
                    <a:lnT w="6350" cap="flat" cmpd="sng" algn="ctr">
                      <a:solidFill>
                        <a:srgbClr val="D6E0D1"/>
                      </a:solidFill>
                      <a:prstDash val="solid"/>
                      <a:round/>
                      <a:headEnd type="none" w="med" len="med"/>
                      <a:tailEnd type="none" w="med" len="med"/>
                    </a:lnT>
                    <a:lnB w="6350" cap="flat" cmpd="sng" algn="ctr">
                      <a:solidFill>
                        <a:srgbClr val="D6E0D1"/>
                      </a:solidFill>
                      <a:prstDash val="solid"/>
                      <a:round/>
                      <a:headEnd type="none" w="med" len="med"/>
                      <a:tailEnd type="none" w="med" len="med"/>
                    </a:lnB>
                    <a:solidFill>
                      <a:srgbClr val="1E5E36"/>
                    </a:solidFill>
                  </a:tcPr>
                </a:tc>
                <a:tc>
                  <a:txBody>
                    <a:bodyPr/>
                    <a:lstStyle/>
                    <a:p>
                      <a:pPr rtl="1" algn="r" indent="0" marL="0">
                        <a:buNone/>
                      </a:pPr>
                      <a:r>
                        <a:rPr lang="en-US" sz="1300" b="1" dirty="0">
                          <a:solidFill>
                            <a:srgbClr val="FFFFFF"/>
                          </a:solidFill>
                          <a:latin typeface="Arial" pitchFamily="34" charset="0"/>
                          <a:ea typeface="Arial" pitchFamily="34" charset="-122"/>
                          <a:cs typeface="Arial" pitchFamily="34" charset="-120"/>
                        </a:rPr>
                        <a:t>الوقت</a:t>
                      </a:r>
                      <a:endParaRPr lang="en-US" sz="1300" dirty="0">
                        <a:latin typeface="Arial" charset="0"/>
                        <a:ea typeface="Arial" charset="0"/>
                        <a:cs typeface="Arial" charset="0"/>
                      </a:endParaRPr>
                    </a:p>
                  </a:txBody>
                  <a:tcPr marL="7315200" marR="7315200" marT="0" marB="0" anchor="ctr">
                    <a:lnL w="6350" cap="flat" cmpd="sng" algn="ctr">
                      <a:solidFill>
                        <a:srgbClr val="D6E0D1"/>
                      </a:solidFill>
                      <a:prstDash val="solid"/>
                      <a:round/>
                      <a:headEnd type="none" w="med" len="med"/>
                      <a:tailEnd type="none" w="med" len="med"/>
                    </a:lnL>
                    <a:lnR w="6350" cap="flat" cmpd="sng" algn="ctr">
                      <a:solidFill>
                        <a:srgbClr val="D6E0D1"/>
                      </a:solidFill>
                      <a:prstDash val="solid"/>
                      <a:round/>
                      <a:headEnd type="none" w="med" len="med"/>
                      <a:tailEnd type="none" w="med" len="med"/>
                    </a:lnR>
                    <a:lnT w="6350" cap="flat" cmpd="sng" algn="ctr">
                      <a:solidFill>
                        <a:srgbClr val="D6E0D1"/>
                      </a:solidFill>
                      <a:prstDash val="solid"/>
                      <a:round/>
                      <a:headEnd type="none" w="med" len="med"/>
                      <a:tailEnd type="none" w="med" len="med"/>
                    </a:lnT>
                    <a:lnB w="6350" cap="flat" cmpd="sng" algn="ctr">
                      <a:solidFill>
                        <a:srgbClr val="D6E0D1"/>
                      </a:solidFill>
                      <a:prstDash val="solid"/>
                      <a:round/>
                      <a:headEnd type="none" w="med" len="med"/>
                      <a:tailEnd type="none" w="med" len="med"/>
                    </a:lnB>
                    <a:solidFill>
                      <a:srgbClr val="1E5E36"/>
                    </a:solidFill>
                  </a:tcPr>
                </a:tc>
              </a:tr>
              <a:tr h="374904">
                <a:tc>
                  <a:txBody>
                    <a:bodyPr/>
                    <a:lstStyle/>
                    <a:p>
                      <a:pPr rtl="1" algn="r" indent="0" marL="0">
                        <a:buNone/>
                      </a:pPr>
                      <a:r>
                        <a:rPr lang="en-US" sz="1300" dirty="0">
                          <a:solidFill>
                            <a:srgbClr val="15271C"/>
                          </a:solidFill>
                          <a:latin typeface="Arial" pitchFamily="34" charset="0"/>
                          <a:ea typeface="Arial" pitchFamily="34" charset="-122"/>
                          <a:cs typeface="Arial" pitchFamily="34" charset="-120"/>
                        </a:rPr>
                        <a:t>استقبال الضيوف والتسجيل</a:t>
                      </a:r>
                      <a:endParaRPr lang="en-US" sz="1300" dirty="0">
                        <a:latin typeface="Arial" charset="0"/>
                        <a:ea typeface="Arial" charset="0"/>
                        <a:cs typeface="Arial" charset="0"/>
                      </a:endParaRPr>
                    </a:p>
                  </a:txBody>
                  <a:tcPr marL="7315200" marR="7315200" marT="0" marB="0" anchor="ctr">
                    <a:lnL w="6350" cap="flat" cmpd="sng" algn="ctr">
                      <a:solidFill>
                        <a:srgbClr val="D6E0D1"/>
                      </a:solidFill>
                      <a:prstDash val="solid"/>
                      <a:round/>
                      <a:headEnd type="none" w="med" len="med"/>
                      <a:tailEnd type="none" w="med" len="med"/>
                    </a:lnL>
                    <a:lnR w="6350" cap="flat" cmpd="sng" algn="ctr">
                      <a:solidFill>
                        <a:srgbClr val="D6E0D1"/>
                      </a:solidFill>
                      <a:prstDash val="solid"/>
                      <a:round/>
                      <a:headEnd type="none" w="med" len="med"/>
                      <a:tailEnd type="none" w="med" len="med"/>
                    </a:lnR>
                    <a:lnT w="6350" cap="flat" cmpd="sng" algn="ctr">
                      <a:solidFill>
                        <a:srgbClr val="D6E0D1"/>
                      </a:solidFill>
                      <a:prstDash val="solid"/>
                      <a:round/>
                      <a:headEnd type="none" w="med" len="med"/>
                      <a:tailEnd type="none" w="med" len="med"/>
                    </a:lnT>
                    <a:lnB w="6350" cap="flat" cmpd="sng" algn="ctr">
                      <a:solidFill>
                        <a:srgbClr val="D6E0D1"/>
                      </a:solidFill>
                      <a:prstDash val="solid"/>
                      <a:round/>
                      <a:headEnd type="none" w="med" len="med"/>
                      <a:tailEnd type="none" w="med" len="med"/>
                    </a:lnB>
                    <a:solidFill>
                      <a:srgbClr val="FBFCF9"/>
                    </a:solidFill>
                  </a:tcPr>
                </a:tc>
                <a:tc>
                  <a:txBody>
                    <a:bodyPr/>
                    <a:lstStyle/>
                    <a:p>
                      <a:pPr rtl="1" algn="r" indent="0" marL="0">
                        <a:buNone/>
                      </a:pPr>
                      <a:r>
                        <a:rPr lang="en-US" sz="1300" b="1" dirty="0">
                          <a:solidFill>
                            <a:srgbClr val="1E5E36"/>
                          </a:solidFill>
                          <a:latin typeface="Arial" pitchFamily="34" charset="0"/>
                          <a:ea typeface="Arial" pitchFamily="34" charset="-122"/>
                          <a:cs typeface="Arial" pitchFamily="34" charset="-120"/>
                        </a:rPr>
                        <a:t>8:45 ص</a:t>
                      </a:r>
                      <a:endParaRPr lang="en-US" sz="1300" dirty="0">
                        <a:latin typeface="Arial" charset="0"/>
                        <a:ea typeface="Arial" charset="0"/>
                        <a:cs typeface="Arial" charset="0"/>
                      </a:endParaRPr>
                    </a:p>
                  </a:txBody>
                  <a:tcPr marL="7315200" marR="7315200" marT="0" marB="0" anchor="ctr">
                    <a:lnL w="6350" cap="flat" cmpd="sng" algn="ctr">
                      <a:solidFill>
                        <a:srgbClr val="D6E0D1"/>
                      </a:solidFill>
                      <a:prstDash val="solid"/>
                      <a:round/>
                      <a:headEnd type="none" w="med" len="med"/>
                      <a:tailEnd type="none" w="med" len="med"/>
                    </a:lnL>
                    <a:lnR w="6350" cap="flat" cmpd="sng" algn="ctr">
                      <a:solidFill>
                        <a:srgbClr val="D6E0D1"/>
                      </a:solidFill>
                      <a:prstDash val="solid"/>
                      <a:round/>
                      <a:headEnd type="none" w="med" len="med"/>
                      <a:tailEnd type="none" w="med" len="med"/>
                    </a:lnR>
                    <a:lnT w="6350" cap="flat" cmpd="sng" algn="ctr">
                      <a:solidFill>
                        <a:srgbClr val="D6E0D1"/>
                      </a:solidFill>
                      <a:prstDash val="solid"/>
                      <a:round/>
                      <a:headEnd type="none" w="med" len="med"/>
                      <a:tailEnd type="none" w="med" len="med"/>
                    </a:lnT>
                    <a:lnB w="6350" cap="flat" cmpd="sng" algn="ctr">
                      <a:solidFill>
                        <a:srgbClr val="D6E0D1"/>
                      </a:solidFill>
                      <a:prstDash val="solid"/>
                      <a:round/>
                      <a:headEnd type="none" w="med" len="med"/>
                      <a:tailEnd type="none" w="med" len="med"/>
                    </a:lnB>
                    <a:solidFill>
                      <a:srgbClr val="FBFCF9"/>
                    </a:solidFill>
                  </a:tcPr>
                </a:tc>
              </a:tr>
              <a:tr h="374904">
                <a:tc>
                  <a:txBody>
                    <a:bodyPr/>
                    <a:lstStyle/>
                    <a:p>
                      <a:pPr rtl="1" algn="r" indent="0" marL="0">
                        <a:buNone/>
                      </a:pPr>
                      <a:r>
                        <a:rPr lang="en-US" sz="1300" dirty="0">
                          <a:solidFill>
                            <a:srgbClr val="15271C"/>
                          </a:solidFill>
                          <a:latin typeface="Arial" pitchFamily="34" charset="0"/>
                          <a:ea typeface="Arial" pitchFamily="34" charset="-122"/>
                          <a:cs typeface="Arial" pitchFamily="34" charset="-120"/>
                        </a:rPr>
                        <a:t>السلام الملكي</a:t>
                      </a:r>
                      <a:endParaRPr lang="en-US" sz="1300" dirty="0">
                        <a:latin typeface="Arial" charset="0"/>
                        <a:ea typeface="Arial" charset="0"/>
                        <a:cs typeface="Arial" charset="0"/>
                      </a:endParaRPr>
                    </a:p>
                  </a:txBody>
                  <a:tcPr marL="7315200" marR="7315200" marT="0" marB="0" anchor="ctr">
                    <a:lnL w="6350" cap="flat" cmpd="sng" algn="ctr">
                      <a:solidFill>
                        <a:srgbClr val="D6E0D1"/>
                      </a:solidFill>
                      <a:prstDash val="solid"/>
                      <a:round/>
                      <a:headEnd type="none" w="med" len="med"/>
                      <a:tailEnd type="none" w="med" len="med"/>
                    </a:lnL>
                    <a:lnR w="6350" cap="flat" cmpd="sng" algn="ctr">
                      <a:solidFill>
                        <a:srgbClr val="D6E0D1"/>
                      </a:solidFill>
                      <a:prstDash val="solid"/>
                      <a:round/>
                      <a:headEnd type="none" w="med" len="med"/>
                      <a:tailEnd type="none" w="med" len="med"/>
                    </a:lnR>
                    <a:lnT w="6350" cap="flat" cmpd="sng" algn="ctr">
                      <a:solidFill>
                        <a:srgbClr val="D6E0D1"/>
                      </a:solidFill>
                      <a:prstDash val="solid"/>
                      <a:round/>
                      <a:headEnd type="none" w="med" len="med"/>
                      <a:tailEnd type="none" w="med" len="med"/>
                    </a:lnT>
                    <a:lnB w="6350" cap="flat" cmpd="sng" algn="ctr">
                      <a:solidFill>
                        <a:srgbClr val="D6E0D1"/>
                      </a:solidFill>
                      <a:prstDash val="solid"/>
                      <a:round/>
                      <a:headEnd type="none" w="med" len="med"/>
                      <a:tailEnd type="none" w="med" len="med"/>
                    </a:lnB>
                    <a:solidFill>
                      <a:srgbClr val="F4F7F1"/>
                    </a:solidFill>
                  </a:tcPr>
                </a:tc>
                <a:tc>
                  <a:txBody>
                    <a:bodyPr/>
                    <a:lstStyle/>
                    <a:p>
                      <a:pPr rtl="1" algn="r" indent="0" marL="0">
                        <a:buNone/>
                      </a:pPr>
                      <a:r>
                        <a:rPr lang="en-US" sz="1300" b="1" dirty="0">
                          <a:solidFill>
                            <a:srgbClr val="1E5E36"/>
                          </a:solidFill>
                          <a:latin typeface="Arial" pitchFamily="34" charset="0"/>
                          <a:ea typeface="Arial" pitchFamily="34" charset="-122"/>
                          <a:cs typeface="Arial" pitchFamily="34" charset="-120"/>
                        </a:rPr>
                        <a:t>9:00 ص</a:t>
                      </a:r>
                      <a:endParaRPr lang="en-US" sz="1300" dirty="0">
                        <a:latin typeface="Arial" charset="0"/>
                        <a:ea typeface="Arial" charset="0"/>
                        <a:cs typeface="Arial" charset="0"/>
                      </a:endParaRPr>
                    </a:p>
                  </a:txBody>
                  <a:tcPr marL="7315200" marR="7315200" marT="0" marB="0" anchor="ctr">
                    <a:lnL w="6350" cap="flat" cmpd="sng" algn="ctr">
                      <a:solidFill>
                        <a:srgbClr val="D6E0D1"/>
                      </a:solidFill>
                      <a:prstDash val="solid"/>
                      <a:round/>
                      <a:headEnd type="none" w="med" len="med"/>
                      <a:tailEnd type="none" w="med" len="med"/>
                    </a:lnL>
                    <a:lnR w="6350" cap="flat" cmpd="sng" algn="ctr">
                      <a:solidFill>
                        <a:srgbClr val="D6E0D1"/>
                      </a:solidFill>
                      <a:prstDash val="solid"/>
                      <a:round/>
                      <a:headEnd type="none" w="med" len="med"/>
                      <a:tailEnd type="none" w="med" len="med"/>
                    </a:lnR>
                    <a:lnT w="6350" cap="flat" cmpd="sng" algn="ctr">
                      <a:solidFill>
                        <a:srgbClr val="D6E0D1"/>
                      </a:solidFill>
                      <a:prstDash val="solid"/>
                      <a:round/>
                      <a:headEnd type="none" w="med" len="med"/>
                      <a:tailEnd type="none" w="med" len="med"/>
                    </a:lnT>
                    <a:lnB w="6350" cap="flat" cmpd="sng" algn="ctr">
                      <a:solidFill>
                        <a:srgbClr val="D6E0D1"/>
                      </a:solidFill>
                      <a:prstDash val="solid"/>
                      <a:round/>
                      <a:headEnd type="none" w="med" len="med"/>
                      <a:tailEnd type="none" w="med" len="med"/>
                    </a:lnB>
                    <a:solidFill>
                      <a:srgbClr val="F4F7F1"/>
                    </a:solidFill>
                  </a:tcPr>
                </a:tc>
              </a:tr>
              <a:tr h="374904">
                <a:tc>
                  <a:txBody>
                    <a:bodyPr/>
                    <a:lstStyle/>
                    <a:p>
                      <a:pPr rtl="1" algn="r" indent="0" marL="0">
                        <a:buNone/>
                      </a:pPr>
                      <a:r>
                        <a:rPr lang="en-US" sz="1300" dirty="0">
                          <a:solidFill>
                            <a:srgbClr val="15271C"/>
                          </a:solidFill>
                          <a:latin typeface="Arial" pitchFamily="34" charset="0"/>
                          <a:ea typeface="Arial" pitchFamily="34" charset="-122"/>
                          <a:cs typeface="Arial" pitchFamily="34" charset="-120"/>
                        </a:rPr>
                        <a:t>الكلمة الترحيبية</a:t>
                      </a:r>
                      <a:endParaRPr lang="en-US" sz="1300" dirty="0">
                        <a:latin typeface="Arial" charset="0"/>
                        <a:ea typeface="Arial" charset="0"/>
                        <a:cs typeface="Arial" charset="0"/>
                      </a:endParaRPr>
                    </a:p>
                  </a:txBody>
                  <a:tcPr marL="7315200" marR="7315200" marT="0" marB="0" anchor="ctr">
                    <a:lnL w="6350" cap="flat" cmpd="sng" algn="ctr">
                      <a:solidFill>
                        <a:srgbClr val="D6E0D1"/>
                      </a:solidFill>
                      <a:prstDash val="solid"/>
                      <a:round/>
                      <a:headEnd type="none" w="med" len="med"/>
                      <a:tailEnd type="none" w="med" len="med"/>
                    </a:lnL>
                    <a:lnR w="6350" cap="flat" cmpd="sng" algn="ctr">
                      <a:solidFill>
                        <a:srgbClr val="D6E0D1"/>
                      </a:solidFill>
                      <a:prstDash val="solid"/>
                      <a:round/>
                      <a:headEnd type="none" w="med" len="med"/>
                      <a:tailEnd type="none" w="med" len="med"/>
                    </a:lnR>
                    <a:lnT w="6350" cap="flat" cmpd="sng" algn="ctr">
                      <a:solidFill>
                        <a:srgbClr val="D6E0D1"/>
                      </a:solidFill>
                      <a:prstDash val="solid"/>
                      <a:round/>
                      <a:headEnd type="none" w="med" len="med"/>
                      <a:tailEnd type="none" w="med" len="med"/>
                    </a:lnT>
                    <a:lnB w="6350" cap="flat" cmpd="sng" algn="ctr">
                      <a:solidFill>
                        <a:srgbClr val="D6E0D1"/>
                      </a:solidFill>
                      <a:prstDash val="solid"/>
                      <a:round/>
                      <a:headEnd type="none" w="med" len="med"/>
                      <a:tailEnd type="none" w="med" len="med"/>
                    </a:lnB>
                    <a:solidFill>
                      <a:srgbClr val="FBFCF9"/>
                    </a:solidFill>
                  </a:tcPr>
                </a:tc>
                <a:tc>
                  <a:txBody>
                    <a:bodyPr/>
                    <a:lstStyle/>
                    <a:p>
                      <a:pPr rtl="1" algn="r" indent="0" marL="0">
                        <a:buNone/>
                      </a:pPr>
                      <a:r>
                        <a:rPr lang="en-US" sz="1300" b="1" dirty="0">
                          <a:solidFill>
                            <a:srgbClr val="1E5E36"/>
                          </a:solidFill>
                          <a:latin typeface="Arial" pitchFamily="34" charset="0"/>
                          <a:ea typeface="Arial" pitchFamily="34" charset="-122"/>
                          <a:cs typeface="Arial" pitchFamily="34" charset="-120"/>
                        </a:rPr>
                        <a:t>9:05 ص</a:t>
                      </a:r>
                      <a:endParaRPr lang="en-US" sz="1300" dirty="0">
                        <a:latin typeface="Arial" charset="0"/>
                        <a:ea typeface="Arial" charset="0"/>
                        <a:cs typeface="Arial" charset="0"/>
                      </a:endParaRPr>
                    </a:p>
                  </a:txBody>
                  <a:tcPr marL="7315200" marR="7315200" marT="0" marB="0" anchor="ctr">
                    <a:lnL w="6350" cap="flat" cmpd="sng" algn="ctr">
                      <a:solidFill>
                        <a:srgbClr val="D6E0D1"/>
                      </a:solidFill>
                      <a:prstDash val="solid"/>
                      <a:round/>
                      <a:headEnd type="none" w="med" len="med"/>
                      <a:tailEnd type="none" w="med" len="med"/>
                    </a:lnL>
                    <a:lnR w="6350" cap="flat" cmpd="sng" algn="ctr">
                      <a:solidFill>
                        <a:srgbClr val="D6E0D1"/>
                      </a:solidFill>
                      <a:prstDash val="solid"/>
                      <a:round/>
                      <a:headEnd type="none" w="med" len="med"/>
                      <a:tailEnd type="none" w="med" len="med"/>
                    </a:lnR>
                    <a:lnT w="6350" cap="flat" cmpd="sng" algn="ctr">
                      <a:solidFill>
                        <a:srgbClr val="D6E0D1"/>
                      </a:solidFill>
                      <a:prstDash val="solid"/>
                      <a:round/>
                      <a:headEnd type="none" w="med" len="med"/>
                      <a:tailEnd type="none" w="med" len="med"/>
                    </a:lnT>
                    <a:lnB w="6350" cap="flat" cmpd="sng" algn="ctr">
                      <a:solidFill>
                        <a:srgbClr val="D6E0D1"/>
                      </a:solidFill>
                      <a:prstDash val="solid"/>
                      <a:round/>
                      <a:headEnd type="none" w="med" len="med"/>
                      <a:tailEnd type="none" w="med" len="med"/>
                    </a:lnB>
                    <a:solidFill>
                      <a:srgbClr val="FBFCF9"/>
                    </a:solidFill>
                  </a:tcPr>
                </a:tc>
              </a:tr>
              <a:tr h="374904">
                <a:tc>
                  <a:txBody>
                    <a:bodyPr/>
                    <a:lstStyle/>
                    <a:p>
                      <a:pPr rtl="1" algn="r" indent="0" marL="0">
                        <a:buNone/>
                      </a:pPr>
                      <a:r>
                        <a:rPr lang="en-US" sz="1300" dirty="0">
                          <a:solidFill>
                            <a:srgbClr val="15271C"/>
                          </a:solidFill>
                          <a:latin typeface="Arial" pitchFamily="34" charset="0"/>
                          <a:ea typeface="Arial" pitchFamily="34" charset="-122"/>
                          <a:cs typeface="Arial" pitchFamily="34" charset="-120"/>
                        </a:rPr>
                        <a:t>كلمة الراعي الرسمي</a:t>
                      </a:r>
                      <a:endParaRPr lang="en-US" sz="1300" dirty="0">
                        <a:latin typeface="Arial" charset="0"/>
                        <a:ea typeface="Arial" charset="0"/>
                        <a:cs typeface="Arial" charset="0"/>
                      </a:endParaRPr>
                    </a:p>
                  </a:txBody>
                  <a:tcPr marL="7315200" marR="7315200" marT="0" marB="0" anchor="ctr">
                    <a:lnL w="6350" cap="flat" cmpd="sng" algn="ctr">
                      <a:solidFill>
                        <a:srgbClr val="D6E0D1"/>
                      </a:solidFill>
                      <a:prstDash val="solid"/>
                      <a:round/>
                      <a:headEnd type="none" w="med" len="med"/>
                      <a:tailEnd type="none" w="med" len="med"/>
                    </a:lnL>
                    <a:lnR w="6350" cap="flat" cmpd="sng" algn="ctr">
                      <a:solidFill>
                        <a:srgbClr val="D6E0D1"/>
                      </a:solidFill>
                      <a:prstDash val="solid"/>
                      <a:round/>
                      <a:headEnd type="none" w="med" len="med"/>
                      <a:tailEnd type="none" w="med" len="med"/>
                    </a:lnR>
                    <a:lnT w="6350" cap="flat" cmpd="sng" algn="ctr">
                      <a:solidFill>
                        <a:srgbClr val="D6E0D1"/>
                      </a:solidFill>
                      <a:prstDash val="solid"/>
                      <a:round/>
                      <a:headEnd type="none" w="med" len="med"/>
                      <a:tailEnd type="none" w="med" len="med"/>
                    </a:lnT>
                    <a:lnB w="6350" cap="flat" cmpd="sng" algn="ctr">
                      <a:solidFill>
                        <a:srgbClr val="D6E0D1"/>
                      </a:solidFill>
                      <a:prstDash val="solid"/>
                      <a:round/>
                      <a:headEnd type="none" w="med" len="med"/>
                      <a:tailEnd type="none" w="med" len="med"/>
                    </a:lnB>
                    <a:solidFill>
                      <a:srgbClr val="F4F7F1"/>
                    </a:solidFill>
                  </a:tcPr>
                </a:tc>
                <a:tc>
                  <a:txBody>
                    <a:bodyPr/>
                    <a:lstStyle/>
                    <a:p>
                      <a:pPr rtl="1" algn="r" indent="0" marL="0">
                        <a:buNone/>
                      </a:pPr>
                      <a:r>
                        <a:rPr lang="en-US" sz="1300" b="1" dirty="0">
                          <a:solidFill>
                            <a:srgbClr val="1E5E36"/>
                          </a:solidFill>
                          <a:latin typeface="Arial" pitchFamily="34" charset="0"/>
                          <a:ea typeface="Arial" pitchFamily="34" charset="-122"/>
                          <a:cs typeface="Arial" pitchFamily="34" charset="-120"/>
                        </a:rPr>
                        <a:t>9:10 ص</a:t>
                      </a:r>
                      <a:endParaRPr lang="en-US" sz="1300" dirty="0">
                        <a:latin typeface="Arial" charset="0"/>
                        <a:ea typeface="Arial" charset="0"/>
                        <a:cs typeface="Arial" charset="0"/>
                      </a:endParaRPr>
                    </a:p>
                  </a:txBody>
                  <a:tcPr marL="7315200" marR="7315200" marT="0" marB="0" anchor="ctr">
                    <a:lnL w="6350" cap="flat" cmpd="sng" algn="ctr">
                      <a:solidFill>
                        <a:srgbClr val="D6E0D1"/>
                      </a:solidFill>
                      <a:prstDash val="solid"/>
                      <a:round/>
                      <a:headEnd type="none" w="med" len="med"/>
                      <a:tailEnd type="none" w="med" len="med"/>
                    </a:lnL>
                    <a:lnR w="6350" cap="flat" cmpd="sng" algn="ctr">
                      <a:solidFill>
                        <a:srgbClr val="D6E0D1"/>
                      </a:solidFill>
                      <a:prstDash val="solid"/>
                      <a:round/>
                      <a:headEnd type="none" w="med" len="med"/>
                      <a:tailEnd type="none" w="med" len="med"/>
                    </a:lnR>
                    <a:lnT w="6350" cap="flat" cmpd="sng" algn="ctr">
                      <a:solidFill>
                        <a:srgbClr val="D6E0D1"/>
                      </a:solidFill>
                      <a:prstDash val="solid"/>
                      <a:round/>
                      <a:headEnd type="none" w="med" len="med"/>
                      <a:tailEnd type="none" w="med" len="med"/>
                    </a:lnT>
                    <a:lnB w="6350" cap="flat" cmpd="sng" algn="ctr">
                      <a:solidFill>
                        <a:srgbClr val="D6E0D1"/>
                      </a:solidFill>
                      <a:prstDash val="solid"/>
                      <a:round/>
                      <a:headEnd type="none" w="med" len="med"/>
                      <a:tailEnd type="none" w="med" len="med"/>
                    </a:lnB>
                    <a:solidFill>
                      <a:srgbClr val="F4F7F1"/>
                    </a:solidFill>
                  </a:tcPr>
                </a:tc>
              </a:tr>
              <a:tr h="374904">
                <a:tc>
                  <a:txBody>
                    <a:bodyPr/>
                    <a:lstStyle/>
                    <a:p>
                      <a:pPr rtl="1" algn="r" indent="0" marL="0">
                        <a:buNone/>
                      </a:pPr>
                      <a:r>
                        <a:rPr lang="en-US" sz="1300" dirty="0">
                          <a:solidFill>
                            <a:srgbClr val="15271C"/>
                          </a:solidFill>
                          <a:latin typeface="Arial" pitchFamily="34" charset="0"/>
                          <a:ea typeface="Arial" pitchFamily="34" charset="-122"/>
                          <a:cs typeface="Arial" pitchFamily="34" charset="-120"/>
                        </a:rPr>
                        <a:t>عرض مرئي عن المبادرة</a:t>
                      </a:r>
                      <a:endParaRPr lang="en-US" sz="1300" dirty="0">
                        <a:latin typeface="Arial" charset="0"/>
                        <a:ea typeface="Arial" charset="0"/>
                        <a:cs typeface="Arial" charset="0"/>
                      </a:endParaRPr>
                    </a:p>
                  </a:txBody>
                  <a:tcPr marL="7315200" marR="7315200" marT="0" marB="0" anchor="ctr">
                    <a:lnL w="6350" cap="flat" cmpd="sng" algn="ctr">
                      <a:solidFill>
                        <a:srgbClr val="D6E0D1"/>
                      </a:solidFill>
                      <a:prstDash val="solid"/>
                      <a:round/>
                      <a:headEnd type="none" w="med" len="med"/>
                      <a:tailEnd type="none" w="med" len="med"/>
                    </a:lnL>
                    <a:lnR w="6350" cap="flat" cmpd="sng" algn="ctr">
                      <a:solidFill>
                        <a:srgbClr val="D6E0D1"/>
                      </a:solidFill>
                      <a:prstDash val="solid"/>
                      <a:round/>
                      <a:headEnd type="none" w="med" len="med"/>
                      <a:tailEnd type="none" w="med" len="med"/>
                    </a:lnR>
                    <a:lnT w="6350" cap="flat" cmpd="sng" algn="ctr">
                      <a:solidFill>
                        <a:srgbClr val="D6E0D1"/>
                      </a:solidFill>
                      <a:prstDash val="solid"/>
                      <a:round/>
                      <a:headEnd type="none" w="med" len="med"/>
                      <a:tailEnd type="none" w="med" len="med"/>
                    </a:lnT>
                    <a:lnB w="6350" cap="flat" cmpd="sng" algn="ctr">
                      <a:solidFill>
                        <a:srgbClr val="D6E0D1"/>
                      </a:solidFill>
                      <a:prstDash val="solid"/>
                      <a:round/>
                      <a:headEnd type="none" w="med" len="med"/>
                      <a:tailEnd type="none" w="med" len="med"/>
                    </a:lnB>
                    <a:solidFill>
                      <a:srgbClr val="FBFCF9"/>
                    </a:solidFill>
                  </a:tcPr>
                </a:tc>
                <a:tc>
                  <a:txBody>
                    <a:bodyPr/>
                    <a:lstStyle/>
                    <a:p>
                      <a:pPr rtl="1" algn="r" indent="0" marL="0">
                        <a:buNone/>
                      </a:pPr>
                      <a:r>
                        <a:rPr lang="en-US" sz="1300" b="1" dirty="0">
                          <a:solidFill>
                            <a:srgbClr val="1E5E36"/>
                          </a:solidFill>
                          <a:latin typeface="Arial" pitchFamily="34" charset="0"/>
                          <a:ea typeface="Arial" pitchFamily="34" charset="-122"/>
                          <a:cs typeface="Arial" pitchFamily="34" charset="-120"/>
                        </a:rPr>
                        <a:t>9:15 ص</a:t>
                      </a:r>
                      <a:endParaRPr lang="en-US" sz="1300" dirty="0">
                        <a:latin typeface="Arial" charset="0"/>
                        <a:ea typeface="Arial" charset="0"/>
                        <a:cs typeface="Arial" charset="0"/>
                      </a:endParaRPr>
                    </a:p>
                  </a:txBody>
                  <a:tcPr marL="7315200" marR="7315200" marT="0" marB="0" anchor="ctr">
                    <a:lnL w="6350" cap="flat" cmpd="sng" algn="ctr">
                      <a:solidFill>
                        <a:srgbClr val="D6E0D1"/>
                      </a:solidFill>
                      <a:prstDash val="solid"/>
                      <a:round/>
                      <a:headEnd type="none" w="med" len="med"/>
                      <a:tailEnd type="none" w="med" len="med"/>
                    </a:lnL>
                    <a:lnR w="6350" cap="flat" cmpd="sng" algn="ctr">
                      <a:solidFill>
                        <a:srgbClr val="D6E0D1"/>
                      </a:solidFill>
                      <a:prstDash val="solid"/>
                      <a:round/>
                      <a:headEnd type="none" w="med" len="med"/>
                      <a:tailEnd type="none" w="med" len="med"/>
                    </a:lnR>
                    <a:lnT w="6350" cap="flat" cmpd="sng" algn="ctr">
                      <a:solidFill>
                        <a:srgbClr val="D6E0D1"/>
                      </a:solidFill>
                      <a:prstDash val="solid"/>
                      <a:round/>
                      <a:headEnd type="none" w="med" len="med"/>
                      <a:tailEnd type="none" w="med" len="med"/>
                    </a:lnT>
                    <a:lnB w="6350" cap="flat" cmpd="sng" algn="ctr">
                      <a:solidFill>
                        <a:srgbClr val="D6E0D1"/>
                      </a:solidFill>
                      <a:prstDash val="solid"/>
                      <a:round/>
                      <a:headEnd type="none" w="med" len="med"/>
                      <a:tailEnd type="none" w="med" len="med"/>
                    </a:lnB>
                    <a:solidFill>
                      <a:srgbClr val="FBFCF9"/>
                    </a:solidFill>
                  </a:tcPr>
                </a:tc>
              </a:tr>
              <a:tr h="374904">
                <a:tc>
                  <a:txBody>
                    <a:bodyPr/>
                    <a:lstStyle/>
                    <a:p>
                      <a:pPr rtl="1" algn="r" indent="0" marL="0">
                        <a:buNone/>
                      </a:pPr>
                      <a:r>
                        <a:rPr lang="en-US" sz="1300" dirty="0">
                          <a:solidFill>
                            <a:srgbClr val="15271C"/>
                          </a:solidFill>
                          <a:latin typeface="Arial" pitchFamily="34" charset="0"/>
                          <a:ea typeface="Arial" pitchFamily="34" charset="-122"/>
                          <a:cs typeface="Arial" pitchFamily="34" charset="-120"/>
                        </a:rPr>
                        <a:t>فريق المسؤولية البيئية التطوعي</a:t>
                      </a:r>
                      <a:endParaRPr lang="en-US" sz="1300" dirty="0">
                        <a:latin typeface="Arial" charset="0"/>
                        <a:ea typeface="Arial" charset="0"/>
                        <a:cs typeface="Arial" charset="0"/>
                      </a:endParaRPr>
                    </a:p>
                  </a:txBody>
                  <a:tcPr marL="7315200" marR="7315200" marT="0" marB="0" anchor="ctr">
                    <a:lnL w="6350" cap="flat" cmpd="sng" algn="ctr">
                      <a:solidFill>
                        <a:srgbClr val="D6E0D1"/>
                      </a:solidFill>
                      <a:prstDash val="solid"/>
                      <a:round/>
                      <a:headEnd type="none" w="med" len="med"/>
                      <a:tailEnd type="none" w="med" len="med"/>
                    </a:lnL>
                    <a:lnR w="6350" cap="flat" cmpd="sng" algn="ctr">
                      <a:solidFill>
                        <a:srgbClr val="D6E0D1"/>
                      </a:solidFill>
                      <a:prstDash val="solid"/>
                      <a:round/>
                      <a:headEnd type="none" w="med" len="med"/>
                      <a:tailEnd type="none" w="med" len="med"/>
                    </a:lnR>
                    <a:lnT w="6350" cap="flat" cmpd="sng" algn="ctr">
                      <a:solidFill>
                        <a:srgbClr val="D6E0D1"/>
                      </a:solidFill>
                      <a:prstDash val="solid"/>
                      <a:round/>
                      <a:headEnd type="none" w="med" len="med"/>
                      <a:tailEnd type="none" w="med" len="med"/>
                    </a:lnT>
                    <a:lnB w="6350" cap="flat" cmpd="sng" algn="ctr">
                      <a:solidFill>
                        <a:srgbClr val="D6E0D1"/>
                      </a:solidFill>
                      <a:prstDash val="solid"/>
                      <a:round/>
                      <a:headEnd type="none" w="med" len="med"/>
                      <a:tailEnd type="none" w="med" len="med"/>
                    </a:lnB>
                    <a:solidFill>
                      <a:srgbClr val="F4F7F1"/>
                    </a:solidFill>
                  </a:tcPr>
                </a:tc>
                <a:tc>
                  <a:txBody>
                    <a:bodyPr/>
                    <a:lstStyle/>
                    <a:p>
                      <a:pPr rtl="1" algn="r" indent="0" marL="0">
                        <a:buNone/>
                      </a:pPr>
                      <a:r>
                        <a:rPr lang="en-US" sz="1300" b="1" dirty="0">
                          <a:solidFill>
                            <a:srgbClr val="1E5E36"/>
                          </a:solidFill>
                          <a:latin typeface="Arial" pitchFamily="34" charset="0"/>
                          <a:ea typeface="Arial" pitchFamily="34" charset="-122"/>
                          <a:cs typeface="Arial" pitchFamily="34" charset="-120"/>
                        </a:rPr>
                        <a:t>9:20 ص</a:t>
                      </a:r>
                      <a:endParaRPr lang="en-US" sz="1300" dirty="0">
                        <a:latin typeface="Arial" charset="0"/>
                        <a:ea typeface="Arial" charset="0"/>
                        <a:cs typeface="Arial" charset="0"/>
                      </a:endParaRPr>
                    </a:p>
                  </a:txBody>
                  <a:tcPr marL="7315200" marR="7315200" marT="0" marB="0" anchor="ctr">
                    <a:lnL w="6350" cap="flat" cmpd="sng" algn="ctr">
                      <a:solidFill>
                        <a:srgbClr val="D6E0D1"/>
                      </a:solidFill>
                      <a:prstDash val="solid"/>
                      <a:round/>
                      <a:headEnd type="none" w="med" len="med"/>
                      <a:tailEnd type="none" w="med" len="med"/>
                    </a:lnL>
                    <a:lnR w="6350" cap="flat" cmpd="sng" algn="ctr">
                      <a:solidFill>
                        <a:srgbClr val="D6E0D1"/>
                      </a:solidFill>
                      <a:prstDash val="solid"/>
                      <a:round/>
                      <a:headEnd type="none" w="med" len="med"/>
                      <a:tailEnd type="none" w="med" len="med"/>
                    </a:lnR>
                    <a:lnT w="6350" cap="flat" cmpd="sng" algn="ctr">
                      <a:solidFill>
                        <a:srgbClr val="D6E0D1"/>
                      </a:solidFill>
                      <a:prstDash val="solid"/>
                      <a:round/>
                      <a:headEnd type="none" w="med" len="med"/>
                      <a:tailEnd type="none" w="med" len="med"/>
                    </a:lnT>
                    <a:lnB w="6350" cap="flat" cmpd="sng" algn="ctr">
                      <a:solidFill>
                        <a:srgbClr val="D6E0D1"/>
                      </a:solidFill>
                      <a:prstDash val="solid"/>
                      <a:round/>
                      <a:headEnd type="none" w="med" len="med"/>
                      <a:tailEnd type="none" w="med" len="med"/>
                    </a:lnB>
                    <a:solidFill>
                      <a:srgbClr val="F4F7F1"/>
                    </a:solidFill>
                  </a:tcPr>
                </a:tc>
              </a:tr>
              <a:tr h="374904">
                <a:tc>
                  <a:txBody>
                    <a:bodyPr/>
                    <a:lstStyle/>
                    <a:p>
                      <a:pPr rtl="1" algn="r" indent="0" marL="0">
                        <a:buNone/>
                      </a:pPr>
                      <a:r>
                        <a:rPr lang="en-US" sz="1300" dirty="0">
                          <a:solidFill>
                            <a:srgbClr val="15271C"/>
                          </a:solidFill>
                          <a:latin typeface="Arial" pitchFamily="34" charset="0"/>
                          <a:ea typeface="Arial" pitchFamily="34" charset="-122"/>
                          <a:cs typeface="Arial" pitchFamily="34" charset="-120"/>
                        </a:rPr>
                        <a:t>مشروع الطريق الأخضر</a:t>
                      </a:r>
                      <a:endParaRPr lang="en-US" sz="1300" dirty="0">
                        <a:latin typeface="Arial" charset="0"/>
                        <a:ea typeface="Arial" charset="0"/>
                        <a:cs typeface="Arial" charset="0"/>
                      </a:endParaRPr>
                    </a:p>
                  </a:txBody>
                  <a:tcPr marL="7315200" marR="7315200" marT="0" marB="0" anchor="ctr">
                    <a:lnL w="6350" cap="flat" cmpd="sng" algn="ctr">
                      <a:solidFill>
                        <a:srgbClr val="D6E0D1"/>
                      </a:solidFill>
                      <a:prstDash val="solid"/>
                      <a:round/>
                      <a:headEnd type="none" w="med" len="med"/>
                      <a:tailEnd type="none" w="med" len="med"/>
                    </a:lnL>
                    <a:lnR w="6350" cap="flat" cmpd="sng" algn="ctr">
                      <a:solidFill>
                        <a:srgbClr val="D6E0D1"/>
                      </a:solidFill>
                      <a:prstDash val="solid"/>
                      <a:round/>
                      <a:headEnd type="none" w="med" len="med"/>
                      <a:tailEnd type="none" w="med" len="med"/>
                    </a:lnR>
                    <a:lnT w="6350" cap="flat" cmpd="sng" algn="ctr">
                      <a:solidFill>
                        <a:srgbClr val="D6E0D1"/>
                      </a:solidFill>
                      <a:prstDash val="solid"/>
                      <a:round/>
                      <a:headEnd type="none" w="med" len="med"/>
                      <a:tailEnd type="none" w="med" len="med"/>
                    </a:lnT>
                    <a:lnB w="6350" cap="flat" cmpd="sng" algn="ctr">
                      <a:solidFill>
                        <a:srgbClr val="D6E0D1"/>
                      </a:solidFill>
                      <a:prstDash val="solid"/>
                      <a:round/>
                      <a:headEnd type="none" w="med" len="med"/>
                      <a:tailEnd type="none" w="med" len="med"/>
                    </a:lnB>
                    <a:solidFill>
                      <a:srgbClr val="FBFCF9"/>
                    </a:solidFill>
                  </a:tcPr>
                </a:tc>
                <a:tc>
                  <a:txBody>
                    <a:bodyPr/>
                    <a:lstStyle/>
                    <a:p>
                      <a:pPr rtl="1" algn="r" indent="0" marL="0">
                        <a:buNone/>
                      </a:pPr>
                      <a:r>
                        <a:rPr lang="en-US" sz="1300" b="1" dirty="0">
                          <a:solidFill>
                            <a:srgbClr val="1E5E36"/>
                          </a:solidFill>
                          <a:latin typeface="Arial" pitchFamily="34" charset="0"/>
                          <a:ea typeface="Arial" pitchFamily="34" charset="-122"/>
                          <a:cs typeface="Arial" pitchFamily="34" charset="-120"/>
                        </a:rPr>
                        <a:t>9:30 ص</a:t>
                      </a:r>
                      <a:endParaRPr lang="en-US" sz="1300" dirty="0">
                        <a:latin typeface="Arial" charset="0"/>
                        <a:ea typeface="Arial" charset="0"/>
                        <a:cs typeface="Arial" charset="0"/>
                      </a:endParaRPr>
                    </a:p>
                  </a:txBody>
                  <a:tcPr marL="7315200" marR="7315200" marT="0" marB="0" anchor="ctr">
                    <a:lnL w="6350" cap="flat" cmpd="sng" algn="ctr">
                      <a:solidFill>
                        <a:srgbClr val="D6E0D1"/>
                      </a:solidFill>
                      <a:prstDash val="solid"/>
                      <a:round/>
                      <a:headEnd type="none" w="med" len="med"/>
                      <a:tailEnd type="none" w="med" len="med"/>
                    </a:lnL>
                    <a:lnR w="6350" cap="flat" cmpd="sng" algn="ctr">
                      <a:solidFill>
                        <a:srgbClr val="D6E0D1"/>
                      </a:solidFill>
                      <a:prstDash val="solid"/>
                      <a:round/>
                      <a:headEnd type="none" w="med" len="med"/>
                      <a:tailEnd type="none" w="med" len="med"/>
                    </a:lnR>
                    <a:lnT w="6350" cap="flat" cmpd="sng" algn="ctr">
                      <a:solidFill>
                        <a:srgbClr val="D6E0D1"/>
                      </a:solidFill>
                      <a:prstDash val="solid"/>
                      <a:round/>
                      <a:headEnd type="none" w="med" len="med"/>
                      <a:tailEnd type="none" w="med" len="med"/>
                    </a:lnT>
                    <a:lnB w="6350" cap="flat" cmpd="sng" algn="ctr">
                      <a:solidFill>
                        <a:srgbClr val="D6E0D1"/>
                      </a:solidFill>
                      <a:prstDash val="solid"/>
                      <a:round/>
                      <a:headEnd type="none" w="med" len="med"/>
                      <a:tailEnd type="none" w="med" len="med"/>
                    </a:lnB>
                    <a:solidFill>
                      <a:srgbClr val="FBFCF9"/>
                    </a:solidFill>
                  </a:tcPr>
                </a:tc>
              </a:tr>
              <a:tr h="374904">
                <a:tc>
                  <a:txBody>
                    <a:bodyPr/>
                    <a:lstStyle/>
                    <a:p>
                      <a:pPr rtl="1" algn="r" indent="0" marL="0">
                        <a:buNone/>
                      </a:pPr>
                      <a:r>
                        <a:rPr lang="en-US" sz="1300" dirty="0">
                          <a:solidFill>
                            <a:srgbClr val="15271C"/>
                          </a:solidFill>
                          <a:latin typeface="Arial" pitchFamily="34" charset="0"/>
                          <a:ea typeface="Arial" pitchFamily="34" charset="-122"/>
                          <a:cs typeface="Arial" pitchFamily="34" charset="-120"/>
                        </a:rPr>
                        <a:t>مشروع مدرستي الخضراء</a:t>
                      </a:r>
                      <a:endParaRPr lang="en-US" sz="1300" dirty="0">
                        <a:latin typeface="Arial" charset="0"/>
                        <a:ea typeface="Arial" charset="0"/>
                        <a:cs typeface="Arial" charset="0"/>
                      </a:endParaRPr>
                    </a:p>
                  </a:txBody>
                  <a:tcPr marL="7315200" marR="7315200" marT="0" marB="0" anchor="ctr">
                    <a:lnL w="6350" cap="flat" cmpd="sng" algn="ctr">
                      <a:solidFill>
                        <a:srgbClr val="D6E0D1"/>
                      </a:solidFill>
                      <a:prstDash val="solid"/>
                      <a:round/>
                      <a:headEnd type="none" w="med" len="med"/>
                      <a:tailEnd type="none" w="med" len="med"/>
                    </a:lnL>
                    <a:lnR w="6350" cap="flat" cmpd="sng" algn="ctr">
                      <a:solidFill>
                        <a:srgbClr val="D6E0D1"/>
                      </a:solidFill>
                      <a:prstDash val="solid"/>
                      <a:round/>
                      <a:headEnd type="none" w="med" len="med"/>
                      <a:tailEnd type="none" w="med" len="med"/>
                    </a:lnR>
                    <a:lnT w="6350" cap="flat" cmpd="sng" algn="ctr">
                      <a:solidFill>
                        <a:srgbClr val="D6E0D1"/>
                      </a:solidFill>
                      <a:prstDash val="solid"/>
                      <a:round/>
                      <a:headEnd type="none" w="med" len="med"/>
                      <a:tailEnd type="none" w="med" len="med"/>
                    </a:lnT>
                    <a:lnB w="6350" cap="flat" cmpd="sng" algn="ctr">
                      <a:solidFill>
                        <a:srgbClr val="D6E0D1"/>
                      </a:solidFill>
                      <a:prstDash val="solid"/>
                      <a:round/>
                      <a:headEnd type="none" w="med" len="med"/>
                      <a:tailEnd type="none" w="med" len="med"/>
                    </a:lnB>
                    <a:solidFill>
                      <a:srgbClr val="F4F7F1"/>
                    </a:solidFill>
                  </a:tcPr>
                </a:tc>
                <a:tc>
                  <a:txBody>
                    <a:bodyPr/>
                    <a:lstStyle/>
                    <a:p>
                      <a:pPr rtl="1" algn="r" indent="0" marL="0">
                        <a:buNone/>
                      </a:pPr>
                      <a:r>
                        <a:rPr lang="en-US" sz="1300" b="1" dirty="0">
                          <a:solidFill>
                            <a:srgbClr val="1E5E36"/>
                          </a:solidFill>
                          <a:latin typeface="Arial" pitchFamily="34" charset="0"/>
                          <a:ea typeface="Arial" pitchFamily="34" charset="-122"/>
                          <a:cs typeface="Arial" pitchFamily="34" charset="-120"/>
                        </a:rPr>
                        <a:t>9:40 ص</a:t>
                      </a:r>
                      <a:endParaRPr lang="en-US" sz="1300" dirty="0">
                        <a:latin typeface="Arial" charset="0"/>
                        <a:ea typeface="Arial" charset="0"/>
                        <a:cs typeface="Arial" charset="0"/>
                      </a:endParaRPr>
                    </a:p>
                  </a:txBody>
                  <a:tcPr marL="7315200" marR="7315200" marT="0" marB="0" anchor="ctr">
                    <a:lnL w="6350" cap="flat" cmpd="sng" algn="ctr">
                      <a:solidFill>
                        <a:srgbClr val="D6E0D1"/>
                      </a:solidFill>
                      <a:prstDash val="solid"/>
                      <a:round/>
                      <a:headEnd type="none" w="med" len="med"/>
                      <a:tailEnd type="none" w="med" len="med"/>
                    </a:lnL>
                    <a:lnR w="6350" cap="flat" cmpd="sng" algn="ctr">
                      <a:solidFill>
                        <a:srgbClr val="D6E0D1"/>
                      </a:solidFill>
                      <a:prstDash val="solid"/>
                      <a:round/>
                      <a:headEnd type="none" w="med" len="med"/>
                      <a:tailEnd type="none" w="med" len="med"/>
                    </a:lnR>
                    <a:lnT w="6350" cap="flat" cmpd="sng" algn="ctr">
                      <a:solidFill>
                        <a:srgbClr val="D6E0D1"/>
                      </a:solidFill>
                      <a:prstDash val="solid"/>
                      <a:round/>
                      <a:headEnd type="none" w="med" len="med"/>
                      <a:tailEnd type="none" w="med" len="med"/>
                    </a:lnT>
                    <a:lnB w="6350" cap="flat" cmpd="sng" algn="ctr">
                      <a:solidFill>
                        <a:srgbClr val="D6E0D1"/>
                      </a:solidFill>
                      <a:prstDash val="solid"/>
                      <a:round/>
                      <a:headEnd type="none" w="med" len="med"/>
                      <a:tailEnd type="none" w="med" len="med"/>
                    </a:lnB>
                    <a:solidFill>
                      <a:srgbClr val="F4F7F1"/>
                    </a:solidFill>
                  </a:tcPr>
                </a:tc>
              </a:tr>
              <a:tr h="374904">
                <a:tc>
                  <a:txBody>
                    <a:bodyPr/>
                    <a:lstStyle/>
                    <a:p>
                      <a:pPr rtl="1" algn="r" indent="0" marL="0">
                        <a:buNone/>
                      </a:pPr>
                      <a:r>
                        <a:rPr lang="en-US" sz="1300" dirty="0">
                          <a:solidFill>
                            <a:srgbClr val="15271C"/>
                          </a:solidFill>
                          <a:latin typeface="Arial" pitchFamily="34" charset="0"/>
                          <a:ea typeface="Arial" pitchFamily="34" charset="-122"/>
                          <a:cs typeface="Arial" pitchFamily="34" charset="-120"/>
                        </a:rPr>
                        <a:t>مشروع واحة الاستدامة</a:t>
                      </a:r>
                      <a:endParaRPr lang="en-US" sz="1300" dirty="0">
                        <a:latin typeface="Arial" charset="0"/>
                        <a:ea typeface="Arial" charset="0"/>
                        <a:cs typeface="Arial" charset="0"/>
                      </a:endParaRPr>
                    </a:p>
                  </a:txBody>
                  <a:tcPr marL="7315200" marR="7315200" marT="0" marB="0" anchor="ctr">
                    <a:lnL w="6350" cap="flat" cmpd="sng" algn="ctr">
                      <a:solidFill>
                        <a:srgbClr val="D6E0D1"/>
                      </a:solidFill>
                      <a:prstDash val="solid"/>
                      <a:round/>
                      <a:headEnd type="none" w="med" len="med"/>
                      <a:tailEnd type="none" w="med" len="med"/>
                    </a:lnL>
                    <a:lnR w="6350" cap="flat" cmpd="sng" algn="ctr">
                      <a:solidFill>
                        <a:srgbClr val="D6E0D1"/>
                      </a:solidFill>
                      <a:prstDash val="solid"/>
                      <a:round/>
                      <a:headEnd type="none" w="med" len="med"/>
                      <a:tailEnd type="none" w="med" len="med"/>
                    </a:lnR>
                    <a:lnT w="6350" cap="flat" cmpd="sng" algn="ctr">
                      <a:solidFill>
                        <a:srgbClr val="D6E0D1"/>
                      </a:solidFill>
                      <a:prstDash val="solid"/>
                      <a:round/>
                      <a:headEnd type="none" w="med" len="med"/>
                      <a:tailEnd type="none" w="med" len="med"/>
                    </a:lnT>
                    <a:lnB w="6350" cap="flat" cmpd="sng" algn="ctr">
                      <a:solidFill>
                        <a:srgbClr val="D6E0D1"/>
                      </a:solidFill>
                      <a:prstDash val="solid"/>
                      <a:round/>
                      <a:headEnd type="none" w="med" len="med"/>
                      <a:tailEnd type="none" w="med" len="med"/>
                    </a:lnB>
                    <a:solidFill>
                      <a:srgbClr val="FBFCF9"/>
                    </a:solidFill>
                  </a:tcPr>
                </a:tc>
                <a:tc>
                  <a:txBody>
                    <a:bodyPr/>
                    <a:lstStyle/>
                    <a:p>
                      <a:pPr rtl="1" algn="r" indent="0" marL="0">
                        <a:buNone/>
                      </a:pPr>
                      <a:r>
                        <a:rPr lang="en-US" sz="1300" b="1" dirty="0">
                          <a:solidFill>
                            <a:srgbClr val="1E5E36"/>
                          </a:solidFill>
                          <a:latin typeface="Arial" pitchFamily="34" charset="0"/>
                          <a:ea typeface="Arial" pitchFamily="34" charset="-122"/>
                          <a:cs typeface="Arial" pitchFamily="34" charset="-120"/>
                        </a:rPr>
                        <a:t>9:50 ص</a:t>
                      </a:r>
                      <a:endParaRPr lang="en-US" sz="1300" dirty="0">
                        <a:latin typeface="Arial" charset="0"/>
                        <a:ea typeface="Arial" charset="0"/>
                        <a:cs typeface="Arial" charset="0"/>
                      </a:endParaRPr>
                    </a:p>
                  </a:txBody>
                  <a:tcPr marL="7315200" marR="7315200" marT="0" marB="0" anchor="ctr">
                    <a:lnL w="6350" cap="flat" cmpd="sng" algn="ctr">
                      <a:solidFill>
                        <a:srgbClr val="D6E0D1"/>
                      </a:solidFill>
                      <a:prstDash val="solid"/>
                      <a:round/>
                      <a:headEnd type="none" w="med" len="med"/>
                      <a:tailEnd type="none" w="med" len="med"/>
                    </a:lnL>
                    <a:lnR w="6350" cap="flat" cmpd="sng" algn="ctr">
                      <a:solidFill>
                        <a:srgbClr val="D6E0D1"/>
                      </a:solidFill>
                      <a:prstDash val="solid"/>
                      <a:round/>
                      <a:headEnd type="none" w="med" len="med"/>
                      <a:tailEnd type="none" w="med" len="med"/>
                    </a:lnR>
                    <a:lnT w="6350" cap="flat" cmpd="sng" algn="ctr">
                      <a:solidFill>
                        <a:srgbClr val="D6E0D1"/>
                      </a:solidFill>
                      <a:prstDash val="solid"/>
                      <a:round/>
                      <a:headEnd type="none" w="med" len="med"/>
                      <a:tailEnd type="none" w="med" len="med"/>
                    </a:lnT>
                    <a:lnB w="6350" cap="flat" cmpd="sng" algn="ctr">
                      <a:solidFill>
                        <a:srgbClr val="D6E0D1"/>
                      </a:solidFill>
                      <a:prstDash val="solid"/>
                      <a:round/>
                      <a:headEnd type="none" w="med" len="med"/>
                      <a:tailEnd type="none" w="med" len="med"/>
                    </a:lnB>
                    <a:solidFill>
                      <a:srgbClr val="FBFCF9"/>
                    </a:solidFill>
                  </a:tcPr>
                </a:tc>
              </a:tr>
              <a:tr h="374904">
                <a:tc>
                  <a:txBody>
                    <a:bodyPr/>
                    <a:lstStyle/>
                    <a:p>
                      <a:pPr rtl="1" algn="r" indent="0" marL="0">
                        <a:buNone/>
                      </a:pPr>
                      <a:r>
                        <a:rPr lang="en-US" sz="1300" dirty="0">
                          <a:solidFill>
                            <a:srgbClr val="15271C"/>
                          </a:solidFill>
                          <a:latin typeface="Arial" pitchFamily="34" charset="0"/>
                          <a:ea typeface="Arial" pitchFamily="34" charset="-122"/>
                          <a:cs typeface="Arial" pitchFamily="34" charset="-120"/>
                        </a:rPr>
                        <a:t>مشروع غصن الاستدامة</a:t>
                      </a:r>
                      <a:endParaRPr lang="en-US" sz="1300" dirty="0">
                        <a:latin typeface="Arial" charset="0"/>
                        <a:ea typeface="Arial" charset="0"/>
                        <a:cs typeface="Arial" charset="0"/>
                      </a:endParaRPr>
                    </a:p>
                  </a:txBody>
                  <a:tcPr marL="7315200" marR="7315200" marT="0" marB="0" anchor="ctr">
                    <a:lnL w="6350" cap="flat" cmpd="sng" algn="ctr">
                      <a:solidFill>
                        <a:srgbClr val="D6E0D1"/>
                      </a:solidFill>
                      <a:prstDash val="solid"/>
                      <a:round/>
                      <a:headEnd type="none" w="med" len="med"/>
                      <a:tailEnd type="none" w="med" len="med"/>
                    </a:lnL>
                    <a:lnR w="6350" cap="flat" cmpd="sng" algn="ctr">
                      <a:solidFill>
                        <a:srgbClr val="D6E0D1"/>
                      </a:solidFill>
                      <a:prstDash val="solid"/>
                      <a:round/>
                      <a:headEnd type="none" w="med" len="med"/>
                      <a:tailEnd type="none" w="med" len="med"/>
                    </a:lnR>
                    <a:lnT w="6350" cap="flat" cmpd="sng" algn="ctr">
                      <a:solidFill>
                        <a:srgbClr val="D6E0D1"/>
                      </a:solidFill>
                      <a:prstDash val="solid"/>
                      <a:round/>
                      <a:headEnd type="none" w="med" len="med"/>
                      <a:tailEnd type="none" w="med" len="med"/>
                    </a:lnT>
                    <a:lnB w="6350" cap="flat" cmpd="sng" algn="ctr">
                      <a:solidFill>
                        <a:srgbClr val="D6E0D1"/>
                      </a:solidFill>
                      <a:prstDash val="solid"/>
                      <a:round/>
                      <a:headEnd type="none" w="med" len="med"/>
                      <a:tailEnd type="none" w="med" len="med"/>
                    </a:lnB>
                    <a:solidFill>
                      <a:srgbClr val="F4F7F1"/>
                    </a:solidFill>
                  </a:tcPr>
                </a:tc>
                <a:tc>
                  <a:txBody>
                    <a:bodyPr/>
                    <a:lstStyle/>
                    <a:p>
                      <a:pPr rtl="1" algn="r" indent="0" marL="0">
                        <a:buNone/>
                      </a:pPr>
                      <a:r>
                        <a:rPr lang="en-US" sz="1300" b="1" dirty="0">
                          <a:solidFill>
                            <a:srgbClr val="1E5E36"/>
                          </a:solidFill>
                          <a:latin typeface="Arial" pitchFamily="34" charset="0"/>
                          <a:ea typeface="Arial" pitchFamily="34" charset="-122"/>
                          <a:cs typeface="Arial" pitchFamily="34" charset="-120"/>
                        </a:rPr>
                        <a:t>10:00 ص</a:t>
                      </a:r>
                      <a:endParaRPr lang="en-US" sz="1300" dirty="0">
                        <a:latin typeface="Arial" charset="0"/>
                        <a:ea typeface="Arial" charset="0"/>
                        <a:cs typeface="Arial" charset="0"/>
                      </a:endParaRPr>
                    </a:p>
                  </a:txBody>
                  <a:tcPr marL="7315200" marR="7315200" marT="0" marB="0" anchor="ctr">
                    <a:lnL w="6350" cap="flat" cmpd="sng" algn="ctr">
                      <a:solidFill>
                        <a:srgbClr val="D6E0D1"/>
                      </a:solidFill>
                      <a:prstDash val="solid"/>
                      <a:round/>
                      <a:headEnd type="none" w="med" len="med"/>
                      <a:tailEnd type="none" w="med" len="med"/>
                    </a:lnL>
                    <a:lnR w="6350" cap="flat" cmpd="sng" algn="ctr">
                      <a:solidFill>
                        <a:srgbClr val="D6E0D1"/>
                      </a:solidFill>
                      <a:prstDash val="solid"/>
                      <a:round/>
                      <a:headEnd type="none" w="med" len="med"/>
                      <a:tailEnd type="none" w="med" len="med"/>
                    </a:lnR>
                    <a:lnT w="6350" cap="flat" cmpd="sng" algn="ctr">
                      <a:solidFill>
                        <a:srgbClr val="D6E0D1"/>
                      </a:solidFill>
                      <a:prstDash val="solid"/>
                      <a:round/>
                      <a:headEnd type="none" w="med" len="med"/>
                      <a:tailEnd type="none" w="med" len="med"/>
                    </a:lnT>
                    <a:lnB w="6350" cap="flat" cmpd="sng" algn="ctr">
                      <a:solidFill>
                        <a:srgbClr val="D6E0D1"/>
                      </a:solidFill>
                      <a:prstDash val="solid"/>
                      <a:round/>
                      <a:headEnd type="none" w="med" len="med"/>
                      <a:tailEnd type="none" w="med" len="med"/>
                    </a:lnB>
                    <a:solidFill>
                      <a:srgbClr val="F4F7F1"/>
                    </a:solidFill>
                  </a:tcPr>
                </a:tc>
              </a:tr>
              <a:tr h="374904">
                <a:tc>
                  <a:txBody>
                    <a:bodyPr/>
                    <a:lstStyle/>
                    <a:p>
                      <a:pPr rtl="1" algn="r" indent="0" marL="0">
                        <a:buNone/>
                      </a:pPr>
                      <a:r>
                        <a:rPr lang="en-US" sz="1300" dirty="0">
                          <a:solidFill>
                            <a:srgbClr val="15271C"/>
                          </a:solidFill>
                          <a:latin typeface="Arial" pitchFamily="34" charset="0"/>
                          <a:ea typeface="Arial" pitchFamily="34" charset="-122"/>
                          <a:cs typeface="Arial" pitchFamily="34" charset="-120"/>
                        </a:rPr>
                        <a:t>المسار السياحي البيئي الأخضر</a:t>
                      </a:r>
                      <a:endParaRPr lang="en-US" sz="1300" dirty="0">
                        <a:latin typeface="Arial" charset="0"/>
                        <a:ea typeface="Arial" charset="0"/>
                        <a:cs typeface="Arial" charset="0"/>
                      </a:endParaRPr>
                    </a:p>
                  </a:txBody>
                  <a:tcPr marL="7315200" marR="7315200" marT="0" marB="0" anchor="ctr">
                    <a:lnL w="6350" cap="flat" cmpd="sng" algn="ctr">
                      <a:solidFill>
                        <a:srgbClr val="D6E0D1"/>
                      </a:solidFill>
                      <a:prstDash val="solid"/>
                      <a:round/>
                      <a:headEnd type="none" w="med" len="med"/>
                      <a:tailEnd type="none" w="med" len="med"/>
                    </a:lnL>
                    <a:lnR w="6350" cap="flat" cmpd="sng" algn="ctr">
                      <a:solidFill>
                        <a:srgbClr val="D6E0D1"/>
                      </a:solidFill>
                      <a:prstDash val="solid"/>
                      <a:round/>
                      <a:headEnd type="none" w="med" len="med"/>
                      <a:tailEnd type="none" w="med" len="med"/>
                    </a:lnR>
                    <a:lnT w="6350" cap="flat" cmpd="sng" algn="ctr">
                      <a:solidFill>
                        <a:srgbClr val="D6E0D1"/>
                      </a:solidFill>
                      <a:prstDash val="solid"/>
                      <a:round/>
                      <a:headEnd type="none" w="med" len="med"/>
                      <a:tailEnd type="none" w="med" len="med"/>
                    </a:lnT>
                    <a:lnB w="6350" cap="flat" cmpd="sng" algn="ctr">
                      <a:solidFill>
                        <a:srgbClr val="D6E0D1"/>
                      </a:solidFill>
                      <a:prstDash val="solid"/>
                      <a:round/>
                      <a:headEnd type="none" w="med" len="med"/>
                      <a:tailEnd type="none" w="med" len="med"/>
                    </a:lnB>
                    <a:solidFill>
                      <a:srgbClr val="FBFCF9"/>
                    </a:solidFill>
                  </a:tcPr>
                </a:tc>
                <a:tc>
                  <a:txBody>
                    <a:bodyPr/>
                    <a:lstStyle/>
                    <a:p>
                      <a:pPr rtl="1" algn="r" indent="0" marL="0">
                        <a:buNone/>
                      </a:pPr>
                      <a:r>
                        <a:rPr lang="en-US" sz="1300" b="1" dirty="0">
                          <a:solidFill>
                            <a:srgbClr val="1E5E36"/>
                          </a:solidFill>
                          <a:latin typeface="Arial" pitchFamily="34" charset="0"/>
                          <a:ea typeface="Arial" pitchFamily="34" charset="-122"/>
                          <a:cs typeface="Arial" pitchFamily="34" charset="-120"/>
                        </a:rPr>
                        <a:t>10:10 ص</a:t>
                      </a:r>
                      <a:endParaRPr lang="en-US" sz="1300" dirty="0">
                        <a:latin typeface="Arial" charset="0"/>
                        <a:ea typeface="Arial" charset="0"/>
                        <a:cs typeface="Arial" charset="0"/>
                      </a:endParaRPr>
                    </a:p>
                  </a:txBody>
                  <a:tcPr marL="7315200" marR="7315200" marT="0" marB="0" anchor="ctr">
                    <a:lnL w="6350" cap="flat" cmpd="sng" algn="ctr">
                      <a:solidFill>
                        <a:srgbClr val="D6E0D1"/>
                      </a:solidFill>
                      <a:prstDash val="solid"/>
                      <a:round/>
                      <a:headEnd type="none" w="med" len="med"/>
                      <a:tailEnd type="none" w="med" len="med"/>
                    </a:lnL>
                    <a:lnR w="6350" cap="flat" cmpd="sng" algn="ctr">
                      <a:solidFill>
                        <a:srgbClr val="D6E0D1"/>
                      </a:solidFill>
                      <a:prstDash val="solid"/>
                      <a:round/>
                      <a:headEnd type="none" w="med" len="med"/>
                      <a:tailEnd type="none" w="med" len="med"/>
                    </a:lnR>
                    <a:lnT w="6350" cap="flat" cmpd="sng" algn="ctr">
                      <a:solidFill>
                        <a:srgbClr val="D6E0D1"/>
                      </a:solidFill>
                      <a:prstDash val="solid"/>
                      <a:round/>
                      <a:headEnd type="none" w="med" len="med"/>
                      <a:tailEnd type="none" w="med" len="med"/>
                    </a:lnT>
                    <a:lnB w="6350" cap="flat" cmpd="sng" algn="ctr">
                      <a:solidFill>
                        <a:srgbClr val="D6E0D1"/>
                      </a:solidFill>
                      <a:prstDash val="solid"/>
                      <a:round/>
                      <a:headEnd type="none" w="med" len="med"/>
                      <a:tailEnd type="none" w="med" len="med"/>
                    </a:lnB>
                    <a:solidFill>
                      <a:srgbClr val="FBFCF9"/>
                    </a:solidFill>
                  </a:tcPr>
                </a:tc>
              </a:tr>
            </a:tbl>
          </a:graphicData>
        </a:graphic>
      </p:graphicFrame>
      <p:graphicFrame>
        <p:nvGraphicFramePr>
          <p:cNvPr id="29" name="Table 1"/>
          <p:cNvGraphicFramePr>
            <a:graphicFrameLocks noGrp="1"/>
          </p:cNvGraphicFramePr>
          <p:nvPr>
            <p:extLst>
              <p:ext uri="{D42A27DB-BD31-4B8C-83A1-F6EECF244321}">
                <p14:modId xmlns:p14="http://schemas.microsoft.com/office/powerpoint/2010/main" val="1579011935"/>
              </p:ext>
            </p:extLst>
          </p:nvPr>
        </p:nvGraphicFramePr>
        <p:xfrm>
          <a:off x="594360" y="1508760"/>
          <a:ext cx="5272888" cy="914400"/>
        </p:xfrm>
        <a:graphic>
          <a:graphicData uri="http://schemas.openxmlformats.org/drawingml/2006/table">
            <a:tbl>
              <a:tblPr/>
              <a:tblGrid>
                <a:gridCol w="3992728"/>
                <a:gridCol w="1280160"/>
              </a:tblGrid>
              <a:tr h="374904">
                <a:tc>
                  <a:txBody>
                    <a:bodyPr/>
                    <a:lstStyle/>
                    <a:p>
                      <a:pPr rtl="1" algn="r" indent="0" marL="0">
                        <a:buNone/>
                      </a:pPr>
                      <a:r>
                        <a:rPr lang="en-US" sz="1300" b="1" dirty="0">
                          <a:solidFill>
                            <a:srgbClr val="FFFFFF"/>
                          </a:solidFill>
                          <a:latin typeface="Arial" pitchFamily="34" charset="0"/>
                          <a:ea typeface="Arial" pitchFamily="34" charset="-122"/>
                          <a:cs typeface="Arial" pitchFamily="34" charset="-120"/>
                        </a:rPr>
                        <a:t>الفقرة</a:t>
                      </a:r>
                      <a:endParaRPr lang="en-US" sz="1300" dirty="0">
                        <a:latin typeface="Arial" charset="0"/>
                        <a:ea typeface="Arial" charset="0"/>
                        <a:cs typeface="Arial" charset="0"/>
                      </a:endParaRPr>
                    </a:p>
                  </a:txBody>
                  <a:tcPr marL="7315200" marR="7315200" marT="0" marB="0" anchor="ctr">
                    <a:lnL w="6350" cap="flat" cmpd="sng" algn="ctr">
                      <a:solidFill>
                        <a:srgbClr val="D6E0D1"/>
                      </a:solidFill>
                      <a:prstDash val="solid"/>
                      <a:round/>
                      <a:headEnd type="none" w="med" len="med"/>
                      <a:tailEnd type="none" w="med" len="med"/>
                    </a:lnL>
                    <a:lnR w="6350" cap="flat" cmpd="sng" algn="ctr">
                      <a:solidFill>
                        <a:srgbClr val="D6E0D1"/>
                      </a:solidFill>
                      <a:prstDash val="solid"/>
                      <a:round/>
                      <a:headEnd type="none" w="med" len="med"/>
                      <a:tailEnd type="none" w="med" len="med"/>
                    </a:lnR>
                    <a:lnT w="6350" cap="flat" cmpd="sng" algn="ctr">
                      <a:solidFill>
                        <a:srgbClr val="D6E0D1"/>
                      </a:solidFill>
                      <a:prstDash val="solid"/>
                      <a:round/>
                      <a:headEnd type="none" w="med" len="med"/>
                      <a:tailEnd type="none" w="med" len="med"/>
                    </a:lnT>
                    <a:lnB w="6350" cap="flat" cmpd="sng" algn="ctr">
                      <a:solidFill>
                        <a:srgbClr val="D6E0D1"/>
                      </a:solidFill>
                      <a:prstDash val="solid"/>
                      <a:round/>
                      <a:headEnd type="none" w="med" len="med"/>
                      <a:tailEnd type="none" w="med" len="med"/>
                    </a:lnB>
                    <a:solidFill>
                      <a:srgbClr val="1E5E36"/>
                    </a:solidFill>
                  </a:tcPr>
                </a:tc>
                <a:tc>
                  <a:txBody>
                    <a:bodyPr/>
                    <a:lstStyle/>
                    <a:p>
                      <a:pPr rtl="1" algn="r" indent="0" marL="0">
                        <a:buNone/>
                      </a:pPr>
                      <a:r>
                        <a:rPr lang="en-US" sz="1300" b="1" dirty="0">
                          <a:solidFill>
                            <a:srgbClr val="FFFFFF"/>
                          </a:solidFill>
                          <a:latin typeface="Arial" pitchFamily="34" charset="0"/>
                          <a:ea typeface="Arial" pitchFamily="34" charset="-122"/>
                          <a:cs typeface="Arial" pitchFamily="34" charset="-120"/>
                        </a:rPr>
                        <a:t>الوقت</a:t>
                      </a:r>
                      <a:endParaRPr lang="en-US" sz="1300" dirty="0">
                        <a:latin typeface="Arial" charset="0"/>
                        <a:ea typeface="Arial" charset="0"/>
                        <a:cs typeface="Arial" charset="0"/>
                      </a:endParaRPr>
                    </a:p>
                  </a:txBody>
                  <a:tcPr marL="7315200" marR="7315200" marT="0" marB="0" anchor="ctr">
                    <a:lnL w="6350" cap="flat" cmpd="sng" algn="ctr">
                      <a:solidFill>
                        <a:srgbClr val="D6E0D1"/>
                      </a:solidFill>
                      <a:prstDash val="solid"/>
                      <a:round/>
                      <a:headEnd type="none" w="med" len="med"/>
                      <a:tailEnd type="none" w="med" len="med"/>
                    </a:lnL>
                    <a:lnR w="6350" cap="flat" cmpd="sng" algn="ctr">
                      <a:solidFill>
                        <a:srgbClr val="D6E0D1"/>
                      </a:solidFill>
                      <a:prstDash val="solid"/>
                      <a:round/>
                      <a:headEnd type="none" w="med" len="med"/>
                      <a:tailEnd type="none" w="med" len="med"/>
                    </a:lnR>
                    <a:lnT w="6350" cap="flat" cmpd="sng" algn="ctr">
                      <a:solidFill>
                        <a:srgbClr val="D6E0D1"/>
                      </a:solidFill>
                      <a:prstDash val="solid"/>
                      <a:round/>
                      <a:headEnd type="none" w="med" len="med"/>
                      <a:tailEnd type="none" w="med" len="med"/>
                    </a:lnT>
                    <a:lnB w="6350" cap="flat" cmpd="sng" algn="ctr">
                      <a:solidFill>
                        <a:srgbClr val="D6E0D1"/>
                      </a:solidFill>
                      <a:prstDash val="solid"/>
                      <a:round/>
                      <a:headEnd type="none" w="med" len="med"/>
                      <a:tailEnd type="none" w="med" len="med"/>
                    </a:lnB>
                    <a:solidFill>
                      <a:srgbClr val="1E5E36"/>
                    </a:solidFill>
                  </a:tcPr>
                </a:tc>
              </a:tr>
              <a:tr h="374904">
                <a:tc>
                  <a:txBody>
                    <a:bodyPr/>
                    <a:lstStyle/>
                    <a:p>
                      <a:pPr rtl="1" algn="r" indent="0" marL="0">
                        <a:buNone/>
                      </a:pPr>
                      <a:r>
                        <a:rPr lang="en-US" sz="1300" dirty="0">
                          <a:solidFill>
                            <a:srgbClr val="15271C"/>
                          </a:solidFill>
                          <a:latin typeface="Arial" pitchFamily="34" charset="0"/>
                          <a:ea typeface="Arial" pitchFamily="34" charset="-122"/>
                          <a:cs typeface="Arial" pitchFamily="34" charset="-120"/>
                        </a:rPr>
                        <a:t>مشروع الغصن الأخضر</a:t>
                      </a:r>
                      <a:endParaRPr lang="en-US" sz="1300" dirty="0">
                        <a:latin typeface="Arial" charset="0"/>
                        <a:ea typeface="Arial" charset="0"/>
                        <a:cs typeface="Arial" charset="0"/>
                      </a:endParaRPr>
                    </a:p>
                  </a:txBody>
                  <a:tcPr marL="7315200" marR="7315200" marT="0" marB="0" anchor="ctr">
                    <a:lnL w="6350" cap="flat" cmpd="sng" algn="ctr">
                      <a:solidFill>
                        <a:srgbClr val="D6E0D1"/>
                      </a:solidFill>
                      <a:prstDash val="solid"/>
                      <a:round/>
                      <a:headEnd type="none" w="med" len="med"/>
                      <a:tailEnd type="none" w="med" len="med"/>
                    </a:lnL>
                    <a:lnR w="6350" cap="flat" cmpd="sng" algn="ctr">
                      <a:solidFill>
                        <a:srgbClr val="D6E0D1"/>
                      </a:solidFill>
                      <a:prstDash val="solid"/>
                      <a:round/>
                      <a:headEnd type="none" w="med" len="med"/>
                      <a:tailEnd type="none" w="med" len="med"/>
                    </a:lnR>
                    <a:lnT w="6350" cap="flat" cmpd="sng" algn="ctr">
                      <a:solidFill>
                        <a:srgbClr val="D6E0D1"/>
                      </a:solidFill>
                      <a:prstDash val="solid"/>
                      <a:round/>
                      <a:headEnd type="none" w="med" len="med"/>
                      <a:tailEnd type="none" w="med" len="med"/>
                    </a:lnT>
                    <a:lnB w="6350" cap="flat" cmpd="sng" algn="ctr">
                      <a:solidFill>
                        <a:srgbClr val="D6E0D1"/>
                      </a:solidFill>
                      <a:prstDash val="solid"/>
                      <a:round/>
                      <a:headEnd type="none" w="med" len="med"/>
                      <a:tailEnd type="none" w="med" len="med"/>
                    </a:lnB>
                    <a:solidFill>
                      <a:srgbClr val="FBFCF9"/>
                    </a:solidFill>
                  </a:tcPr>
                </a:tc>
                <a:tc>
                  <a:txBody>
                    <a:bodyPr/>
                    <a:lstStyle/>
                    <a:p>
                      <a:pPr rtl="1" algn="r" indent="0" marL="0">
                        <a:buNone/>
                      </a:pPr>
                      <a:r>
                        <a:rPr lang="en-US" sz="1300" b="1" dirty="0">
                          <a:solidFill>
                            <a:srgbClr val="1E5E36"/>
                          </a:solidFill>
                          <a:latin typeface="Arial" pitchFamily="34" charset="0"/>
                          <a:ea typeface="Arial" pitchFamily="34" charset="-122"/>
                          <a:cs typeface="Arial" pitchFamily="34" charset="-120"/>
                        </a:rPr>
                        <a:t>10:20 ص</a:t>
                      </a:r>
                      <a:endParaRPr lang="en-US" sz="1300" dirty="0">
                        <a:latin typeface="Arial" charset="0"/>
                        <a:ea typeface="Arial" charset="0"/>
                        <a:cs typeface="Arial" charset="0"/>
                      </a:endParaRPr>
                    </a:p>
                  </a:txBody>
                  <a:tcPr marL="7315200" marR="7315200" marT="0" marB="0" anchor="ctr">
                    <a:lnL w="6350" cap="flat" cmpd="sng" algn="ctr">
                      <a:solidFill>
                        <a:srgbClr val="D6E0D1"/>
                      </a:solidFill>
                      <a:prstDash val="solid"/>
                      <a:round/>
                      <a:headEnd type="none" w="med" len="med"/>
                      <a:tailEnd type="none" w="med" len="med"/>
                    </a:lnL>
                    <a:lnR w="6350" cap="flat" cmpd="sng" algn="ctr">
                      <a:solidFill>
                        <a:srgbClr val="D6E0D1"/>
                      </a:solidFill>
                      <a:prstDash val="solid"/>
                      <a:round/>
                      <a:headEnd type="none" w="med" len="med"/>
                      <a:tailEnd type="none" w="med" len="med"/>
                    </a:lnR>
                    <a:lnT w="6350" cap="flat" cmpd="sng" algn="ctr">
                      <a:solidFill>
                        <a:srgbClr val="D6E0D1"/>
                      </a:solidFill>
                      <a:prstDash val="solid"/>
                      <a:round/>
                      <a:headEnd type="none" w="med" len="med"/>
                      <a:tailEnd type="none" w="med" len="med"/>
                    </a:lnT>
                    <a:lnB w="6350" cap="flat" cmpd="sng" algn="ctr">
                      <a:solidFill>
                        <a:srgbClr val="D6E0D1"/>
                      </a:solidFill>
                      <a:prstDash val="solid"/>
                      <a:round/>
                      <a:headEnd type="none" w="med" len="med"/>
                      <a:tailEnd type="none" w="med" len="med"/>
                    </a:lnB>
                    <a:solidFill>
                      <a:srgbClr val="FBFCF9"/>
                    </a:solidFill>
                  </a:tcPr>
                </a:tc>
              </a:tr>
              <a:tr h="374904">
                <a:tc>
                  <a:txBody>
                    <a:bodyPr/>
                    <a:lstStyle/>
                    <a:p>
                      <a:pPr rtl="1" algn="r" indent="0" marL="0">
                        <a:buNone/>
                      </a:pPr>
                      <a:r>
                        <a:rPr lang="en-US" sz="1300" dirty="0">
                          <a:solidFill>
                            <a:srgbClr val="15271C"/>
                          </a:solidFill>
                          <a:latin typeface="Arial" pitchFamily="34" charset="0"/>
                          <a:ea typeface="Arial" pitchFamily="34" charset="-122"/>
                          <a:cs typeface="Arial" pitchFamily="34" charset="-120"/>
                        </a:rPr>
                        <a:t>بناء القدرات والتأهيل الأخضر</a:t>
                      </a:r>
                      <a:endParaRPr lang="en-US" sz="1300" dirty="0">
                        <a:latin typeface="Arial" charset="0"/>
                        <a:ea typeface="Arial" charset="0"/>
                        <a:cs typeface="Arial" charset="0"/>
                      </a:endParaRPr>
                    </a:p>
                  </a:txBody>
                  <a:tcPr marL="7315200" marR="7315200" marT="0" marB="0" anchor="ctr">
                    <a:lnL w="6350" cap="flat" cmpd="sng" algn="ctr">
                      <a:solidFill>
                        <a:srgbClr val="D6E0D1"/>
                      </a:solidFill>
                      <a:prstDash val="solid"/>
                      <a:round/>
                      <a:headEnd type="none" w="med" len="med"/>
                      <a:tailEnd type="none" w="med" len="med"/>
                    </a:lnL>
                    <a:lnR w="6350" cap="flat" cmpd="sng" algn="ctr">
                      <a:solidFill>
                        <a:srgbClr val="D6E0D1"/>
                      </a:solidFill>
                      <a:prstDash val="solid"/>
                      <a:round/>
                      <a:headEnd type="none" w="med" len="med"/>
                      <a:tailEnd type="none" w="med" len="med"/>
                    </a:lnR>
                    <a:lnT w="6350" cap="flat" cmpd="sng" algn="ctr">
                      <a:solidFill>
                        <a:srgbClr val="D6E0D1"/>
                      </a:solidFill>
                      <a:prstDash val="solid"/>
                      <a:round/>
                      <a:headEnd type="none" w="med" len="med"/>
                      <a:tailEnd type="none" w="med" len="med"/>
                    </a:lnT>
                    <a:lnB w="6350" cap="flat" cmpd="sng" algn="ctr">
                      <a:solidFill>
                        <a:srgbClr val="D6E0D1"/>
                      </a:solidFill>
                      <a:prstDash val="solid"/>
                      <a:round/>
                      <a:headEnd type="none" w="med" len="med"/>
                      <a:tailEnd type="none" w="med" len="med"/>
                    </a:lnB>
                    <a:solidFill>
                      <a:srgbClr val="F4F7F1"/>
                    </a:solidFill>
                  </a:tcPr>
                </a:tc>
                <a:tc>
                  <a:txBody>
                    <a:bodyPr/>
                    <a:lstStyle/>
                    <a:p>
                      <a:pPr rtl="1" algn="r" indent="0" marL="0">
                        <a:buNone/>
                      </a:pPr>
                      <a:r>
                        <a:rPr lang="en-US" sz="1300" b="1" dirty="0">
                          <a:solidFill>
                            <a:srgbClr val="1E5E36"/>
                          </a:solidFill>
                          <a:latin typeface="Arial" pitchFamily="34" charset="0"/>
                          <a:ea typeface="Arial" pitchFamily="34" charset="-122"/>
                          <a:cs typeface="Arial" pitchFamily="34" charset="-120"/>
                        </a:rPr>
                        <a:t>10:30 ص</a:t>
                      </a:r>
                      <a:endParaRPr lang="en-US" sz="1300" dirty="0">
                        <a:latin typeface="Arial" charset="0"/>
                        <a:ea typeface="Arial" charset="0"/>
                        <a:cs typeface="Arial" charset="0"/>
                      </a:endParaRPr>
                    </a:p>
                  </a:txBody>
                  <a:tcPr marL="7315200" marR="7315200" marT="0" marB="0" anchor="ctr">
                    <a:lnL w="6350" cap="flat" cmpd="sng" algn="ctr">
                      <a:solidFill>
                        <a:srgbClr val="D6E0D1"/>
                      </a:solidFill>
                      <a:prstDash val="solid"/>
                      <a:round/>
                      <a:headEnd type="none" w="med" len="med"/>
                      <a:tailEnd type="none" w="med" len="med"/>
                    </a:lnL>
                    <a:lnR w="6350" cap="flat" cmpd="sng" algn="ctr">
                      <a:solidFill>
                        <a:srgbClr val="D6E0D1"/>
                      </a:solidFill>
                      <a:prstDash val="solid"/>
                      <a:round/>
                      <a:headEnd type="none" w="med" len="med"/>
                      <a:tailEnd type="none" w="med" len="med"/>
                    </a:lnR>
                    <a:lnT w="6350" cap="flat" cmpd="sng" algn="ctr">
                      <a:solidFill>
                        <a:srgbClr val="D6E0D1"/>
                      </a:solidFill>
                      <a:prstDash val="solid"/>
                      <a:round/>
                      <a:headEnd type="none" w="med" len="med"/>
                      <a:tailEnd type="none" w="med" len="med"/>
                    </a:lnT>
                    <a:lnB w="6350" cap="flat" cmpd="sng" algn="ctr">
                      <a:solidFill>
                        <a:srgbClr val="D6E0D1"/>
                      </a:solidFill>
                      <a:prstDash val="solid"/>
                      <a:round/>
                      <a:headEnd type="none" w="med" len="med"/>
                      <a:tailEnd type="none" w="med" len="med"/>
                    </a:lnB>
                    <a:solidFill>
                      <a:srgbClr val="F4F7F1"/>
                    </a:solidFill>
                  </a:tcPr>
                </a:tc>
              </a:tr>
              <a:tr h="374904">
                <a:tc>
                  <a:txBody>
                    <a:bodyPr/>
                    <a:lstStyle/>
                    <a:p>
                      <a:pPr rtl="1" algn="r" indent="0" marL="0">
                        <a:buNone/>
                      </a:pPr>
                      <a:r>
                        <a:rPr lang="en-US" sz="1300" dirty="0">
                          <a:solidFill>
                            <a:srgbClr val="15271C"/>
                          </a:solidFill>
                          <a:latin typeface="Arial" pitchFamily="34" charset="0"/>
                          <a:ea typeface="Arial" pitchFamily="34" charset="-122"/>
                          <a:cs typeface="Arial" pitchFamily="34" charset="-120"/>
                        </a:rPr>
                        <a:t>الفن البيئي الأخضر المستدام</a:t>
                      </a:r>
                      <a:endParaRPr lang="en-US" sz="1300" dirty="0">
                        <a:latin typeface="Arial" charset="0"/>
                        <a:ea typeface="Arial" charset="0"/>
                        <a:cs typeface="Arial" charset="0"/>
                      </a:endParaRPr>
                    </a:p>
                  </a:txBody>
                  <a:tcPr marL="7315200" marR="7315200" marT="0" marB="0" anchor="ctr">
                    <a:lnL w="6350" cap="flat" cmpd="sng" algn="ctr">
                      <a:solidFill>
                        <a:srgbClr val="D6E0D1"/>
                      </a:solidFill>
                      <a:prstDash val="solid"/>
                      <a:round/>
                      <a:headEnd type="none" w="med" len="med"/>
                      <a:tailEnd type="none" w="med" len="med"/>
                    </a:lnL>
                    <a:lnR w="6350" cap="flat" cmpd="sng" algn="ctr">
                      <a:solidFill>
                        <a:srgbClr val="D6E0D1"/>
                      </a:solidFill>
                      <a:prstDash val="solid"/>
                      <a:round/>
                      <a:headEnd type="none" w="med" len="med"/>
                      <a:tailEnd type="none" w="med" len="med"/>
                    </a:lnR>
                    <a:lnT w="6350" cap="flat" cmpd="sng" algn="ctr">
                      <a:solidFill>
                        <a:srgbClr val="D6E0D1"/>
                      </a:solidFill>
                      <a:prstDash val="solid"/>
                      <a:round/>
                      <a:headEnd type="none" w="med" len="med"/>
                      <a:tailEnd type="none" w="med" len="med"/>
                    </a:lnT>
                    <a:lnB w="6350" cap="flat" cmpd="sng" algn="ctr">
                      <a:solidFill>
                        <a:srgbClr val="D6E0D1"/>
                      </a:solidFill>
                      <a:prstDash val="solid"/>
                      <a:round/>
                      <a:headEnd type="none" w="med" len="med"/>
                      <a:tailEnd type="none" w="med" len="med"/>
                    </a:lnB>
                    <a:solidFill>
                      <a:srgbClr val="FBFCF9"/>
                    </a:solidFill>
                  </a:tcPr>
                </a:tc>
                <a:tc>
                  <a:txBody>
                    <a:bodyPr/>
                    <a:lstStyle/>
                    <a:p>
                      <a:pPr rtl="1" algn="r" indent="0" marL="0">
                        <a:buNone/>
                      </a:pPr>
                      <a:r>
                        <a:rPr lang="en-US" sz="1300" b="1" dirty="0">
                          <a:solidFill>
                            <a:srgbClr val="1E5E36"/>
                          </a:solidFill>
                          <a:latin typeface="Arial" pitchFamily="34" charset="0"/>
                          <a:ea typeface="Arial" pitchFamily="34" charset="-122"/>
                          <a:cs typeface="Arial" pitchFamily="34" charset="-120"/>
                        </a:rPr>
                        <a:t>10:40 ص</a:t>
                      </a:r>
                      <a:endParaRPr lang="en-US" sz="1300" dirty="0">
                        <a:latin typeface="Arial" charset="0"/>
                        <a:ea typeface="Arial" charset="0"/>
                        <a:cs typeface="Arial" charset="0"/>
                      </a:endParaRPr>
                    </a:p>
                  </a:txBody>
                  <a:tcPr marL="7315200" marR="7315200" marT="0" marB="0" anchor="ctr">
                    <a:lnL w="6350" cap="flat" cmpd="sng" algn="ctr">
                      <a:solidFill>
                        <a:srgbClr val="D6E0D1"/>
                      </a:solidFill>
                      <a:prstDash val="solid"/>
                      <a:round/>
                      <a:headEnd type="none" w="med" len="med"/>
                      <a:tailEnd type="none" w="med" len="med"/>
                    </a:lnL>
                    <a:lnR w="6350" cap="flat" cmpd="sng" algn="ctr">
                      <a:solidFill>
                        <a:srgbClr val="D6E0D1"/>
                      </a:solidFill>
                      <a:prstDash val="solid"/>
                      <a:round/>
                      <a:headEnd type="none" w="med" len="med"/>
                      <a:tailEnd type="none" w="med" len="med"/>
                    </a:lnR>
                    <a:lnT w="6350" cap="flat" cmpd="sng" algn="ctr">
                      <a:solidFill>
                        <a:srgbClr val="D6E0D1"/>
                      </a:solidFill>
                      <a:prstDash val="solid"/>
                      <a:round/>
                      <a:headEnd type="none" w="med" len="med"/>
                      <a:tailEnd type="none" w="med" len="med"/>
                    </a:lnT>
                    <a:lnB w="6350" cap="flat" cmpd="sng" algn="ctr">
                      <a:solidFill>
                        <a:srgbClr val="D6E0D1"/>
                      </a:solidFill>
                      <a:prstDash val="solid"/>
                      <a:round/>
                      <a:headEnd type="none" w="med" len="med"/>
                      <a:tailEnd type="none" w="med" len="med"/>
                    </a:lnB>
                    <a:solidFill>
                      <a:srgbClr val="FBFCF9"/>
                    </a:solidFill>
                  </a:tcPr>
                </a:tc>
              </a:tr>
              <a:tr h="374904">
                <a:tc>
                  <a:txBody>
                    <a:bodyPr/>
                    <a:lstStyle/>
                    <a:p>
                      <a:pPr rtl="1" algn="r" indent="0" marL="0">
                        <a:buNone/>
                      </a:pPr>
                      <a:r>
                        <a:rPr lang="en-US" sz="1300" dirty="0">
                          <a:solidFill>
                            <a:srgbClr val="15271C"/>
                          </a:solidFill>
                          <a:latin typeface="Arial" pitchFamily="34" charset="0"/>
                          <a:ea typeface="Arial" pitchFamily="34" charset="-122"/>
                          <a:cs typeface="Arial" pitchFamily="34" charset="-120"/>
                        </a:rPr>
                        <a:t>جدارية الأثر الأخضر المستدام</a:t>
                      </a:r>
                      <a:endParaRPr lang="en-US" sz="1300" dirty="0">
                        <a:latin typeface="Arial" charset="0"/>
                        <a:ea typeface="Arial" charset="0"/>
                        <a:cs typeface="Arial" charset="0"/>
                      </a:endParaRPr>
                    </a:p>
                  </a:txBody>
                  <a:tcPr marL="7315200" marR="7315200" marT="0" marB="0" anchor="ctr">
                    <a:lnL w="6350" cap="flat" cmpd="sng" algn="ctr">
                      <a:solidFill>
                        <a:srgbClr val="D6E0D1"/>
                      </a:solidFill>
                      <a:prstDash val="solid"/>
                      <a:round/>
                      <a:headEnd type="none" w="med" len="med"/>
                      <a:tailEnd type="none" w="med" len="med"/>
                    </a:lnL>
                    <a:lnR w="6350" cap="flat" cmpd="sng" algn="ctr">
                      <a:solidFill>
                        <a:srgbClr val="D6E0D1"/>
                      </a:solidFill>
                      <a:prstDash val="solid"/>
                      <a:round/>
                      <a:headEnd type="none" w="med" len="med"/>
                      <a:tailEnd type="none" w="med" len="med"/>
                    </a:lnR>
                    <a:lnT w="6350" cap="flat" cmpd="sng" algn="ctr">
                      <a:solidFill>
                        <a:srgbClr val="D6E0D1"/>
                      </a:solidFill>
                      <a:prstDash val="solid"/>
                      <a:round/>
                      <a:headEnd type="none" w="med" len="med"/>
                      <a:tailEnd type="none" w="med" len="med"/>
                    </a:lnT>
                    <a:lnB w="6350" cap="flat" cmpd="sng" algn="ctr">
                      <a:solidFill>
                        <a:srgbClr val="D6E0D1"/>
                      </a:solidFill>
                      <a:prstDash val="solid"/>
                      <a:round/>
                      <a:headEnd type="none" w="med" len="med"/>
                      <a:tailEnd type="none" w="med" len="med"/>
                    </a:lnB>
                    <a:solidFill>
                      <a:srgbClr val="F4F7F1"/>
                    </a:solidFill>
                  </a:tcPr>
                </a:tc>
                <a:tc>
                  <a:txBody>
                    <a:bodyPr/>
                    <a:lstStyle/>
                    <a:p>
                      <a:pPr rtl="1" algn="r" indent="0" marL="0">
                        <a:buNone/>
                      </a:pPr>
                      <a:r>
                        <a:rPr lang="en-US" sz="1300" b="1" dirty="0">
                          <a:solidFill>
                            <a:srgbClr val="1E5E36"/>
                          </a:solidFill>
                          <a:latin typeface="Arial" pitchFamily="34" charset="0"/>
                          <a:ea typeface="Arial" pitchFamily="34" charset="-122"/>
                          <a:cs typeface="Arial" pitchFamily="34" charset="-120"/>
                        </a:rPr>
                        <a:t>10:50 ص</a:t>
                      </a:r>
                      <a:endParaRPr lang="en-US" sz="1300" dirty="0">
                        <a:latin typeface="Arial" charset="0"/>
                        <a:ea typeface="Arial" charset="0"/>
                        <a:cs typeface="Arial" charset="0"/>
                      </a:endParaRPr>
                    </a:p>
                  </a:txBody>
                  <a:tcPr marL="7315200" marR="7315200" marT="0" marB="0" anchor="ctr">
                    <a:lnL w="6350" cap="flat" cmpd="sng" algn="ctr">
                      <a:solidFill>
                        <a:srgbClr val="D6E0D1"/>
                      </a:solidFill>
                      <a:prstDash val="solid"/>
                      <a:round/>
                      <a:headEnd type="none" w="med" len="med"/>
                      <a:tailEnd type="none" w="med" len="med"/>
                    </a:lnL>
                    <a:lnR w="6350" cap="flat" cmpd="sng" algn="ctr">
                      <a:solidFill>
                        <a:srgbClr val="D6E0D1"/>
                      </a:solidFill>
                      <a:prstDash val="solid"/>
                      <a:round/>
                      <a:headEnd type="none" w="med" len="med"/>
                      <a:tailEnd type="none" w="med" len="med"/>
                    </a:lnR>
                    <a:lnT w="6350" cap="flat" cmpd="sng" algn="ctr">
                      <a:solidFill>
                        <a:srgbClr val="D6E0D1"/>
                      </a:solidFill>
                      <a:prstDash val="solid"/>
                      <a:round/>
                      <a:headEnd type="none" w="med" len="med"/>
                      <a:tailEnd type="none" w="med" len="med"/>
                    </a:lnT>
                    <a:lnB w="6350" cap="flat" cmpd="sng" algn="ctr">
                      <a:solidFill>
                        <a:srgbClr val="D6E0D1"/>
                      </a:solidFill>
                      <a:prstDash val="solid"/>
                      <a:round/>
                      <a:headEnd type="none" w="med" len="med"/>
                      <a:tailEnd type="none" w="med" len="med"/>
                    </a:lnB>
                    <a:solidFill>
                      <a:srgbClr val="F4F7F1"/>
                    </a:solidFill>
                  </a:tcPr>
                </a:tc>
              </a:tr>
              <a:tr h="374904">
                <a:tc>
                  <a:txBody>
                    <a:bodyPr/>
                    <a:lstStyle/>
                    <a:p>
                      <a:pPr rtl="1" algn="r" indent="0" marL="0">
                        <a:buNone/>
                      </a:pPr>
                      <a:r>
                        <a:rPr lang="en-US" sz="1300" dirty="0">
                          <a:solidFill>
                            <a:srgbClr val="15271C"/>
                          </a:solidFill>
                          <a:latin typeface="Arial" pitchFamily="34" charset="0"/>
                          <a:ea typeface="Arial" pitchFamily="34" charset="-122"/>
                          <a:cs typeface="Arial" pitchFamily="34" charset="-120"/>
                        </a:rPr>
                        <a:t>مدونة مشاعر الأثر الأخضر</a:t>
                      </a:r>
                      <a:endParaRPr lang="en-US" sz="1300" dirty="0">
                        <a:latin typeface="Arial" charset="0"/>
                        <a:ea typeface="Arial" charset="0"/>
                        <a:cs typeface="Arial" charset="0"/>
                      </a:endParaRPr>
                    </a:p>
                  </a:txBody>
                  <a:tcPr marL="7315200" marR="7315200" marT="0" marB="0" anchor="ctr">
                    <a:lnL w="6350" cap="flat" cmpd="sng" algn="ctr">
                      <a:solidFill>
                        <a:srgbClr val="D6E0D1"/>
                      </a:solidFill>
                      <a:prstDash val="solid"/>
                      <a:round/>
                      <a:headEnd type="none" w="med" len="med"/>
                      <a:tailEnd type="none" w="med" len="med"/>
                    </a:lnL>
                    <a:lnR w="6350" cap="flat" cmpd="sng" algn="ctr">
                      <a:solidFill>
                        <a:srgbClr val="D6E0D1"/>
                      </a:solidFill>
                      <a:prstDash val="solid"/>
                      <a:round/>
                      <a:headEnd type="none" w="med" len="med"/>
                      <a:tailEnd type="none" w="med" len="med"/>
                    </a:lnR>
                    <a:lnT w="6350" cap="flat" cmpd="sng" algn="ctr">
                      <a:solidFill>
                        <a:srgbClr val="D6E0D1"/>
                      </a:solidFill>
                      <a:prstDash val="solid"/>
                      <a:round/>
                      <a:headEnd type="none" w="med" len="med"/>
                      <a:tailEnd type="none" w="med" len="med"/>
                    </a:lnT>
                    <a:lnB w="6350" cap="flat" cmpd="sng" algn="ctr">
                      <a:solidFill>
                        <a:srgbClr val="D6E0D1"/>
                      </a:solidFill>
                      <a:prstDash val="solid"/>
                      <a:round/>
                      <a:headEnd type="none" w="med" len="med"/>
                      <a:tailEnd type="none" w="med" len="med"/>
                    </a:lnB>
                    <a:solidFill>
                      <a:srgbClr val="FBFCF9"/>
                    </a:solidFill>
                  </a:tcPr>
                </a:tc>
                <a:tc>
                  <a:txBody>
                    <a:bodyPr/>
                    <a:lstStyle/>
                    <a:p>
                      <a:pPr rtl="1" algn="r" indent="0" marL="0">
                        <a:buNone/>
                      </a:pPr>
                      <a:r>
                        <a:rPr lang="en-US" sz="1300" b="1" dirty="0">
                          <a:solidFill>
                            <a:srgbClr val="1E5E36"/>
                          </a:solidFill>
                          <a:latin typeface="Arial" pitchFamily="34" charset="0"/>
                          <a:ea typeface="Arial" pitchFamily="34" charset="-122"/>
                          <a:cs typeface="Arial" pitchFamily="34" charset="-120"/>
                        </a:rPr>
                        <a:t>11:00 ص</a:t>
                      </a:r>
                      <a:endParaRPr lang="en-US" sz="1300" dirty="0">
                        <a:latin typeface="Arial" charset="0"/>
                        <a:ea typeface="Arial" charset="0"/>
                        <a:cs typeface="Arial" charset="0"/>
                      </a:endParaRPr>
                    </a:p>
                  </a:txBody>
                  <a:tcPr marL="7315200" marR="7315200" marT="0" marB="0" anchor="ctr">
                    <a:lnL w="6350" cap="flat" cmpd="sng" algn="ctr">
                      <a:solidFill>
                        <a:srgbClr val="D6E0D1"/>
                      </a:solidFill>
                      <a:prstDash val="solid"/>
                      <a:round/>
                      <a:headEnd type="none" w="med" len="med"/>
                      <a:tailEnd type="none" w="med" len="med"/>
                    </a:lnL>
                    <a:lnR w="6350" cap="flat" cmpd="sng" algn="ctr">
                      <a:solidFill>
                        <a:srgbClr val="D6E0D1"/>
                      </a:solidFill>
                      <a:prstDash val="solid"/>
                      <a:round/>
                      <a:headEnd type="none" w="med" len="med"/>
                      <a:tailEnd type="none" w="med" len="med"/>
                    </a:lnR>
                    <a:lnT w="6350" cap="flat" cmpd="sng" algn="ctr">
                      <a:solidFill>
                        <a:srgbClr val="D6E0D1"/>
                      </a:solidFill>
                      <a:prstDash val="solid"/>
                      <a:round/>
                      <a:headEnd type="none" w="med" len="med"/>
                      <a:tailEnd type="none" w="med" len="med"/>
                    </a:lnT>
                    <a:lnB w="6350" cap="flat" cmpd="sng" algn="ctr">
                      <a:solidFill>
                        <a:srgbClr val="D6E0D1"/>
                      </a:solidFill>
                      <a:prstDash val="solid"/>
                      <a:round/>
                      <a:headEnd type="none" w="med" len="med"/>
                      <a:tailEnd type="none" w="med" len="med"/>
                    </a:lnB>
                    <a:solidFill>
                      <a:srgbClr val="FBFCF9"/>
                    </a:solidFill>
                  </a:tcPr>
                </a:tc>
              </a:tr>
              <a:tr h="374904">
                <a:tc>
                  <a:txBody>
                    <a:bodyPr/>
                    <a:lstStyle/>
                    <a:p>
                      <a:pPr rtl="1" algn="r" indent="0" marL="0">
                        <a:buNone/>
                      </a:pPr>
                      <a:r>
                        <a:rPr lang="en-US" sz="1300" dirty="0">
                          <a:solidFill>
                            <a:srgbClr val="15271C"/>
                          </a:solidFill>
                          <a:latin typeface="Arial" pitchFamily="34" charset="0"/>
                          <a:ea typeface="Arial" pitchFamily="34" charset="-122"/>
                          <a:cs typeface="Arial" pitchFamily="34" charset="-120"/>
                        </a:rPr>
                        <a:t>مركز الإعلام البيئي</a:t>
                      </a:r>
                      <a:endParaRPr lang="en-US" sz="1300" dirty="0">
                        <a:latin typeface="Arial" charset="0"/>
                        <a:ea typeface="Arial" charset="0"/>
                        <a:cs typeface="Arial" charset="0"/>
                      </a:endParaRPr>
                    </a:p>
                  </a:txBody>
                  <a:tcPr marL="7315200" marR="7315200" marT="0" marB="0" anchor="ctr">
                    <a:lnL w="6350" cap="flat" cmpd="sng" algn="ctr">
                      <a:solidFill>
                        <a:srgbClr val="D6E0D1"/>
                      </a:solidFill>
                      <a:prstDash val="solid"/>
                      <a:round/>
                      <a:headEnd type="none" w="med" len="med"/>
                      <a:tailEnd type="none" w="med" len="med"/>
                    </a:lnL>
                    <a:lnR w="6350" cap="flat" cmpd="sng" algn="ctr">
                      <a:solidFill>
                        <a:srgbClr val="D6E0D1"/>
                      </a:solidFill>
                      <a:prstDash val="solid"/>
                      <a:round/>
                      <a:headEnd type="none" w="med" len="med"/>
                      <a:tailEnd type="none" w="med" len="med"/>
                    </a:lnR>
                    <a:lnT w="6350" cap="flat" cmpd="sng" algn="ctr">
                      <a:solidFill>
                        <a:srgbClr val="D6E0D1"/>
                      </a:solidFill>
                      <a:prstDash val="solid"/>
                      <a:round/>
                      <a:headEnd type="none" w="med" len="med"/>
                      <a:tailEnd type="none" w="med" len="med"/>
                    </a:lnT>
                    <a:lnB w="6350" cap="flat" cmpd="sng" algn="ctr">
                      <a:solidFill>
                        <a:srgbClr val="D6E0D1"/>
                      </a:solidFill>
                      <a:prstDash val="solid"/>
                      <a:round/>
                      <a:headEnd type="none" w="med" len="med"/>
                      <a:tailEnd type="none" w="med" len="med"/>
                    </a:lnB>
                    <a:solidFill>
                      <a:srgbClr val="F4F7F1"/>
                    </a:solidFill>
                  </a:tcPr>
                </a:tc>
                <a:tc>
                  <a:txBody>
                    <a:bodyPr/>
                    <a:lstStyle/>
                    <a:p>
                      <a:pPr rtl="1" algn="r" indent="0" marL="0">
                        <a:buNone/>
                      </a:pPr>
                      <a:r>
                        <a:rPr lang="en-US" sz="1300" b="1" dirty="0">
                          <a:solidFill>
                            <a:srgbClr val="1E5E36"/>
                          </a:solidFill>
                          <a:latin typeface="Arial" pitchFamily="34" charset="0"/>
                          <a:ea typeface="Arial" pitchFamily="34" charset="-122"/>
                          <a:cs typeface="Arial" pitchFamily="34" charset="-120"/>
                        </a:rPr>
                        <a:t>11:10 ص</a:t>
                      </a:r>
                      <a:endParaRPr lang="en-US" sz="1300" dirty="0">
                        <a:latin typeface="Arial" charset="0"/>
                        <a:ea typeface="Arial" charset="0"/>
                        <a:cs typeface="Arial" charset="0"/>
                      </a:endParaRPr>
                    </a:p>
                  </a:txBody>
                  <a:tcPr marL="7315200" marR="7315200" marT="0" marB="0" anchor="ctr">
                    <a:lnL w="6350" cap="flat" cmpd="sng" algn="ctr">
                      <a:solidFill>
                        <a:srgbClr val="D6E0D1"/>
                      </a:solidFill>
                      <a:prstDash val="solid"/>
                      <a:round/>
                      <a:headEnd type="none" w="med" len="med"/>
                      <a:tailEnd type="none" w="med" len="med"/>
                    </a:lnL>
                    <a:lnR w="6350" cap="flat" cmpd="sng" algn="ctr">
                      <a:solidFill>
                        <a:srgbClr val="D6E0D1"/>
                      </a:solidFill>
                      <a:prstDash val="solid"/>
                      <a:round/>
                      <a:headEnd type="none" w="med" len="med"/>
                      <a:tailEnd type="none" w="med" len="med"/>
                    </a:lnR>
                    <a:lnT w="6350" cap="flat" cmpd="sng" algn="ctr">
                      <a:solidFill>
                        <a:srgbClr val="D6E0D1"/>
                      </a:solidFill>
                      <a:prstDash val="solid"/>
                      <a:round/>
                      <a:headEnd type="none" w="med" len="med"/>
                      <a:tailEnd type="none" w="med" len="med"/>
                    </a:lnT>
                    <a:lnB w="6350" cap="flat" cmpd="sng" algn="ctr">
                      <a:solidFill>
                        <a:srgbClr val="D6E0D1"/>
                      </a:solidFill>
                      <a:prstDash val="solid"/>
                      <a:round/>
                      <a:headEnd type="none" w="med" len="med"/>
                      <a:tailEnd type="none" w="med" len="med"/>
                    </a:lnB>
                    <a:solidFill>
                      <a:srgbClr val="F4F7F1"/>
                    </a:solidFill>
                  </a:tcPr>
                </a:tc>
              </a:tr>
              <a:tr h="374904">
                <a:tc>
                  <a:txBody>
                    <a:bodyPr/>
                    <a:lstStyle/>
                    <a:p>
                      <a:pPr rtl="1" algn="r" indent="0" marL="0">
                        <a:buNone/>
                      </a:pPr>
                      <a:r>
                        <a:rPr lang="en-US" sz="1300" dirty="0">
                          <a:solidFill>
                            <a:srgbClr val="15271C"/>
                          </a:solidFill>
                          <a:latin typeface="Arial" pitchFamily="34" charset="0"/>
                          <a:ea typeface="Arial" pitchFamily="34" charset="-122"/>
                          <a:cs typeface="Arial" pitchFamily="34" charset="-120"/>
                        </a:rPr>
                        <a:t>منصة المسؤولية الذكية</a:t>
                      </a:r>
                      <a:endParaRPr lang="en-US" sz="1300" dirty="0">
                        <a:latin typeface="Arial" charset="0"/>
                        <a:ea typeface="Arial" charset="0"/>
                        <a:cs typeface="Arial" charset="0"/>
                      </a:endParaRPr>
                    </a:p>
                  </a:txBody>
                  <a:tcPr marL="7315200" marR="7315200" marT="0" marB="0" anchor="ctr">
                    <a:lnL w="6350" cap="flat" cmpd="sng" algn="ctr">
                      <a:solidFill>
                        <a:srgbClr val="D6E0D1"/>
                      </a:solidFill>
                      <a:prstDash val="solid"/>
                      <a:round/>
                      <a:headEnd type="none" w="med" len="med"/>
                      <a:tailEnd type="none" w="med" len="med"/>
                    </a:lnL>
                    <a:lnR w="6350" cap="flat" cmpd="sng" algn="ctr">
                      <a:solidFill>
                        <a:srgbClr val="D6E0D1"/>
                      </a:solidFill>
                      <a:prstDash val="solid"/>
                      <a:round/>
                      <a:headEnd type="none" w="med" len="med"/>
                      <a:tailEnd type="none" w="med" len="med"/>
                    </a:lnR>
                    <a:lnT w="6350" cap="flat" cmpd="sng" algn="ctr">
                      <a:solidFill>
                        <a:srgbClr val="D6E0D1"/>
                      </a:solidFill>
                      <a:prstDash val="solid"/>
                      <a:round/>
                      <a:headEnd type="none" w="med" len="med"/>
                      <a:tailEnd type="none" w="med" len="med"/>
                    </a:lnT>
                    <a:lnB w="6350" cap="flat" cmpd="sng" algn="ctr">
                      <a:solidFill>
                        <a:srgbClr val="D6E0D1"/>
                      </a:solidFill>
                      <a:prstDash val="solid"/>
                      <a:round/>
                      <a:headEnd type="none" w="med" len="med"/>
                      <a:tailEnd type="none" w="med" len="med"/>
                    </a:lnB>
                    <a:solidFill>
                      <a:srgbClr val="FBFCF9"/>
                    </a:solidFill>
                  </a:tcPr>
                </a:tc>
                <a:tc>
                  <a:txBody>
                    <a:bodyPr/>
                    <a:lstStyle/>
                    <a:p>
                      <a:pPr rtl="1" algn="r" indent="0" marL="0">
                        <a:buNone/>
                      </a:pPr>
                      <a:r>
                        <a:rPr lang="en-US" sz="1300" b="1" dirty="0">
                          <a:solidFill>
                            <a:srgbClr val="1E5E36"/>
                          </a:solidFill>
                          <a:latin typeface="Arial" pitchFamily="34" charset="0"/>
                          <a:ea typeface="Arial" pitchFamily="34" charset="-122"/>
                          <a:cs typeface="Arial" pitchFamily="34" charset="-120"/>
                        </a:rPr>
                        <a:t>11:20 ص</a:t>
                      </a:r>
                      <a:endParaRPr lang="en-US" sz="1300" dirty="0">
                        <a:latin typeface="Arial" charset="0"/>
                        <a:ea typeface="Arial" charset="0"/>
                        <a:cs typeface="Arial" charset="0"/>
                      </a:endParaRPr>
                    </a:p>
                  </a:txBody>
                  <a:tcPr marL="7315200" marR="7315200" marT="0" marB="0" anchor="ctr">
                    <a:lnL w="6350" cap="flat" cmpd="sng" algn="ctr">
                      <a:solidFill>
                        <a:srgbClr val="D6E0D1"/>
                      </a:solidFill>
                      <a:prstDash val="solid"/>
                      <a:round/>
                      <a:headEnd type="none" w="med" len="med"/>
                      <a:tailEnd type="none" w="med" len="med"/>
                    </a:lnL>
                    <a:lnR w="6350" cap="flat" cmpd="sng" algn="ctr">
                      <a:solidFill>
                        <a:srgbClr val="D6E0D1"/>
                      </a:solidFill>
                      <a:prstDash val="solid"/>
                      <a:round/>
                      <a:headEnd type="none" w="med" len="med"/>
                      <a:tailEnd type="none" w="med" len="med"/>
                    </a:lnR>
                    <a:lnT w="6350" cap="flat" cmpd="sng" algn="ctr">
                      <a:solidFill>
                        <a:srgbClr val="D6E0D1"/>
                      </a:solidFill>
                      <a:prstDash val="solid"/>
                      <a:round/>
                      <a:headEnd type="none" w="med" len="med"/>
                      <a:tailEnd type="none" w="med" len="med"/>
                    </a:lnT>
                    <a:lnB w="6350" cap="flat" cmpd="sng" algn="ctr">
                      <a:solidFill>
                        <a:srgbClr val="D6E0D1"/>
                      </a:solidFill>
                      <a:prstDash val="solid"/>
                      <a:round/>
                      <a:headEnd type="none" w="med" len="med"/>
                      <a:tailEnd type="none" w="med" len="med"/>
                    </a:lnB>
                    <a:solidFill>
                      <a:srgbClr val="FBFCF9"/>
                    </a:solidFill>
                  </a:tcPr>
                </a:tc>
              </a:tr>
              <a:tr h="374904">
                <a:tc>
                  <a:txBody>
                    <a:bodyPr/>
                    <a:lstStyle/>
                    <a:p>
                      <a:pPr rtl="1" algn="r" indent="0" marL="0">
                        <a:buNone/>
                      </a:pPr>
                      <a:r>
                        <a:rPr lang="en-US" sz="1300" dirty="0">
                          <a:solidFill>
                            <a:srgbClr val="15271C"/>
                          </a:solidFill>
                          <a:latin typeface="Arial" pitchFamily="34" charset="0"/>
                          <a:ea typeface="Arial" pitchFamily="34" charset="-122"/>
                          <a:cs typeface="Arial" pitchFamily="34" charset="-120"/>
                        </a:rPr>
                        <a:t>تكريم شركاء النجاح</a:t>
                      </a:r>
                      <a:endParaRPr lang="en-US" sz="1300" dirty="0">
                        <a:latin typeface="Arial" charset="0"/>
                        <a:ea typeface="Arial" charset="0"/>
                        <a:cs typeface="Arial" charset="0"/>
                      </a:endParaRPr>
                    </a:p>
                  </a:txBody>
                  <a:tcPr marL="7315200" marR="7315200" marT="0" marB="0" anchor="ctr">
                    <a:lnL w="6350" cap="flat" cmpd="sng" algn="ctr">
                      <a:solidFill>
                        <a:srgbClr val="D6E0D1"/>
                      </a:solidFill>
                      <a:prstDash val="solid"/>
                      <a:round/>
                      <a:headEnd type="none" w="med" len="med"/>
                      <a:tailEnd type="none" w="med" len="med"/>
                    </a:lnL>
                    <a:lnR w="6350" cap="flat" cmpd="sng" algn="ctr">
                      <a:solidFill>
                        <a:srgbClr val="D6E0D1"/>
                      </a:solidFill>
                      <a:prstDash val="solid"/>
                      <a:round/>
                      <a:headEnd type="none" w="med" len="med"/>
                      <a:tailEnd type="none" w="med" len="med"/>
                    </a:lnR>
                    <a:lnT w="6350" cap="flat" cmpd="sng" algn="ctr">
                      <a:solidFill>
                        <a:srgbClr val="D6E0D1"/>
                      </a:solidFill>
                      <a:prstDash val="solid"/>
                      <a:round/>
                      <a:headEnd type="none" w="med" len="med"/>
                      <a:tailEnd type="none" w="med" len="med"/>
                    </a:lnT>
                    <a:lnB w="6350" cap="flat" cmpd="sng" algn="ctr">
                      <a:solidFill>
                        <a:srgbClr val="D6E0D1"/>
                      </a:solidFill>
                      <a:prstDash val="solid"/>
                      <a:round/>
                      <a:headEnd type="none" w="med" len="med"/>
                      <a:tailEnd type="none" w="med" len="med"/>
                    </a:lnB>
                    <a:solidFill>
                      <a:srgbClr val="F4F7F1"/>
                    </a:solidFill>
                  </a:tcPr>
                </a:tc>
                <a:tc>
                  <a:txBody>
                    <a:bodyPr/>
                    <a:lstStyle/>
                    <a:p>
                      <a:pPr rtl="1" algn="r" indent="0" marL="0">
                        <a:buNone/>
                      </a:pPr>
                      <a:r>
                        <a:rPr lang="en-US" sz="1300" b="1" dirty="0">
                          <a:solidFill>
                            <a:srgbClr val="1E5E36"/>
                          </a:solidFill>
                          <a:latin typeface="Arial" pitchFamily="34" charset="0"/>
                          <a:ea typeface="Arial" pitchFamily="34" charset="-122"/>
                          <a:cs typeface="Arial" pitchFamily="34" charset="-120"/>
                        </a:rPr>
                        <a:t>11:30 ص</a:t>
                      </a:r>
                      <a:endParaRPr lang="en-US" sz="1300" dirty="0">
                        <a:latin typeface="Arial" charset="0"/>
                        <a:ea typeface="Arial" charset="0"/>
                        <a:cs typeface="Arial" charset="0"/>
                      </a:endParaRPr>
                    </a:p>
                  </a:txBody>
                  <a:tcPr marL="7315200" marR="7315200" marT="0" marB="0" anchor="ctr">
                    <a:lnL w="6350" cap="flat" cmpd="sng" algn="ctr">
                      <a:solidFill>
                        <a:srgbClr val="D6E0D1"/>
                      </a:solidFill>
                      <a:prstDash val="solid"/>
                      <a:round/>
                      <a:headEnd type="none" w="med" len="med"/>
                      <a:tailEnd type="none" w="med" len="med"/>
                    </a:lnL>
                    <a:lnR w="6350" cap="flat" cmpd="sng" algn="ctr">
                      <a:solidFill>
                        <a:srgbClr val="D6E0D1"/>
                      </a:solidFill>
                      <a:prstDash val="solid"/>
                      <a:round/>
                      <a:headEnd type="none" w="med" len="med"/>
                      <a:tailEnd type="none" w="med" len="med"/>
                    </a:lnR>
                    <a:lnT w="6350" cap="flat" cmpd="sng" algn="ctr">
                      <a:solidFill>
                        <a:srgbClr val="D6E0D1"/>
                      </a:solidFill>
                      <a:prstDash val="solid"/>
                      <a:round/>
                      <a:headEnd type="none" w="med" len="med"/>
                      <a:tailEnd type="none" w="med" len="med"/>
                    </a:lnT>
                    <a:lnB w="6350" cap="flat" cmpd="sng" algn="ctr">
                      <a:solidFill>
                        <a:srgbClr val="D6E0D1"/>
                      </a:solidFill>
                      <a:prstDash val="solid"/>
                      <a:round/>
                      <a:headEnd type="none" w="med" len="med"/>
                      <a:tailEnd type="none" w="med" len="med"/>
                    </a:lnB>
                    <a:solidFill>
                      <a:srgbClr val="F4F7F1"/>
                    </a:solidFill>
                  </a:tcPr>
                </a:tc>
              </a:tr>
              <a:tr h="374904">
                <a:tc>
                  <a:txBody>
                    <a:bodyPr/>
                    <a:lstStyle/>
                    <a:p>
                      <a:pPr rtl="1" algn="r" indent="0" marL="0">
                        <a:buNone/>
                      </a:pPr>
                      <a:r>
                        <a:rPr lang="en-US" sz="1300" dirty="0">
                          <a:solidFill>
                            <a:srgbClr val="15271C"/>
                          </a:solidFill>
                          <a:latin typeface="Arial" pitchFamily="34" charset="0"/>
                          <a:ea typeface="Arial" pitchFamily="34" charset="-122"/>
                          <a:cs typeface="Arial" pitchFamily="34" charset="-120"/>
                        </a:rPr>
                        <a:t>الصورة الجماعية</a:t>
                      </a:r>
                      <a:endParaRPr lang="en-US" sz="1300" dirty="0">
                        <a:latin typeface="Arial" charset="0"/>
                        <a:ea typeface="Arial" charset="0"/>
                        <a:cs typeface="Arial" charset="0"/>
                      </a:endParaRPr>
                    </a:p>
                  </a:txBody>
                  <a:tcPr marL="7315200" marR="7315200" marT="0" marB="0" anchor="ctr">
                    <a:lnL w="6350" cap="flat" cmpd="sng" algn="ctr">
                      <a:solidFill>
                        <a:srgbClr val="D6E0D1"/>
                      </a:solidFill>
                      <a:prstDash val="solid"/>
                      <a:round/>
                      <a:headEnd type="none" w="med" len="med"/>
                      <a:tailEnd type="none" w="med" len="med"/>
                    </a:lnL>
                    <a:lnR w="6350" cap="flat" cmpd="sng" algn="ctr">
                      <a:solidFill>
                        <a:srgbClr val="D6E0D1"/>
                      </a:solidFill>
                      <a:prstDash val="solid"/>
                      <a:round/>
                      <a:headEnd type="none" w="med" len="med"/>
                      <a:tailEnd type="none" w="med" len="med"/>
                    </a:lnR>
                    <a:lnT w="6350" cap="flat" cmpd="sng" algn="ctr">
                      <a:solidFill>
                        <a:srgbClr val="D6E0D1"/>
                      </a:solidFill>
                      <a:prstDash val="solid"/>
                      <a:round/>
                      <a:headEnd type="none" w="med" len="med"/>
                      <a:tailEnd type="none" w="med" len="med"/>
                    </a:lnT>
                    <a:lnB w="6350" cap="flat" cmpd="sng" algn="ctr">
                      <a:solidFill>
                        <a:srgbClr val="D6E0D1"/>
                      </a:solidFill>
                      <a:prstDash val="solid"/>
                      <a:round/>
                      <a:headEnd type="none" w="med" len="med"/>
                      <a:tailEnd type="none" w="med" len="med"/>
                    </a:lnB>
                    <a:solidFill>
                      <a:srgbClr val="FBFCF9"/>
                    </a:solidFill>
                  </a:tcPr>
                </a:tc>
                <a:tc>
                  <a:txBody>
                    <a:bodyPr/>
                    <a:lstStyle/>
                    <a:p>
                      <a:pPr rtl="1" algn="r" indent="0" marL="0">
                        <a:buNone/>
                      </a:pPr>
                      <a:r>
                        <a:rPr lang="en-US" sz="1300" b="1" dirty="0">
                          <a:solidFill>
                            <a:srgbClr val="1E5E36"/>
                          </a:solidFill>
                          <a:latin typeface="Arial" pitchFamily="34" charset="0"/>
                          <a:ea typeface="Arial" pitchFamily="34" charset="-122"/>
                          <a:cs typeface="Arial" pitchFamily="34" charset="-120"/>
                        </a:rPr>
                        <a:t>11:50 ص</a:t>
                      </a:r>
                      <a:endParaRPr lang="en-US" sz="1300" dirty="0">
                        <a:latin typeface="Arial" charset="0"/>
                        <a:ea typeface="Arial" charset="0"/>
                        <a:cs typeface="Arial" charset="0"/>
                      </a:endParaRPr>
                    </a:p>
                  </a:txBody>
                  <a:tcPr marL="7315200" marR="7315200" marT="0" marB="0" anchor="ctr">
                    <a:lnL w="6350" cap="flat" cmpd="sng" algn="ctr">
                      <a:solidFill>
                        <a:srgbClr val="D6E0D1"/>
                      </a:solidFill>
                      <a:prstDash val="solid"/>
                      <a:round/>
                      <a:headEnd type="none" w="med" len="med"/>
                      <a:tailEnd type="none" w="med" len="med"/>
                    </a:lnL>
                    <a:lnR w="6350" cap="flat" cmpd="sng" algn="ctr">
                      <a:solidFill>
                        <a:srgbClr val="D6E0D1"/>
                      </a:solidFill>
                      <a:prstDash val="solid"/>
                      <a:round/>
                      <a:headEnd type="none" w="med" len="med"/>
                      <a:tailEnd type="none" w="med" len="med"/>
                    </a:lnR>
                    <a:lnT w="6350" cap="flat" cmpd="sng" algn="ctr">
                      <a:solidFill>
                        <a:srgbClr val="D6E0D1"/>
                      </a:solidFill>
                      <a:prstDash val="solid"/>
                      <a:round/>
                      <a:headEnd type="none" w="med" len="med"/>
                      <a:tailEnd type="none" w="med" len="med"/>
                    </a:lnT>
                    <a:lnB w="6350" cap="flat" cmpd="sng" algn="ctr">
                      <a:solidFill>
                        <a:srgbClr val="D6E0D1"/>
                      </a:solidFill>
                      <a:prstDash val="solid"/>
                      <a:round/>
                      <a:headEnd type="none" w="med" len="med"/>
                      <a:tailEnd type="none" w="med" len="med"/>
                    </a:lnB>
                    <a:solidFill>
                      <a:srgbClr val="FBFCF9"/>
                    </a:solidFill>
                  </a:tcPr>
                </a:tc>
              </a:tr>
              <a:tr h="374904">
                <a:tc>
                  <a:txBody>
                    <a:bodyPr/>
                    <a:lstStyle/>
                    <a:p>
                      <a:pPr rtl="1" algn="r" indent="0" marL="0">
                        <a:buNone/>
                      </a:pPr>
                      <a:r>
                        <a:rPr lang="en-US" sz="1300" dirty="0">
                          <a:solidFill>
                            <a:srgbClr val="15271C"/>
                          </a:solidFill>
                          <a:latin typeface="Arial" pitchFamily="34" charset="0"/>
                          <a:ea typeface="Arial" pitchFamily="34" charset="-122"/>
                          <a:cs typeface="Arial" pitchFamily="34" charset="-120"/>
                        </a:rPr>
                        <a:t>جولة في المعرض والأنشطة المصاحبة</a:t>
                      </a:r>
                      <a:endParaRPr lang="en-US" sz="1300" dirty="0">
                        <a:latin typeface="Arial" charset="0"/>
                        <a:ea typeface="Arial" charset="0"/>
                        <a:cs typeface="Arial" charset="0"/>
                      </a:endParaRPr>
                    </a:p>
                  </a:txBody>
                  <a:tcPr marL="7315200" marR="7315200" marT="0" marB="0" anchor="ctr">
                    <a:lnL w="6350" cap="flat" cmpd="sng" algn="ctr">
                      <a:solidFill>
                        <a:srgbClr val="D6E0D1"/>
                      </a:solidFill>
                      <a:prstDash val="solid"/>
                      <a:round/>
                      <a:headEnd type="none" w="med" len="med"/>
                      <a:tailEnd type="none" w="med" len="med"/>
                    </a:lnL>
                    <a:lnR w="6350" cap="flat" cmpd="sng" algn="ctr">
                      <a:solidFill>
                        <a:srgbClr val="D6E0D1"/>
                      </a:solidFill>
                      <a:prstDash val="solid"/>
                      <a:round/>
                      <a:headEnd type="none" w="med" len="med"/>
                      <a:tailEnd type="none" w="med" len="med"/>
                    </a:lnR>
                    <a:lnT w="6350" cap="flat" cmpd="sng" algn="ctr">
                      <a:solidFill>
                        <a:srgbClr val="D6E0D1"/>
                      </a:solidFill>
                      <a:prstDash val="solid"/>
                      <a:round/>
                      <a:headEnd type="none" w="med" len="med"/>
                      <a:tailEnd type="none" w="med" len="med"/>
                    </a:lnT>
                    <a:lnB w="6350" cap="flat" cmpd="sng" algn="ctr">
                      <a:solidFill>
                        <a:srgbClr val="D6E0D1"/>
                      </a:solidFill>
                      <a:prstDash val="solid"/>
                      <a:round/>
                      <a:headEnd type="none" w="med" len="med"/>
                      <a:tailEnd type="none" w="med" len="med"/>
                    </a:lnB>
                    <a:solidFill>
                      <a:srgbClr val="F4F7F1"/>
                    </a:solidFill>
                  </a:tcPr>
                </a:tc>
                <a:tc>
                  <a:txBody>
                    <a:bodyPr/>
                    <a:lstStyle/>
                    <a:p>
                      <a:pPr rtl="1" algn="r" indent="0" marL="0">
                        <a:buNone/>
                      </a:pPr>
                      <a:r>
                        <a:rPr lang="en-US" sz="1300" b="1" dirty="0">
                          <a:solidFill>
                            <a:srgbClr val="1E5E36"/>
                          </a:solidFill>
                          <a:latin typeface="Arial" pitchFamily="34" charset="0"/>
                          <a:ea typeface="Arial" pitchFamily="34" charset="-122"/>
                          <a:cs typeface="Arial" pitchFamily="34" charset="-120"/>
                        </a:rPr>
                        <a:t>12:00 م</a:t>
                      </a:r>
                      <a:endParaRPr lang="en-US" sz="1300" dirty="0">
                        <a:latin typeface="Arial" charset="0"/>
                        <a:ea typeface="Arial" charset="0"/>
                        <a:cs typeface="Arial" charset="0"/>
                      </a:endParaRPr>
                    </a:p>
                  </a:txBody>
                  <a:tcPr marL="7315200" marR="7315200" marT="0" marB="0" anchor="ctr">
                    <a:lnL w="6350" cap="flat" cmpd="sng" algn="ctr">
                      <a:solidFill>
                        <a:srgbClr val="D6E0D1"/>
                      </a:solidFill>
                      <a:prstDash val="solid"/>
                      <a:round/>
                      <a:headEnd type="none" w="med" len="med"/>
                      <a:tailEnd type="none" w="med" len="med"/>
                    </a:lnL>
                    <a:lnR w="6350" cap="flat" cmpd="sng" algn="ctr">
                      <a:solidFill>
                        <a:srgbClr val="D6E0D1"/>
                      </a:solidFill>
                      <a:prstDash val="solid"/>
                      <a:round/>
                      <a:headEnd type="none" w="med" len="med"/>
                      <a:tailEnd type="none" w="med" len="med"/>
                    </a:lnR>
                    <a:lnT w="6350" cap="flat" cmpd="sng" algn="ctr">
                      <a:solidFill>
                        <a:srgbClr val="D6E0D1"/>
                      </a:solidFill>
                      <a:prstDash val="solid"/>
                      <a:round/>
                      <a:headEnd type="none" w="med" len="med"/>
                      <a:tailEnd type="none" w="med" len="med"/>
                    </a:lnT>
                    <a:lnB w="6350" cap="flat" cmpd="sng" algn="ctr">
                      <a:solidFill>
                        <a:srgbClr val="D6E0D1"/>
                      </a:solidFill>
                      <a:prstDash val="solid"/>
                      <a:round/>
                      <a:headEnd type="none" w="med" len="med"/>
                      <a:tailEnd type="none" w="med" len="med"/>
                    </a:lnB>
                    <a:solidFill>
                      <a:srgbClr val="F4F7F1"/>
                    </a:solidFill>
                  </a:tcPr>
                </a:tc>
              </a:tr>
              <a:tr h="374904">
                <a:tc>
                  <a:txBody>
                    <a:bodyPr/>
                    <a:lstStyle/>
                    <a:p>
                      <a:pPr rtl="1" algn="r" indent="0" marL="0">
                        <a:buNone/>
                      </a:pPr>
                      <a:r>
                        <a:rPr lang="en-US" sz="1300" dirty="0">
                          <a:solidFill>
                            <a:srgbClr val="15271C"/>
                          </a:solidFill>
                          <a:latin typeface="Arial" pitchFamily="34" charset="0"/>
                          <a:ea typeface="Arial" pitchFamily="34" charset="-122"/>
                          <a:cs typeface="Arial" pitchFamily="34" charset="-120"/>
                        </a:rPr>
                        <a:t>الختام والتوديع</a:t>
                      </a:r>
                      <a:endParaRPr lang="en-US" sz="1300" dirty="0">
                        <a:latin typeface="Arial" charset="0"/>
                        <a:ea typeface="Arial" charset="0"/>
                        <a:cs typeface="Arial" charset="0"/>
                      </a:endParaRPr>
                    </a:p>
                  </a:txBody>
                  <a:tcPr marL="7315200" marR="7315200" marT="0" marB="0" anchor="ctr">
                    <a:lnL w="6350" cap="flat" cmpd="sng" algn="ctr">
                      <a:solidFill>
                        <a:srgbClr val="D6E0D1"/>
                      </a:solidFill>
                      <a:prstDash val="solid"/>
                      <a:round/>
                      <a:headEnd type="none" w="med" len="med"/>
                      <a:tailEnd type="none" w="med" len="med"/>
                    </a:lnL>
                    <a:lnR w="6350" cap="flat" cmpd="sng" algn="ctr">
                      <a:solidFill>
                        <a:srgbClr val="D6E0D1"/>
                      </a:solidFill>
                      <a:prstDash val="solid"/>
                      <a:round/>
                      <a:headEnd type="none" w="med" len="med"/>
                      <a:tailEnd type="none" w="med" len="med"/>
                    </a:lnR>
                    <a:lnT w="6350" cap="flat" cmpd="sng" algn="ctr">
                      <a:solidFill>
                        <a:srgbClr val="D6E0D1"/>
                      </a:solidFill>
                      <a:prstDash val="solid"/>
                      <a:round/>
                      <a:headEnd type="none" w="med" len="med"/>
                      <a:tailEnd type="none" w="med" len="med"/>
                    </a:lnT>
                    <a:lnB w="6350" cap="flat" cmpd="sng" algn="ctr">
                      <a:solidFill>
                        <a:srgbClr val="D6E0D1"/>
                      </a:solidFill>
                      <a:prstDash val="solid"/>
                      <a:round/>
                      <a:headEnd type="none" w="med" len="med"/>
                      <a:tailEnd type="none" w="med" len="med"/>
                    </a:lnB>
                    <a:solidFill>
                      <a:srgbClr val="FBFCF9"/>
                    </a:solidFill>
                  </a:tcPr>
                </a:tc>
                <a:tc>
                  <a:txBody>
                    <a:bodyPr/>
                    <a:lstStyle/>
                    <a:p>
                      <a:pPr rtl="1" algn="r" indent="0" marL="0">
                        <a:buNone/>
                      </a:pPr>
                      <a:r>
                        <a:rPr lang="en-US" sz="1300" b="1" dirty="0">
                          <a:solidFill>
                            <a:srgbClr val="1E5E36"/>
                          </a:solidFill>
                          <a:latin typeface="Arial" pitchFamily="34" charset="0"/>
                          <a:ea typeface="Arial" pitchFamily="34" charset="-122"/>
                          <a:cs typeface="Arial" pitchFamily="34" charset="-120"/>
                        </a:rPr>
                        <a:t>12:30 م</a:t>
                      </a:r>
                      <a:endParaRPr lang="en-US" sz="1300" dirty="0">
                        <a:latin typeface="Arial" charset="0"/>
                        <a:ea typeface="Arial" charset="0"/>
                        <a:cs typeface="Arial" charset="0"/>
                      </a:endParaRPr>
                    </a:p>
                  </a:txBody>
                  <a:tcPr marL="7315200" marR="7315200" marT="0" marB="0" anchor="ctr">
                    <a:lnL w="6350" cap="flat" cmpd="sng" algn="ctr">
                      <a:solidFill>
                        <a:srgbClr val="D6E0D1"/>
                      </a:solidFill>
                      <a:prstDash val="solid"/>
                      <a:round/>
                      <a:headEnd type="none" w="med" len="med"/>
                      <a:tailEnd type="none" w="med" len="med"/>
                    </a:lnL>
                    <a:lnR w="6350" cap="flat" cmpd="sng" algn="ctr">
                      <a:solidFill>
                        <a:srgbClr val="D6E0D1"/>
                      </a:solidFill>
                      <a:prstDash val="solid"/>
                      <a:round/>
                      <a:headEnd type="none" w="med" len="med"/>
                      <a:tailEnd type="none" w="med" len="med"/>
                    </a:lnR>
                    <a:lnT w="6350" cap="flat" cmpd="sng" algn="ctr">
                      <a:solidFill>
                        <a:srgbClr val="D6E0D1"/>
                      </a:solidFill>
                      <a:prstDash val="solid"/>
                      <a:round/>
                      <a:headEnd type="none" w="med" len="med"/>
                      <a:tailEnd type="none" w="med" len="med"/>
                    </a:lnT>
                    <a:lnB w="6350" cap="flat" cmpd="sng" algn="ctr">
                      <a:solidFill>
                        <a:srgbClr val="D6E0D1"/>
                      </a:solidFill>
                      <a:prstDash val="solid"/>
                      <a:round/>
                      <a:headEnd type="none" w="med" len="med"/>
                      <a:tailEnd type="none" w="med" len="med"/>
                    </a:lnB>
                    <a:solidFill>
                      <a:srgbClr val="FBFCF9"/>
                    </a:solidFill>
                  </a:tcPr>
                </a:tc>
              </a:tr>
            </a:tbl>
          </a:graphicData>
        </a:graphic>
      </p:graphicFrame>
      <p:sp>
        <p:nvSpPr>
          <p:cNvPr id="6" name="Text 1"/>
          <p:cNvSpPr txBox="1"/>
          <p:nvPr/>
        </p:nvSpPr>
        <p:spPr>
          <a:xfrm>
            <a:off x="594360" y="6355080"/>
            <a:ext cx="914400" cy="274320"/>
          </a:xfrm>
          <a:prstGeom prst="rect">
            <a:avLst/>
          </a:prstGeom>
          <a:noFill/>
          <a:ln/>
        </p:spPr>
        <p:txBody>
          <a:bodyPr wrap="square" lIns="0" tIns="0" rIns="0" bIns="0" rtlCol="0" anchor="t"/>
          <a:lstStyle/>
          <a:p>
            <a:pPr algn="l" indent="0" marL="0">
              <a:buNone/>
            </a:pPr>
            <a:r>
              <a:rPr lang="ar-SA" altLang="en-US" sz="1100" dirty="0">
                <a:solidFill>
                  <a:srgbClr val="6B7D70"/>
                </a:solidFill>
                <a:latin typeface="Arial" pitchFamily="34" charset="0"/>
                <a:ea typeface="Arial" pitchFamily="34" charset="-122"/>
                <a:cs typeface="Arial" pitchFamily="34" charset="-120"/>
              </a:rPr>
              <a:t>14</a:t>
            </a:r>
            <a:endParaRPr lang="ar-SA" sz="1100" dirty="0"/>
          </a:p>
        </p:txBody>
      </p:sp>
      <p:sp>
        <p:nvSpPr>
          <p:cNvPr id="7" name="Text 2"/>
          <p:cNvSpPr txBox="1"/>
          <p:nvPr/>
        </p:nvSpPr>
        <p:spPr>
          <a:xfrm>
            <a:off x="7025335" y="6355080"/>
            <a:ext cx="4572000" cy="274320"/>
          </a:xfrm>
          <a:prstGeom prst="rect">
            <a:avLst/>
          </a:prstGeom>
          <a:noFill/>
          <a:ln/>
        </p:spPr>
        <p:txBody>
          <a:bodyPr wrap="square" lIns="0" tIns="0" rIns="0" bIns="0" rtlCol="0" anchor="t"/>
          <a:lstStyle/>
          <a:p>
            <a:pPr rtl="1" algn="r" indent="0" marL="0">
              <a:buNone/>
            </a:pPr>
            <a:r>
              <a:rPr lang="ar-SA" altLang="en-US" sz="1100" dirty="0">
                <a:solidFill>
                  <a:srgbClr val="6B7D70"/>
                </a:solidFill>
                <a:latin typeface="Arial" pitchFamily="34" charset="0"/>
                <a:ea typeface="Arial" pitchFamily="34" charset="-122"/>
                <a:cs typeface="Arial" pitchFamily="34" charset="-120"/>
              </a:rPr>
              <a:t>مبادرة الأثر الأخضر المستدام</a:t>
            </a:r>
            <a:endParaRPr lang="ar-SA"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7F1"/>
        </a:solidFill>
      </p:bgPr>
    </p:bg>
    <p:spTree>
      <p:nvGrpSpPr>
        <p:cNvPr id="1" name=""/>
        <p:cNvGrpSpPr/>
        <p:nvPr/>
      </p:nvGrpSpPr>
      <p:grpSpPr>
        <a:xfrm>
          <a:off x="0" y="0"/>
          <a:ext cx="0" cy="0"/>
          <a:chOff x="0" y="0"/>
          <a:chExt cx="0" cy="0"/>
        </a:xfrm>
      </p:grpSpPr>
      <p:sp>
        <p:nvSpPr>
          <p:cNvPr id="2" name="Text 0"/>
          <p:cNvSpPr txBox="1"/>
          <p:nvPr/>
        </p:nvSpPr>
        <p:spPr>
          <a:xfrm>
            <a:off x="594360" y="502920"/>
            <a:ext cx="11002975" cy="365760"/>
          </a:xfrm>
          <a:prstGeom prst="rect">
            <a:avLst/>
          </a:prstGeom>
          <a:noFill/>
          <a:ln/>
        </p:spPr>
        <p:txBody>
          <a:bodyPr wrap="square" lIns="0" tIns="0" rIns="0" bIns="0" rtlCol="0" anchor="t"/>
          <a:lstStyle/>
          <a:p>
            <a:pPr rtl="1" algn="r" indent="0" marL="0">
              <a:buNone/>
            </a:pPr>
            <a:r>
              <a:rPr lang="ar-SA" altLang="en-US" sz="1500" b="1" dirty="0">
                <a:solidFill>
                  <a:srgbClr val="8A6508"/>
                </a:solidFill>
                <a:latin typeface="Arial" pitchFamily="34" charset="0"/>
                <a:ea typeface="Arial" pitchFamily="34" charset="-122"/>
                <a:cs typeface="Arial" pitchFamily="34" charset="-120"/>
              </a:rPr>
              <a:t>معًا نصنع الأثر</a:t>
            </a:r>
            <a:endParaRPr lang="ar-SA" sz="1500" dirty="0"/>
          </a:p>
        </p:txBody>
      </p:sp>
      <p:sp>
        <p:nvSpPr>
          <p:cNvPr id="3" name="Text 1"/>
          <p:cNvSpPr txBox="1"/>
          <p:nvPr/>
        </p:nvSpPr>
        <p:spPr>
          <a:xfrm>
            <a:off x="594360" y="868680"/>
            <a:ext cx="11002975" cy="731520"/>
          </a:xfrm>
          <a:prstGeom prst="rect">
            <a:avLst/>
          </a:prstGeom>
          <a:noFill/>
          <a:ln/>
        </p:spPr>
        <p:txBody>
          <a:bodyPr wrap="square" lIns="0" tIns="0" rIns="0" bIns="0" rtlCol="0" anchor="t"/>
          <a:lstStyle/>
          <a:p>
            <a:pPr rtl="1" algn="r" indent="0" marL="0">
              <a:buNone/>
            </a:pPr>
            <a:r>
              <a:rPr lang="ar-SA" altLang="en-US" sz="3600" b="1" dirty="0">
                <a:solidFill>
                  <a:srgbClr val="1E5E36"/>
                </a:solidFill>
                <a:latin typeface="Arial" pitchFamily="34" charset="0"/>
                <a:ea typeface="Arial" pitchFamily="34" charset="-122"/>
                <a:cs typeface="Arial" pitchFamily="34" charset="-120"/>
              </a:rPr>
              <a:t>شركاء النجاح</a:t>
            </a:r>
            <a:endParaRPr lang="ar-SA" sz="3600" dirty="0"/>
          </a:p>
        </p:txBody>
      </p:sp>
      <p:sp>
        <p:nvSpPr>
          <p:cNvPr id="4" name="Shape 2"/>
          <p:cNvSpPr/>
          <p:nvPr/>
        </p:nvSpPr>
        <p:spPr>
          <a:xfrm>
            <a:off x="8112557" y="1828800"/>
            <a:ext cx="3484778" cy="4251960"/>
          </a:xfrm>
          <a:prstGeom prst="roundRect">
            <a:avLst>
              <a:gd name="adj" fmla="val 3149"/>
            </a:avLst>
          </a:prstGeom>
          <a:solidFill>
            <a:srgbClr val="FBFCF9"/>
          </a:solidFill>
          <a:ln w="9525">
            <a:solidFill>
              <a:srgbClr val="D6E0D1"/>
            </a:solidFill>
            <a:prstDash val="solid"/>
          </a:ln>
        </p:spPr>
      </p:sp>
      <p:sp>
        <p:nvSpPr>
          <p:cNvPr id="5" name="Shape 3"/>
          <p:cNvSpPr/>
          <p:nvPr/>
        </p:nvSpPr>
        <p:spPr>
          <a:xfrm>
            <a:off x="8341157" y="2057400"/>
            <a:ext cx="3027578" cy="548640"/>
          </a:xfrm>
          <a:prstGeom prst="roundRect">
            <a:avLst>
              <a:gd name="adj" fmla="val 13333"/>
            </a:avLst>
          </a:prstGeom>
          <a:solidFill>
            <a:srgbClr val="2F7D46"/>
          </a:solidFill>
          <a:ln w="12700">
            <a:solidFill>
              <a:srgbClr val="2F7D46"/>
            </a:solidFill>
            <a:prstDash val="solid"/>
          </a:ln>
        </p:spPr>
      </p:sp>
      <p:sp>
        <p:nvSpPr>
          <p:cNvPr id="6" name="Text 4"/>
          <p:cNvSpPr txBox="1"/>
          <p:nvPr/>
        </p:nvSpPr>
        <p:spPr>
          <a:xfrm>
            <a:off x="8478317" y="2103120"/>
            <a:ext cx="2753258" cy="457200"/>
          </a:xfrm>
          <a:prstGeom prst="rect">
            <a:avLst/>
          </a:prstGeom>
          <a:noFill/>
          <a:ln/>
        </p:spPr>
        <p:txBody>
          <a:bodyPr wrap="square" lIns="0" tIns="0" rIns="0" bIns="0" rtlCol="0" anchor="ctr"/>
          <a:lstStyle/>
          <a:p>
            <a:pPr rtl="1" algn="r" indent="0" marL="0">
              <a:buNone/>
            </a:pPr>
            <a:r>
              <a:rPr lang="ar-SA" altLang="en-US" sz="1800" b="1" dirty="0">
                <a:solidFill>
                  <a:srgbClr val="FFFFFF"/>
                </a:solidFill>
                <a:latin typeface="Arial" pitchFamily="34" charset="0"/>
                <a:ea typeface="Arial" pitchFamily="34" charset="-122"/>
                <a:cs typeface="Arial" pitchFamily="34" charset="-120"/>
              </a:rPr>
              <a:t>القطاع الحكومي</a:t>
            </a:r>
            <a:endParaRPr lang="ar-SA" sz="1800" dirty="0"/>
          </a:p>
        </p:txBody>
      </p:sp>
      <p:sp>
        <p:nvSpPr>
          <p:cNvPr id="7" name="Text 5"/>
          <p:cNvSpPr txBox="1"/>
          <p:nvPr/>
        </p:nvSpPr>
        <p:spPr>
          <a:xfrm>
            <a:off x="8432597" y="2834640"/>
            <a:ext cx="2844698" cy="3108960"/>
          </a:xfrm>
          <a:prstGeom prst="rect">
            <a:avLst/>
          </a:prstGeom>
          <a:noFill/>
          <a:ln/>
        </p:spPr>
        <p:txBody>
          <a:bodyPr wrap="square" lIns="0" tIns="0" rIns="0" bIns="0" rtlCol="0" anchor="t"/>
          <a:lstStyle/>
          <a:p>
            <a:pPr algn="r" indent="0" marL="0">
              <a:spcAft>
                <a:spcPts val="900"/>
              </a:spcAft>
              <a:buNone/>
            </a:pPr>
            <a:r>
              <a:rPr lang="ar-SA" altLang="en-US" sz="1400" dirty="0">
                <a:solidFill>
                  <a:srgbClr val="15271C"/>
                </a:solidFill>
                <a:latin typeface="Arial" pitchFamily="34" charset="0"/>
                <a:ea typeface="Arial" pitchFamily="34" charset="-122"/>
                <a:cs typeface="Arial" pitchFamily="34" charset="-120"/>
              </a:rPr>
              <a:t>وزارة البيئة والمياه والزراعة</a:t>
            </a:r>
            <a:endParaRPr lang="ar-SA" sz="1400" dirty="0"/>
          </a:p>
          <a:p>
            <a:pPr algn="r" indent="0" marL="0">
              <a:spcAft>
                <a:spcPts val="900"/>
              </a:spcAft>
              <a:buNone/>
            </a:pPr>
            <a:r>
              <a:rPr lang="ar-SA" altLang="en-US" sz="1400" dirty="0">
                <a:solidFill>
                  <a:srgbClr val="15271C"/>
                </a:solidFill>
                <a:latin typeface="Arial" pitchFamily="34" charset="0"/>
                <a:ea typeface="Arial" pitchFamily="34" charset="-122"/>
                <a:cs typeface="Arial" pitchFamily="34" charset="-120"/>
              </a:rPr>
              <a:t>المركز الوطني لتنمية القطاع غير الربحي</a:t>
            </a:r>
            <a:endParaRPr lang="ar-SA" sz="1400" dirty="0"/>
          </a:p>
          <a:p>
            <a:pPr algn="r" indent="0" marL="0">
              <a:spcAft>
                <a:spcPts val="900"/>
              </a:spcAft>
              <a:buNone/>
            </a:pPr>
            <a:r>
              <a:rPr lang="ar-SA" altLang="en-US" sz="1400" dirty="0">
                <a:solidFill>
                  <a:srgbClr val="15271C"/>
                </a:solidFill>
                <a:latin typeface="Arial" pitchFamily="34" charset="0"/>
                <a:ea typeface="Arial" pitchFamily="34" charset="-122"/>
                <a:cs typeface="Arial" pitchFamily="34" charset="-120"/>
              </a:rPr>
              <a:t>وزارة النقل والخدمات اللوجستية — مكتب التشجير</a:t>
            </a:r>
            <a:endParaRPr lang="ar-SA" sz="1400" dirty="0"/>
          </a:p>
          <a:p>
            <a:pPr algn="r" indent="0" marL="0">
              <a:spcAft>
                <a:spcPts val="900"/>
              </a:spcAft>
              <a:buNone/>
            </a:pPr>
            <a:r>
              <a:rPr lang="ar-SA" altLang="en-US" sz="1400" dirty="0">
                <a:solidFill>
                  <a:srgbClr val="15271C"/>
                </a:solidFill>
                <a:latin typeface="Arial" pitchFamily="34" charset="0"/>
                <a:ea typeface="Arial" pitchFamily="34" charset="-122"/>
                <a:cs typeface="Arial" pitchFamily="34" charset="-120"/>
              </a:rPr>
              <a:t>مجلس الجمعيات والمؤسسات الأهلية</a:t>
            </a:r>
            <a:endParaRPr lang="ar-SA" sz="1400" dirty="0"/>
          </a:p>
          <a:p>
            <a:pPr algn="r" indent="0" marL="0">
              <a:spcAft>
                <a:spcPts val="900"/>
              </a:spcAft>
              <a:buNone/>
            </a:pPr>
            <a:r>
              <a:rPr lang="ar-SA" altLang="en-US" sz="1400" dirty="0">
                <a:solidFill>
                  <a:srgbClr val="15271C"/>
                </a:solidFill>
                <a:latin typeface="Arial" pitchFamily="34" charset="0"/>
                <a:ea typeface="Arial" pitchFamily="34" charset="-122"/>
                <a:cs typeface="Arial" pitchFamily="34" charset="-120"/>
              </a:rPr>
              <a:t>الإدارة العامة للتعليم بمنطقة الرياض</a:t>
            </a:r>
            <a:endParaRPr lang="ar-SA" sz="1400" dirty="0"/>
          </a:p>
          <a:p>
            <a:pPr algn="r" indent="0" marL="0">
              <a:spcAft>
                <a:spcPts val="900"/>
              </a:spcAft>
              <a:buNone/>
            </a:pPr>
            <a:r>
              <a:rPr lang="ar-SA" altLang="en-US" sz="1400" dirty="0">
                <a:solidFill>
                  <a:srgbClr val="15271C"/>
                </a:solidFill>
                <a:latin typeface="Arial" pitchFamily="34" charset="0"/>
                <a:ea typeface="Arial" pitchFamily="34" charset="-122"/>
                <a:cs typeface="Arial" pitchFamily="34" charset="-120"/>
              </a:rPr>
              <a:t>الهيئة العامة للطرق</a:t>
            </a:r>
            <a:endParaRPr lang="ar-SA" sz="1400" dirty="0"/>
          </a:p>
          <a:p>
            <a:pPr algn="r" indent="0" marL="0">
              <a:spcAft>
                <a:spcPts val="900"/>
              </a:spcAft>
              <a:buNone/>
            </a:pPr>
            <a:r>
              <a:rPr lang="ar-SA" altLang="en-US" sz="1400" dirty="0">
                <a:solidFill>
                  <a:srgbClr val="15271C"/>
                </a:solidFill>
                <a:latin typeface="Arial" pitchFamily="34" charset="0"/>
                <a:ea typeface="Arial" pitchFamily="34" charset="-122"/>
                <a:cs typeface="Arial" pitchFamily="34" charset="-120"/>
              </a:rPr>
              <a:t>المراكز الوطنية ذات العلاقة</a:t>
            </a:r>
            <a:endParaRPr lang="ar-SA" sz="1400" dirty="0"/>
          </a:p>
        </p:txBody>
      </p:sp>
      <p:sp>
        <p:nvSpPr>
          <p:cNvPr id="8" name="Shape 6"/>
          <p:cNvSpPr/>
          <p:nvPr/>
        </p:nvSpPr>
        <p:spPr>
          <a:xfrm>
            <a:off x="4353458" y="1828800"/>
            <a:ext cx="3484778" cy="4251960"/>
          </a:xfrm>
          <a:prstGeom prst="roundRect">
            <a:avLst>
              <a:gd name="adj" fmla="val 3149"/>
            </a:avLst>
          </a:prstGeom>
          <a:solidFill>
            <a:srgbClr val="FBFCF9"/>
          </a:solidFill>
          <a:ln w="9525">
            <a:solidFill>
              <a:srgbClr val="D6E0D1"/>
            </a:solidFill>
            <a:prstDash val="solid"/>
          </a:ln>
        </p:spPr>
      </p:sp>
      <p:sp>
        <p:nvSpPr>
          <p:cNvPr id="9" name="Shape 7"/>
          <p:cNvSpPr/>
          <p:nvPr/>
        </p:nvSpPr>
        <p:spPr>
          <a:xfrm>
            <a:off x="4582058" y="2057400"/>
            <a:ext cx="3027578" cy="548640"/>
          </a:xfrm>
          <a:prstGeom prst="roundRect">
            <a:avLst>
              <a:gd name="adj" fmla="val 13333"/>
            </a:avLst>
          </a:prstGeom>
          <a:solidFill>
            <a:srgbClr val="8A6508"/>
          </a:solidFill>
          <a:ln w="12700">
            <a:solidFill>
              <a:srgbClr val="8A6508"/>
            </a:solidFill>
            <a:prstDash val="solid"/>
          </a:ln>
        </p:spPr>
      </p:sp>
      <p:sp>
        <p:nvSpPr>
          <p:cNvPr id="10" name="Text 8"/>
          <p:cNvSpPr txBox="1"/>
          <p:nvPr/>
        </p:nvSpPr>
        <p:spPr>
          <a:xfrm>
            <a:off x="4719218" y="2103120"/>
            <a:ext cx="2753258" cy="457200"/>
          </a:xfrm>
          <a:prstGeom prst="rect">
            <a:avLst/>
          </a:prstGeom>
          <a:noFill/>
          <a:ln/>
        </p:spPr>
        <p:txBody>
          <a:bodyPr wrap="square" lIns="0" tIns="0" rIns="0" bIns="0" rtlCol="0" anchor="ctr"/>
          <a:lstStyle/>
          <a:p>
            <a:pPr rtl="1" algn="r" indent="0" marL="0">
              <a:buNone/>
            </a:pPr>
            <a:r>
              <a:rPr lang="ar-SA" altLang="en-US" sz="1800" b="1" dirty="0">
                <a:solidFill>
                  <a:srgbClr val="FFFFFF"/>
                </a:solidFill>
                <a:latin typeface="Arial" pitchFamily="34" charset="0"/>
                <a:ea typeface="Arial" pitchFamily="34" charset="-122"/>
                <a:cs typeface="Arial" pitchFamily="34" charset="-120"/>
              </a:rPr>
              <a:t>القطاع الخاص</a:t>
            </a:r>
            <a:endParaRPr lang="ar-SA" sz="1800" dirty="0"/>
          </a:p>
        </p:txBody>
      </p:sp>
      <p:sp>
        <p:nvSpPr>
          <p:cNvPr id="11" name="Text 9"/>
          <p:cNvSpPr txBox="1"/>
          <p:nvPr/>
        </p:nvSpPr>
        <p:spPr>
          <a:xfrm>
            <a:off x="4673498" y="2834640"/>
            <a:ext cx="2844698" cy="3108960"/>
          </a:xfrm>
          <a:prstGeom prst="rect">
            <a:avLst/>
          </a:prstGeom>
          <a:noFill/>
          <a:ln/>
        </p:spPr>
        <p:txBody>
          <a:bodyPr wrap="square" lIns="0" tIns="0" rIns="0" bIns="0" rtlCol="0" anchor="t"/>
          <a:lstStyle/>
          <a:p>
            <a:pPr algn="r" indent="0" marL="0">
              <a:spcAft>
                <a:spcPts val="900"/>
              </a:spcAft>
              <a:buNone/>
            </a:pPr>
            <a:r>
              <a:rPr lang="ar-SA" altLang="en-US" sz="1400" dirty="0">
                <a:solidFill>
                  <a:srgbClr val="15271C"/>
                </a:solidFill>
                <a:latin typeface="Arial" pitchFamily="34" charset="0"/>
                <a:ea typeface="Arial" pitchFamily="34" charset="-122"/>
                <a:cs typeface="Arial" pitchFamily="34" charset="-120"/>
              </a:rPr>
              <a:t>مصنع أسمنت الرياض</a:t>
            </a:r>
            <a:endParaRPr lang="ar-SA" sz="1400" dirty="0"/>
          </a:p>
          <a:p>
            <a:pPr algn="r" indent="0" marL="0">
              <a:spcAft>
                <a:spcPts val="900"/>
              </a:spcAft>
              <a:buNone/>
            </a:pPr>
            <a:r>
              <a:rPr lang="ar-SA" altLang="en-US" sz="1400" dirty="0">
                <a:solidFill>
                  <a:srgbClr val="15271C"/>
                </a:solidFill>
                <a:latin typeface="Arial" pitchFamily="34" charset="0"/>
                <a:ea typeface="Arial" pitchFamily="34" charset="-122"/>
                <a:cs typeface="Arial" pitchFamily="34" charset="-120"/>
              </a:rPr>
              <a:t>مشاتل الجابر</a:t>
            </a:r>
            <a:endParaRPr lang="ar-SA" sz="1400" dirty="0"/>
          </a:p>
          <a:p>
            <a:pPr algn="r" indent="0" marL="0">
              <a:spcAft>
                <a:spcPts val="900"/>
              </a:spcAft>
              <a:buNone/>
            </a:pPr>
            <a:r>
              <a:rPr lang="ar-SA" altLang="en-US" sz="1400" dirty="0">
                <a:solidFill>
                  <a:srgbClr val="15271C"/>
                </a:solidFill>
                <a:latin typeface="Arial" pitchFamily="34" charset="0"/>
                <a:ea typeface="Arial" pitchFamily="34" charset="-122"/>
                <a:cs typeface="Arial" pitchFamily="34" charset="-120"/>
              </a:rPr>
              <a:t>شركة سهول الرواد للتدريب</a:t>
            </a:r>
            <a:endParaRPr lang="ar-SA" sz="1400" dirty="0"/>
          </a:p>
        </p:txBody>
      </p:sp>
      <p:sp>
        <p:nvSpPr>
          <p:cNvPr id="12" name="Shape 10"/>
          <p:cNvSpPr/>
          <p:nvPr/>
        </p:nvSpPr>
        <p:spPr>
          <a:xfrm>
            <a:off x="594360" y="1828800"/>
            <a:ext cx="3484778" cy="4251960"/>
          </a:xfrm>
          <a:prstGeom prst="roundRect">
            <a:avLst>
              <a:gd name="adj" fmla="val 3149"/>
            </a:avLst>
          </a:prstGeom>
          <a:solidFill>
            <a:srgbClr val="FBFCF9"/>
          </a:solidFill>
          <a:ln w="9525">
            <a:solidFill>
              <a:srgbClr val="D6E0D1"/>
            </a:solidFill>
            <a:prstDash val="solid"/>
          </a:ln>
        </p:spPr>
      </p:sp>
      <p:sp>
        <p:nvSpPr>
          <p:cNvPr id="13" name="Shape 11"/>
          <p:cNvSpPr/>
          <p:nvPr/>
        </p:nvSpPr>
        <p:spPr>
          <a:xfrm>
            <a:off x="822960" y="2057400"/>
            <a:ext cx="3027578" cy="548640"/>
          </a:xfrm>
          <a:prstGeom prst="roundRect">
            <a:avLst>
              <a:gd name="adj" fmla="val 13333"/>
            </a:avLst>
          </a:prstGeom>
          <a:solidFill>
            <a:srgbClr val="2A6FA8"/>
          </a:solidFill>
          <a:ln w="12700">
            <a:solidFill>
              <a:srgbClr val="2A6FA8"/>
            </a:solidFill>
            <a:prstDash val="solid"/>
          </a:ln>
        </p:spPr>
      </p:sp>
      <p:sp>
        <p:nvSpPr>
          <p:cNvPr id="14" name="Text 12"/>
          <p:cNvSpPr txBox="1"/>
          <p:nvPr/>
        </p:nvSpPr>
        <p:spPr>
          <a:xfrm>
            <a:off x="960120" y="2103120"/>
            <a:ext cx="2753258" cy="457200"/>
          </a:xfrm>
          <a:prstGeom prst="rect">
            <a:avLst/>
          </a:prstGeom>
          <a:noFill/>
          <a:ln/>
        </p:spPr>
        <p:txBody>
          <a:bodyPr wrap="square" lIns="0" tIns="0" rIns="0" bIns="0" rtlCol="0" anchor="ctr"/>
          <a:lstStyle/>
          <a:p>
            <a:pPr rtl="1" algn="r" indent="0" marL="0">
              <a:buNone/>
            </a:pPr>
            <a:r>
              <a:rPr lang="ar-SA" altLang="en-US" sz="1800" b="1" dirty="0">
                <a:solidFill>
                  <a:srgbClr val="FFFFFF"/>
                </a:solidFill>
                <a:latin typeface="Arial" pitchFamily="34" charset="0"/>
                <a:ea typeface="Arial" pitchFamily="34" charset="-122"/>
                <a:cs typeface="Arial" pitchFamily="34" charset="-120"/>
              </a:rPr>
              <a:t>القطاع غير الربحي</a:t>
            </a:r>
            <a:endParaRPr lang="ar-SA" sz="1800" dirty="0"/>
          </a:p>
        </p:txBody>
      </p:sp>
      <p:sp>
        <p:nvSpPr>
          <p:cNvPr id="15" name="Text 13"/>
          <p:cNvSpPr txBox="1"/>
          <p:nvPr/>
        </p:nvSpPr>
        <p:spPr>
          <a:xfrm>
            <a:off x="914400" y="2834640"/>
            <a:ext cx="2844698" cy="3108960"/>
          </a:xfrm>
          <a:prstGeom prst="rect">
            <a:avLst/>
          </a:prstGeom>
          <a:noFill/>
          <a:ln/>
        </p:spPr>
        <p:txBody>
          <a:bodyPr wrap="square" lIns="0" tIns="0" rIns="0" bIns="0" rtlCol="0" anchor="t"/>
          <a:lstStyle/>
          <a:p>
            <a:pPr algn="r" indent="0" marL="0">
              <a:spcAft>
                <a:spcPts val="900"/>
              </a:spcAft>
              <a:buNone/>
            </a:pPr>
            <a:r>
              <a:rPr lang="ar-SA" altLang="en-US" sz="1400" dirty="0">
                <a:solidFill>
                  <a:srgbClr val="15271C"/>
                </a:solidFill>
                <a:latin typeface="Arial" pitchFamily="34" charset="0"/>
                <a:ea typeface="Arial" pitchFamily="34" charset="-122"/>
                <a:cs typeface="Arial" pitchFamily="34" charset="-120"/>
              </a:rPr>
              <a:t>جمعية المسؤولية المجتمعية</a:t>
            </a:r>
            <a:endParaRPr lang="ar-SA" sz="1400" dirty="0"/>
          </a:p>
          <a:p>
            <a:pPr algn="r" indent="0" marL="0">
              <a:spcAft>
                <a:spcPts val="900"/>
              </a:spcAft>
              <a:buNone/>
            </a:pPr>
            <a:r>
              <a:rPr lang="ar-SA" altLang="en-US" sz="1400" dirty="0">
                <a:solidFill>
                  <a:srgbClr val="15271C"/>
                </a:solidFill>
                <a:latin typeface="Arial" pitchFamily="34" charset="0"/>
                <a:ea typeface="Arial" pitchFamily="34" charset="-122"/>
                <a:cs typeface="Arial" pitchFamily="34" charset="-120"/>
              </a:rPr>
              <a:t>الجمعية السعودية للفنون التشكيلية</a:t>
            </a:r>
            <a:endParaRPr lang="ar-SA" sz="1400" dirty="0"/>
          </a:p>
          <a:p>
            <a:pPr algn="r" indent="0" marL="0">
              <a:spcAft>
                <a:spcPts val="900"/>
              </a:spcAft>
              <a:buNone/>
            </a:pPr>
            <a:r>
              <a:rPr lang="ar-SA" altLang="en-US" sz="1400" dirty="0">
                <a:solidFill>
                  <a:srgbClr val="15271C"/>
                </a:solidFill>
                <a:latin typeface="Arial" pitchFamily="34" charset="0"/>
                <a:ea typeface="Arial" pitchFamily="34" charset="-122"/>
                <a:cs typeface="Arial" pitchFamily="34" charset="-120"/>
              </a:rPr>
              <a:t>جمعية الرحالة</a:t>
            </a:r>
            <a:endParaRPr lang="ar-SA" sz="1400" dirty="0"/>
          </a:p>
          <a:p>
            <a:pPr algn="r" indent="0" marL="0">
              <a:spcAft>
                <a:spcPts val="900"/>
              </a:spcAft>
              <a:buNone/>
            </a:pPr>
            <a:r>
              <a:rPr lang="ar-SA" altLang="en-US" sz="1400" dirty="0">
                <a:solidFill>
                  <a:srgbClr val="15271C"/>
                </a:solidFill>
                <a:latin typeface="Arial" pitchFamily="34" charset="0"/>
                <a:ea typeface="Arial" pitchFamily="34" charset="-122"/>
                <a:cs typeface="Arial" pitchFamily="34" charset="-120"/>
              </a:rPr>
              <a:t>جمعية المصدرين الصناعيين</a:t>
            </a:r>
            <a:endParaRPr lang="ar-SA" sz="1400" dirty="0"/>
          </a:p>
        </p:txBody>
      </p:sp>
      <p:sp>
        <p:nvSpPr>
          <p:cNvPr id="16" name="Text 14"/>
          <p:cNvSpPr txBox="1"/>
          <p:nvPr/>
        </p:nvSpPr>
        <p:spPr>
          <a:xfrm>
            <a:off x="594360" y="6355080"/>
            <a:ext cx="914400" cy="274320"/>
          </a:xfrm>
          <a:prstGeom prst="rect">
            <a:avLst/>
          </a:prstGeom>
          <a:noFill/>
          <a:ln/>
        </p:spPr>
        <p:txBody>
          <a:bodyPr wrap="square" lIns="0" tIns="0" rIns="0" bIns="0" rtlCol="0" anchor="t"/>
          <a:lstStyle/>
          <a:p>
            <a:pPr algn="l" indent="0" marL="0">
              <a:buNone/>
            </a:pPr>
            <a:r>
              <a:rPr lang="ar-SA" altLang="en-US" sz="1100" dirty="0">
                <a:solidFill>
                  <a:srgbClr val="6B7D70"/>
                </a:solidFill>
                <a:latin typeface="Arial" pitchFamily="34" charset="0"/>
                <a:ea typeface="Arial" pitchFamily="34" charset="-122"/>
                <a:cs typeface="Arial" pitchFamily="34" charset="-120"/>
              </a:rPr>
              <a:t>15</a:t>
            </a:r>
            <a:endParaRPr lang="ar-SA" sz="1100" dirty="0"/>
          </a:p>
        </p:txBody>
      </p:sp>
      <p:sp>
        <p:nvSpPr>
          <p:cNvPr id="17" name="Text 15"/>
          <p:cNvSpPr txBox="1"/>
          <p:nvPr/>
        </p:nvSpPr>
        <p:spPr>
          <a:xfrm>
            <a:off x="7025335" y="6355080"/>
            <a:ext cx="4572000" cy="274320"/>
          </a:xfrm>
          <a:prstGeom prst="rect">
            <a:avLst/>
          </a:prstGeom>
          <a:noFill/>
          <a:ln/>
        </p:spPr>
        <p:txBody>
          <a:bodyPr wrap="square" lIns="0" tIns="0" rIns="0" bIns="0" rtlCol="0" anchor="t"/>
          <a:lstStyle/>
          <a:p>
            <a:pPr rtl="1" algn="r" indent="0" marL="0">
              <a:buNone/>
            </a:pPr>
            <a:r>
              <a:rPr lang="ar-SA" altLang="en-US" sz="1100" dirty="0">
                <a:solidFill>
                  <a:srgbClr val="6B7D70"/>
                </a:solidFill>
                <a:latin typeface="Arial" pitchFamily="34" charset="0"/>
                <a:ea typeface="Arial" pitchFamily="34" charset="-122"/>
                <a:cs typeface="Arial" pitchFamily="34" charset="-120"/>
              </a:rPr>
              <a:t>مبادرة الأثر الأخضر المستدام</a:t>
            </a:r>
            <a:endParaRPr lang="ar-SA"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8F0E3"/>
        </a:solidFill>
      </p:bgPr>
    </p:bg>
    <p:spTree>
      <p:nvGrpSpPr>
        <p:cNvPr id="1" name=""/>
        <p:cNvGrpSpPr/>
        <p:nvPr/>
      </p:nvGrpSpPr>
      <p:grpSpPr>
        <a:xfrm>
          <a:off x="0" y="0"/>
          <a:ext cx="0" cy="0"/>
          <a:chOff x="0" y="0"/>
          <a:chExt cx="0" cy="0"/>
        </a:xfrm>
      </p:grpSpPr>
      <p:sp>
        <p:nvSpPr>
          <p:cNvPr id="2" name="Text 0"/>
          <p:cNvSpPr txBox="1"/>
          <p:nvPr/>
        </p:nvSpPr>
        <p:spPr>
          <a:xfrm>
            <a:off x="594360" y="502920"/>
            <a:ext cx="11002975" cy="365760"/>
          </a:xfrm>
          <a:prstGeom prst="rect">
            <a:avLst/>
          </a:prstGeom>
          <a:noFill/>
          <a:ln/>
        </p:spPr>
        <p:txBody>
          <a:bodyPr wrap="square" lIns="0" tIns="0" rIns="0" bIns="0" rtlCol="0" anchor="t"/>
          <a:lstStyle/>
          <a:p>
            <a:pPr rtl="1" algn="r" indent="0" marL="0">
              <a:buNone/>
            </a:pPr>
            <a:r>
              <a:rPr lang="ar-SA" altLang="en-US" sz="1500" b="1" dirty="0">
                <a:solidFill>
                  <a:srgbClr val="8A6508"/>
                </a:solidFill>
                <a:latin typeface="Arial" pitchFamily="34" charset="0"/>
                <a:ea typeface="Arial" pitchFamily="34" charset="-122"/>
                <a:cs typeface="Arial" pitchFamily="34" charset="-120"/>
              </a:rPr>
              <a:t>2026 — 2030</a:t>
            </a:r>
            <a:endParaRPr lang="ar-SA" sz="1500" dirty="0"/>
          </a:p>
        </p:txBody>
      </p:sp>
      <p:sp>
        <p:nvSpPr>
          <p:cNvPr id="3" name="Text 1"/>
          <p:cNvSpPr txBox="1"/>
          <p:nvPr/>
        </p:nvSpPr>
        <p:spPr>
          <a:xfrm>
            <a:off x="594360" y="868680"/>
            <a:ext cx="11002975" cy="731520"/>
          </a:xfrm>
          <a:prstGeom prst="rect">
            <a:avLst/>
          </a:prstGeom>
          <a:noFill/>
          <a:ln/>
        </p:spPr>
        <p:txBody>
          <a:bodyPr wrap="square" lIns="0" tIns="0" rIns="0" bIns="0" rtlCol="0" anchor="t"/>
          <a:lstStyle/>
          <a:p>
            <a:pPr rtl="1" algn="r" indent="0" marL="0">
              <a:buNone/>
            </a:pPr>
            <a:r>
              <a:rPr lang="ar-SA" altLang="en-US" sz="3600" b="1" dirty="0">
                <a:solidFill>
                  <a:srgbClr val="1E5E36"/>
                </a:solidFill>
                <a:latin typeface="Arial" pitchFamily="34" charset="0"/>
                <a:ea typeface="Arial" pitchFamily="34" charset="-122"/>
                <a:cs typeface="Arial" pitchFamily="34" charset="-120"/>
              </a:rPr>
              <a:t>خارطة الطريق</a:t>
            </a:r>
            <a:endParaRPr lang="ar-SA" sz="3600" dirty="0"/>
          </a:p>
        </p:txBody>
      </p:sp>
      <p:sp>
        <p:nvSpPr>
          <p:cNvPr id="4" name="Text 2"/>
          <p:cNvSpPr txBox="1"/>
          <p:nvPr/>
        </p:nvSpPr>
        <p:spPr>
          <a:xfrm>
            <a:off x="594360" y="1783080"/>
            <a:ext cx="11002975" cy="822960"/>
          </a:xfrm>
          <a:prstGeom prst="rect">
            <a:avLst/>
          </a:prstGeom>
          <a:noFill/>
          <a:ln/>
        </p:spPr>
        <p:txBody>
          <a:bodyPr wrap="square" lIns="0" tIns="0" rIns="0" bIns="0" rtlCol="0" anchor="t"/>
          <a:lstStyle/>
          <a:p>
            <a:pPr rtl="1" algn="r" indent="0" marL="0">
              <a:buNone/>
            </a:pPr>
            <a:r>
              <a:rPr lang="ar-SA" altLang="en-US" sz="1700" dirty="0">
                <a:solidFill>
                  <a:srgbClr val="2B3F32"/>
                </a:solidFill>
                <a:latin typeface="Arial" pitchFamily="34" charset="0"/>
                <a:ea typeface="Arial" pitchFamily="34" charset="-122"/>
                <a:cs typeface="Arial" pitchFamily="34" charset="-120"/>
              </a:rPr>
              <a:t>توسّع مستمر في المستهدفات والشراكات عبر محاور البيئة والتعليم والسياحة والفنون والاقتصاد الدائري والإعلام الرقمي، مع منظومة ذكية لإدارة الأثر ودعم القرار.</a:t>
            </a:r>
            <a:endParaRPr lang="ar-SA" sz="1700" dirty="0"/>
          </a:p>
        </p:txBody>
      </p:sp>
      <p:sp>
        <p:nvSpPr>
          <p:cNvPr id="5" name="Shape 3"/>
          <p:cNvSpPr/>
          <p:nvPr/>
        </p:nvSpPr>
        <p:spPr>
          <a:xfrm>
            <a:off x="868680" y="3246120"/>
            <a:ext cx="10454335" cy="0"/>
          </a:xfrm>
          <a:prstGeom prst="line">
            <a:avLst/>
          </a:prstGeom>
          <a:noFill/>
          <a:ln w="25400">
            <a:solidFill>
              <a:srgbClr val="2F7D46"/>
            </a:solidFill>
            <a:prstDash val="solid"/>
          </a:ln>
        </p:spPr>
      </p:sp>
      <p:sp>
        <p:nvSpPr>
          <p:cNvPr id="6" name="Shape 4"/>
          <p:cNvSpPr/>
          <p:nvPr/>
        </p:nvSpPr>
        <p:spPr>
          <a:xfrm>
            <a:off x="10152240" y="3090672"/>
            <a:ext cx="310896" cy="310896"/>
          </a:xfrm>
          <a:prstGeom prst="ellipse">
            <a:avLst/>
          </a:prstGeom>
          <a:solidFill>
            <a:srgbClr val="C9971C"/>
          </a:solidFill>
          <a:ln w="25400">
            <a:solidFill>
              <a:srgbClr val="FFFFFF"/>
            </a:solidFill>
            <a:prstDash val="solid"/>
          </a:ln>
        </p:spPr>
      </p:sp>
      <p:sp>
        <p:nvSpPr>
          <p:cNvPr id="7" name="Shape 5"/>
          <p:cNvSpPr/>
          <p:nvPr/>
        </p:nvSpPr>
        <p:spPr>
          <a:xfrm>
            <a:off x="9018041" y="3657600"/>
            <a:ext cx="2579294" cy="2331720"/>
          </a:xfrm>
          <a:prstGeom prst="roundRect">
            <a:avLst>
              <a:gd name="adj" fmla="val 4706"/>
            </a:avLst>
          </a:prstGeom>
          <a:solidFill>
            <a:srgbClr val="FBFCF9"/>
          </a:solidFill>
          <a:ln w="9525">
            <a:solidFill>
              <a:srgbClr val="D6E0D1"/>
            </a:solidFill>
            <a:prstDash val="solid"/>
          </a:ln>
        </p:spPr>
      </p:sp>
      <p:sp>
        <p:nvSpPr>
          <p:cNvPr id="8" name="Text 6"/>
          <p:cNvSpPr txBox="1"/>
          <p:nvPr/>
        </p:nvSpPr>
        <p:spPr>
          <a:xfrm>
            <a:off x="9292361" y="3840480"/>
            <a:ext cx="2030654" cy="320040"/>
          </a:xfrm>
          <a:prstGeom prst="rect">
            <a:avLst/>
          </a:prstGeom>
          <a:noFill/>
          <a:ln/>
        </p:spPr>
        <p:txBody>
          <a:bodyPr wrap="square" lIns="0" tIns="0" rIns="0" bIns="0" rtlCol="0" anchor="t"/>
          <a:lstStyle/>
          <a:p>
            <a:pPr rtl="1" algn="r" indent="0" marL="0">
              <a:buNone/>
            </a:pPr>
            <a:r>
              <a:rPr lang="ar-SA" altLang="en-US" sz="1300" dirty="0">
                <a:solidFill>
                  <a:srgbClr val="4F6356"/>
                </a:solidFill>
                <a:latin typeface="Arial" pitchFamily="34" charset="0"/>
                <a:ea typeface="Arial" pitchFamily="34" charset="-122"/>
                <a:cs typeface="Arial" pitchFamily="34" charset="-120"/>
              </a:rPr>
              <a:t>2026 – 2027</a:t>
            </a:r>
            <a:endParaRPr lang="ar-SA" sz="1300" dirty="0"/>
          </a:p>
        </p:txBody>
      </p:sp>
      <p:sp>
        <p:nvSpPr>
          <p:cNvPr id="9" name="Text 7"/>
          <p:cNvSpPr txBox="1"/>
          <p:nvPr/>
        </p:nvSpPr>
        <p:spPr>
          <a:xfrm>
            <a:off x="9292361" y="4206240"/>
            <a:ext cx="2030654" cy="502920"/>
          </a:xfrm>
          <a:prstGeom prst="rect">
            <a:avLst/>
          </a:prstGeom>
          <a:noFill/>
          <a:ln/>
        </p:spPr>
        <p:txBody>
          <a:bodyPr wrap="square" lIns="0" tIns="0" rIns="0" bIns="0" rtlCol="0" anchor="t"/>
          <a:lstStyle/>
          <a:p>
            <a:pPr rtl="1" algn="r" indent="0" marL="0">
              <a:buNone/>
            </a:pPr>
            <a:r>
              <a:rPr lang="ar-SA" altLang="en-US" sz="2100" b="1" dirty="0">
                <a:solidFill>
                  <a:srgbClr val="1E5E36"/>
                </a:solidFill>
                <a:latin typeface="Arial" pitchFamily="34" charset="0"/>
                <a:ea typeface="Arial" pitchFamily="34" charset="-122"/>
                <a:cs typeface="Arial" pitchFamily="34" charset="-120"/>
              </a:rPr>
              <a:t>التأسيس</a:t>
            </a:r>
            <a:endParaRPr lang="ar-SA" sz="2100" dirty="0"/>
          </a:p>
        </p:txBody>
      </p:sp>
      <p:sp>
        <p:nvSpPr>
          <p:cNvPr id="10" name="Shape 8"/>
          <p:cNvSpPr/>
          <p:nvPr/>
        </p:nvSpPr>
        <p:spPr>
          <a:xfrm>
            <a:off x="9292361" y="4937760"/>
            <a:ext cx="2030654" cy="146304"/>
          </a:xfrm>
          <a:prstGeom prst="roundRect">
            <a:avLst>
              <a:gd name="adj" fmla="val 50000"/>
            </a:avLst>
          </a:prstGeom>
          <a:solidFill>
            <a:srgbClr val="DCEBD5"/>
          </a:solidFill>
          <a:ln w="12700">
            <a:solidFill>
              <a:srgbClr val="DCEBD5"/>
            </a:solidFill>
            <a:prstDash val="solid"/>
          </a:ln>
        </p:spPr>
      </p:sp>
      <p:sp>
        <p:nvSpPr>
          <p:cNvPr id="11" name="Shape 9"/>
          <p:cNvSpPr/>
          <p:nvPr/>
        </p:nvSpPr>
        <p:spPr>
          <a:xfrm>
            <a:off x="10815352" y="4937760"/>
            <a:ext cx="507663" cy="146304"/>
          </a:xfrm>
          <a:prstGeom prst="roundRect">
            <a:avLst>
              <a:gd name="adj" fmla="val 50000"/>
            </a:avLst>
          </a:prstGeom>
          <a:solidFill>
            <a:srgbClr val="2F7D46"/>
          </a:solidFill>
          <a:ln w="12700">
            <a:solidFill>
              <a:srgbClr val="2F7D46"/>
            </a:solidFill>
            <a:prstDash val="solid"/>
          </a:ln>
        </p:spPr>
      </p:sp>
      <p:sp>
        <p:nvSpPr>
          <p:cNvPr id="12" name="Text 10"/>
          <p:cNvSpPr txBox="1"/>
          <p:nvPr/>
        </p:nvSpPr>
        <p:spPr>
          <a:xfrm>
            <a:off x="9292361" y="5257800"/>
            <a:ext cx="2030654" cy="365760"/>
          </a:xfrm>
          <a:prstGeom prst="rect">
            <a:avLst/>
          </a:prstGeom>
          <a:noFill/>
          <a:ln/>
        </p:spPr>
        <p:txBody>
          <a:bodyPr wrap="square" lIns="0" tIns="0" rIns="0" bIns="0" rtlCol="0" anchor="t"/>
          <a:lstStyle/>
          <a:p>
            <a:pPr rtl="1" algn="r" indent="0" marL="0">
              <a:buNone/>
            </a:pPr>
            <a:r>
              <a:rPr lang="ar-SA" altLang="en-US" sz="1350" b="1" dirty="0">
                <a:solidFill>
                  <a:srgbClr val="8A6508"/>
                </a:solidFill>
                <a:latin typeface="Arial" pitchFamily="34" charset="0"/>
                <a:ea typeface="Arial" pitchFamily="34" charset="-122"/>
                <a:cs typeface="Arial" pitchFamily="34" charset="-120"/>
              </a:rPr>
              <a:t>الإطلاق وبناء المنظومة</a:t>
            </a:r>
            <a:endParaRPr lang="ar-SA" sz="1350" dirty="0"/>
          </a:p>
        </p:txBody>
      </p:sp>
      <p:sp>
        <p:nvSpPr>
          <p:cNvPr id="13" name="Shape 11"/>
          <p:cNvSpPr/>
          <p:nvPr/>
        </p:nvSpPr>
        <p:spPr>
          <a:xfrm>
            <a:off x="7344346" y="3090672"/>
            <a:ext cx="310896" cy="310896"/>
          </a:xfrm>
          <a:prstGeom prst="ellipse">
            <a:avLst/>
          </a:prstGeom>
          <a:solidFill>
            <a:srgbClr val="C9971C"/>
          </a:solidFill>
          <a:ln w="25400">
            <a:solidFill>
              <a:srgbClr val="FFFFFF"/>
            </a:solidFill>
            <a:prstDash val="solid"/>
          </a:ln>
        </p:spPr>
      </p:sp>
      <p:sp>
        <p:nvSpPr>
          <p:cNvPr id="14" name="Shape 12"/>
          <p:cNvSpPr/>
          <p:nvPr/>
        </p:nvSpPr>
        <p:spPr>
          <a:xfrm>
            <a:off x="6210148" y="3657600"/>
            <a:ext cx="2579294" cy="2331720"/>
          </a:xfrm>
          <a:prstGeom prst="roundRect">
            <a:avLst>
              <a:gd name="adj" fmla="val 4706"/>
            </a:avLst>
          </a:prstGeom>
          <a:solidFill>
            <a:srgbClr val="FBFCF9"/>
          </a:solidFill>
          <a:ln w="9525">
            <a:solidFill>
              <a:srgbClr val="D6E0D1"/>
            </a:solidFill>
            <a:prstDash val="solid"/>
          </a:ln>
        </p:spPr>
      </p:sp>
      <p:sp>
        <p:nvSpPr>
          <p:cNvPr id="15" name="Text 13"/>
          <p:cNvSpPr txBox="1"/>
          <p:nvPr/>
        </p:nvSpPr>
        <p:spPr>
          <a:xfrm>
            <a:off x="6484468" y="3840480"/>
            <a:ext cx="2030654" cy="320040"/>
          </a:xfrm>
          <a:prstGeom prst="rect">
            <a:avLst/>
          </a:prstGeom>
          <a:noFill/>
          <a:ln/>
        </p:spPr>
        <p:txBody>
          <a:bodyPr wrap="square" lIns="0" tIns="0" rIns="0" bIns="0" rtlCol="0" anchor="t"/>
          <a:lstStyle/>
          <a:p>
            <a:pPr rtl="1" algn="r" indent="0" marL="0">
              <a:buNone/>
            </a:pPr>
            <a:r>
              <a:rPr lang="ar-SA" altLang="en-US" sz="1300" dirty="0">
                <a:solidFill>
                  <a:srgbClr val="4F6356"/>
                </a:solidFill>
                <a:latin typeface="Arial" pitchFamily="34" charset="0"/>
                <a:ea typeface="Arial" pitchFamily="34" charset="-122"/>
                <a:cs typeface="Arial" pitchFamily="34" charset="-120"/>
              </a:rPr>
              <a:t>2027 – 2028</a:t>
            </a:r>
            <a:endParaRPr lang="ar-SA" sz="1300" dirty="0"/>
          </a:p>
        </p:txBody>
      </p:sp>
      <p:sp>
        <p:nvSpPr>
          <p:cNvPr id="16" name="Text 14"/>
          <p:cNvSpPr txBox="1"/>
          <p:nvPr/>
        </p:nvSpPr>
        <p:spPr>
          <a:xfrm>
            <a:off x="6484468" y="4206240"/>
            <a:ext cx="2030654" cy="502920"/>
          </a:xfrm>
          <a:prstGeom prst="rect">
            <a:avLst/>
          </a:prstGeom>
          <a:noFill/>
          <a:ln/>
        </p:spPr>
        <p:txBody>
          <a:bodyPr wrap="square" lIns="0" tIns="0" rIns="0" bIns="0" rtlCol="0" anchor="t"/>
          <a:lstStyle/>
          <a:p>
            <a:pPr rtl="1" algn="r" indent="0" marL="0">
              <a:buNone/>
            </a:pPr>
            <a:r>
              <a:rPr lang="ar-SA" altLang="en-US" sz="2100" b="1" dirty="0">
                <a:solidFill>
                  <a:srgbClr val="1E5E36"/>
                </a:solidFill>
                <a:latin typeface="Arial" pitchFamily="34" charset="0"/>
                <a:ea typeface="Arial" pitchFamily="34" charset="-122"/>
                <a:cs typeface="Arial" pitchFamily="34" charset="-120"/>
              </a:rPr>
              <a:t>التوسع</a:t>
            </a:r>
            <a:endParaRPr lang="ar-SA" sz="2100" dirty="0"/>
          </a:p>
        </p:txBody>
      </p:sp>
      <p:sp>
        <p:nvSpPr>
          <p:cNvPr id="17" name="Shape 15"/>
          <p:cNvSpPr/>
          <p:nvPr/>
        </p:nvSpPr>
        <p:spPr>
          <a:xfrm>
            <a:off x="6484468" y="4937760"/>
            <a:ext cx="2030654" cy="146304"/>
          </a:xfrm>
          <a:prstGeom prst="roundRect">
            <a:avLst>
              <a:gd name="adj" fmla="val 50000"/>
            </a:avLst>
          </a:prstGeom>
          <a:solidFill>
            <a:srgbClr val="DCEBD5"/>
          </a:solidFill>
          <a:ln w="12700">
            <a:solidFill>
              <a:srgbClr val="DCEBD5"/>
            </a:solidFill>
            <a:prstDash val="solid"/>
          </a:ln>
        </p:spPr>
      </p:sp>
      <p:sp>
        <p:nvSpPr>
          <p:cNvPr id="18" name="Shape 16"/>
          <p:cNvSpPr/>
          <p:nvPr/>
        </p:nvSpPr>
        <p:spPr>
          <a:xfrm>
            <a:off x="7499794" y="4937760"/>
            <a:ext cx="1015327" cy="146304"/>
          </a:xfrm>
          <a:prstGeom prst="roundRect">
            <a:avLst>
              <a:gd name="adj" fmla="val 50000"/>
            </a:avLst>
          </a:prstGeom>
          <a:solidFill>
            <a:srgbClr val="2F7D46"/>
          </a:solidFill>
          <a:ln w="12700">
            <a:solidFill>
              <a:srgbClr val="2F7D46"/>
            </a:solidFill>
            <a:prstDash val="solid"/>
          </a:ln>
        </p:spPr>
      </p:sp>
      <p:sp>
        <p:nvSpPr>
          <p:cNvPr id="19" name="Text 17"/>
          <p:cNvSpPr txBox="1"/>
          <p:nvPr/>
        </p:nvSpPr>
        <p:spPr>
          <a:xfrm>
            <a:off x="6484468" y="5257800"/>
            <a:ext cx="2030654" cy="365760"/>
          </a:xfrm>
          <a:prstGeom prst="rect">
            <a:avLst/>
          </a:prstGeom>
          <a:noFill/>
          <a:ln/>
        </p:spPr>
        <p:txBody>
          <a:bodyPr wrap="square" lIns="0" tIns="0" rIns="0" bIns="0" rtlCol="0" anchor="t"/>
          <a:lstStyle/>
          <a:p>
            <a:pPr rtl="1" algn="r" indent="0" marL="0">
              <a:buNone/>
            </a:pPr>
            <a:r>
              <a:rPr lang="ar-SA" altLang="en-US" sz="1350" b="1" dirty="0">
                <a:solidFill>
                  <a:srgbClr val="8A6508"/>
                </a:solidFill>
                <a:latin typeface="Arial" pitchFamily="34" charset="0"/>
                <a:ea typeface="Arial" pitchFamily="34" charset="-122"/>
                <a:cs typeface="Arial" pitchFamily="34" charset="-120"/>
              </a:rPr>
              <a:t>50% من المستهدفات</a:t>
            </a:r>
            <a:endParaRPr lang="ar-SA" sz="1350" dirty="0"/>
          </a:p>
        </p:txBody>
      </p:sp>
      <p:sp>
        <p:nvSpPr>
          <p:cNvPr id="20" name="Shape 18"/>
          <p:cNvSpPr/>
          <p:nvPr/>
        </p:nvSpPr>
        <p:spPr>
          <a:xfrm>
            <a:off x="4536453" y="3090672"/>
            <a:ext cx="310896" cy="310896"/>
          </a:xfrm>
          <a:prstGeom prst="ellipse">
            <a:avLst/>
          </a:prstGeom>
          <a:solidFill>
            <a:srgbClr val="C9971C"/>
          </a:solidFill>
          <a:ln w="25400">
            <a:solidFill>
              <a:srgbClr val="FFFFFF"/>
            </a:solidFill>
            <a:prstDash val="solid"/>
          </a:ln>
        </p:spPr>
      </p:sp>
      <p:sp>
        <p:nvSpPr>
          <p:cNvPr id="21" name="Shape 19"/>
          <p:cNvSpPr/>
          <p:nvPr/>
        </p:nvSpPr>
        <p:spPr>
          <a:xfrm>
            <a:off x="3402254" y="3657600"/>
            <a:ext cx="2579294" cy="2331720"/>
          </a:xfrm>
          <a:prstGeom prst="roundRect">
            <a:avLst>
              <a:gd name="adj" fmla="val 4706"/>
            </a:avLst>
          </a:prstGeom>
          <a:solidFill>
            <a:srgbClr val="FBFCF9"/>
          </a:solidFill>
          <a:ln w="9525">
            <a:solidFill>
              <a:srgbClr val="D6E0D1"/>
            </a:solidFill>
            <a:prstDash val="solid"/>
          </a:ln>
        </p:spPr>
      </p:sp>
      <p:sp>
        <p:nvSpPr>
          <p:cNvPr id="22" name="Text 20"/>
          <p:cNvSpPr txBox="1"/>
          <p:nvPr/>
        </p:nvSpPr>
        <p:spPr>
          <a:xfrm>
            <a:off x="3676574" y="3840480"/>
            <a:ext cx="2030654" cy="320040"/>
          </a:xfrm>
          <a:prstGeom prst="rect">
            <a:avLst/>
          </a:prstGeom>
          <a:noFill/>
          <a:ln/>
        </p:spPr>
        <p:txBody>
          <a:bodyPr wrap="square" lIns="0" tIns="0" rIns="0" bIns="0" rtlCol="0" anchor="t"/>
          <a:lstStyle/>
          <a:p>
            <a:pPr rtl="1" algn="r" indent="0" marL="0">
              <a:buNone/>
            </a:pPr>
            <a:r>
              <a:rPr lang="ar-SA" altLang="en-US" sz="1300" dirty="0">
                <a:solidFill>
                  <a:srgbClr val="4F6356"/>
                </a:solidFill>
                <a:latin typeface="Arial" pitchFamily="34" charset="0"/>
                <a:ea typeface="Arial" pitchFamily="34" charset="-122"/>
                <a:cs typeface="Arial" pitchFamily="34" charset="-120"/>
              </a:rPr>
              <a:t>2028 – 2029</a:t>
            </a:r>
            <a:endParaRPr lang="ar-SA" sz="1300" dirty="0"/>
          </a:p>
        </p:txBody>
      </p:sp>
      <p:sp>
        <p:nvSpPr>
          <p:cNvPr id="23" name="Text 21"/>
          <p:cNvSpPr txBox="1"/>
          <p:nvPr/>
        </p:nvSpPr>
        <p:spPr>
          <a:xfrm>
            <a:off x="3676574" y="4206240"/>
            <a:ext cx="2030654" cy="502920"/>
          </a:xfrm>
          <a:prstGeom prst="rect">
            <a:avLst/>
          </a:prstGeom>
          <a:noFill/>
          <a:ln/>
        </p:spPr>
        <p:txBody>
          <a:bodyPr wrap="square" lIns="0" tIns="0" rIns="0" bIns="0" rtlCol="0" anchor="t"/>
          <a:lstStyle/>
          <a:p>
            <a:pPr rtl="1" algn="r" indent="0" marL="0">
              <a:buNone/>
            </a:pPr>
            <a:r>
              <a:rPr lang="ar-SA" altLang="en-US" sz="2100" b="1" dirty="0">
                <a:solidFill>
                  <a:srgbClr val="1E5E36"/>
                </a:solidFill>
                <a:latin typeface="Arial" pitchFamily="34" charset="0"/>
                <a:ea typeface="Arial" pitchFamily="34" charset="-122"/>
                <a:cs typeface="Arial" pitchFamily="34" charset="-120"/>
              </a:rPr>
              <a:t>النمو</a:t>
            </a:r>
            <a:endParaRPr lang="ar-SA" sz="2100" dirty="0"/>
          </a:p>
        </p:txBody>
      </p:sp>
      <p:sp>
        <p:nvSpPr>
          <p:cNvPr id="24" name="Shape 22"/>
          <p:cNvSpPr/>
          <p:nvPr/>
        </p:nvSpPr>
        <p:spPr>
          <a:xfrm>
            <a:off x="3676574" y="4937760"/>
            <a:ext cx="2030654" cy="146304"/>
          </a:xfrm>
          <a:prstGeom prst="roundRect">
            <a:avLst>
              <a:gd name="adj" fmla="val 50000"/>
            </a:avLst>
          </a:prstGeom>
          <a:solidFill>
            <a:srgbClr val="DCEBD5"/>
          </a:solidFill>
          <a:ln w="12700">
            <a:solidFill>
              <a:srgbClr val="DCEBD5"/>
            </a:solidFill>
            <a:prstDash val="solid"/>
          </a:ln>
        </p:spPr>
      </p:sp>
      <p:sp>
        <p:nvSpPr>
          <p:cNvPr id="25" name="Shape 23"/>
          <p:cNvSpPr/>
          <p:nvPr/>
        </p:nvSpPr>
        <p:spPr>
          <a:xfrm>
            <a:off x="4184237" y="4937760"/>
            <a:ext cx="1522990" cy="146304"/>
          </a:xfrm>
          <a:prstGeom prst="roundRect">
            <a:avLst>
              <a:gd name="adj" fmla="val 50000"/>
            </a:avLst>
          </a:prstGeom>
          <a:solidFill>
            <a:srgbClr val="2F7D46"/>
          </a:solidFill>
          <a:ln w="12700">
            <a:solidFill>
              <a:srgbClr val="2F7D46"/>
            </a:solidFill>
            <a:prstDash val="solid"/>
          </a:ln>
        </p:spPr>
      </p:sp>
      <p:sp>
        <p:nvSpPr>
          <p:cNvPr id="26" name="Text 24"/>
          <p:cNvSpPr txBox="1"/>
          <p:nvPr/>
        </p:nvSpPr>
        <p:spPr>
          <a:xfrm>
            <a:off x="3676574" y="5257800"/>
            <a:ext cx="2030654" cy="365760"/>
          </a:xfrm>
          <a:prstGeom prst="rect">
            <a:avLst/>
          </a:prstGeom>
          <a:noFill/>
          <a:ln/>
        </p:spPr>
        <p:txBody>
          <a:bodyPr wrap="square" lIns="0" tIns="0" rIns="0" bIns="0" rtlCol="0" anchor="t"/>
          <a:lstStyle/>
          <a:p>
            <a:pPr rtl="1" algn="r" indent="0" marL="0">
              <a:buNone/>
            </a:pPr>
            <a:r>
              <a:rPr lang="ar-SA" altLang="en-US" sz="1350" b="1" dirty="0">
                <a:solidFill>
                  <a:srgbClr val="8A6508"/>
                </a:solidFill>
                <a:latin typeface="Arial" pitchFamily="34" charset="0"/>
                <a:ea typeface="Arial" pitchFamily="34" charset="-122"/>
                <a:cs typeface="Arial" pitchFamily="34" charset="-120"/>
              </a:rPr>
              <a:t>75% من المستهدفات</a:t>
            </a:r>
            <a:endParaRPr lang="ar-SA" sz="1350" dirty="0"/>
          </a:p>
        </p:txBody>
      </p:sp>
      <p:sp>
        <p:nvSpPr>
          <p:cNvPr id="27" name="Shape 25"/>
          <p:cNvSpPr/>
          <p:nvPr/>
        </p:nvSpPr>
        <p:spPr>
          <a:xfrm>
            <a:off x="1728559" y="3090672"/>
            <a:ext cx="310896" cy="310896"/>
          </a:xfrm>
          <a:prstGeom prst="ellipse">
            <a:avLst/>
          </a:prstGeom>
          <a:solidFill>
            <a:srgbClr val="C9971C"/>
          </a:solidFill>
          <a:ln w="25400">
            <a:solidFill>
              <a:srgbClr val="FFFFFF"/>
            </a:solidFill>
            <a:prstDash val="solid"/>
          </a:ln>
        </p:spPr>
      </p:sp>
      <p:sp>
        <p:nvSpPr>
          <p:cNvPr id="28" name="Shape 26"/>
          <p:cNvSpPr/>
          <p:nvPr/>
        </p:nvSpPr>
        <p:spPr>
          <a:xfrm>
            <a:off x="594360" y="3657600"/>
            <a:ext cx="2579294" cy="2331720"/>
          </a:xfrm>
          <a:prstGeom prst="roundRect">
            <a:avLst>
              <a:gd name="adj" fmla="val 4706"/>
            </a:avLst>
          </a:prstGeom>
          <a:solidFill>
            <a:srgbClr val="FBFCF9"/>
          </a:solidFill>
          <a:ln w="9525">
            <a:solidFill>
              <a:srgbClr val="D6E0D1"/>
            </a:solidFill>
            <a:prstDash val="solid"/>
          </a:ln>
        </p:spPr>
      </p:sp>
      <p:sp>
        <p:nvSpPr>
          <p:cNvPr id="29" name="Text 27"/>
          <p:cNvSpPr txBox="1"/>
          <p:nvPr/>
        </p:nvSpPr>
        <p:spPr>
          <a:xfrm>
            <a:off x="868680" y="3840480"/>
            <a:ext cx="2030654" cy="320040"/>
          </a:xfrm>
          <a:prstGeom prst="rect">
            <a:avLst/>
          </a:prstGeom>
          <a:noFill/>
          <a:ln/>
        </p:spPr>
        <p:txBody>
          <a:bodyPr wrap="square" lIns="0" tIns="0" rIns="0" bIns="0" rtlCol="0" anchor="t"/>
          <a:lstStyle/>
          <a:p>
            <a:pPr rtl="1" algn="r" indent="0" marL="0">
              <a:buNone/>
            </a:pPr>
            <a:r>
              <a:rPr lang="ar-SA" altLang="en-US" sz="1300" dirty="0">
                <a:solidFill>
                  <a:srgbClr val="4F6356"/>
                </a:solidFill>
                <a:latin typeface="Arial" pitchFamily="34" charset="0"/>
                <a:ea typeface="Arial" pitchFamily="34" charset="-122"/>
                <a:cs typeface="Arial" pitchFamily="34" charset="-120"/>
              </a:rPr>
              <a:t>2029 – 2030</a:t>
            </a:r>
            <a:endParaRPr lang="ar-SA" sz="1300" dirty="0"/>
          </a:p>
        </p:txBody>
      </p:sp>
      <p:sp>
        <p:nvSpPr>
          <p:cNvPr id="30" name="Text 28"/>
          <p:cNvSpPr txBox="1"/>
          <p:nvPr/>
        </p:nvSpPr>
        <p:spPr>
          <a:xfrm>
            <a:off x="868680" y="4206240"/>
            <a:ext cx="2030654" cy="502920"/>
          </a:xfrm>
          <a:prstGeom prst="rect">
            <a:avLst/>
          </a:prstGeom>
          <a:noFill/>
          <a:ln/>
        </p:spPr>
        <p:txBody>
          <a:bodyPr wrap="square" lIns="0" tIns="0" rIns="0" bIns="0" rtlCol="0" anchor="t"/>
          <a:lstStyle/>
          <a:p>
            <a:pPr rtl="1" algn="r" indent="0" marL="0">
              <a:buNone/>
            </a:pPr>
            <a:r>
              <a:rPr lang="ar-SA" altLang="en-US" sz="2100" b="1" dirty="0">
                <a:solidFill>
                  <a:srgbClr val="1E5E36"/>
                </a:solidFill>
                <a:latin typeface="Arial" pitchFamily="34" charset="0"/>
                <a:ea typeface="Arial" pitchFamily="34" charset="-122"/>
                <a:cs typeface="Arial" pitchFamily="34" charset="-120"/>
              </a:rPr>
              <a:t>الريادة والاستدامة</a:t>
            </a:r>
            <a:endParaRPr lang="ar-SA" sz="2100" dirty="0"/>
          </a:p>
        </p:txBody>
      </p:sp>
      <p:sp>
        <p:nvSpPr>
          <p:cNvPr id="31" name="Shape 29"/>
          <p:cNvSpPr/>
          <p:nvPr/>
        </p:nvSpPr>
        <p:spPr>
          <a:xfrm>
            <a:off x="868680" y="4937760"/>
            <a:ext cx="2030654" cy="146304"/>
          </a:xfrm>
          <a:prstGeom prst="roundRect">
            <a:avLst>
              <a:gd name="adj" fmla="val 50000"/>
            </a:avLst>
          </a:prstGeom>
          <a:solidFill>
            <a:srgbClr val="DCEBD5"/>
          </a:solidFill>
          <a:ln w="12700">
            <a:solidFill>
              <a:srgbClr val="DCEBD5"/>
            </a:solidFill>
            <a:prstDash val="solid"/>
          </a:ln>
        </p:spPr>
      </p:sp>
      <p:sp>
        <p:nvSpPr>
          <p:cNvPr id="32" name="Shape 30"/>
          <p:cNvSpPr/>
          <p:nvPr/>
        </p:nvSpPr>
        <p:spPr>
          <a:xfrm>
            <a:off x="868680" y="4937760"/>
            <a:ext cx="2030654" cy="146304"/>
          </a:xfrm>
          <a:prstGeom prst="roundRect">
            <a:avLst>
              <a:gd name="adj" fmla="val 50000"/>
            </a:avLst>
          </a:prstGeom>
          <a:solidFill>
            <a:srgbClr val="2F7D46"/>
          </a:solidFill>
          <a:ln w="12700">
            <a:solidFill>
              <a:srgbClr val="2F7D46"/>
            </a:solidFill>
            <a:prstDash val="solid"/>
          </a:ln>
        </p:spPr>
      </p:sp>
      <p:sp>
        <p:nvSpPr>
          <p:cNvPr id="33" name="Text 31"/>
          <p:cNvSpPr txBox="1"/>
          <p:nvPr/>
        </p:nvSpPr>
        <p:spPr>
          <a:xfrm>
            <a:off x="868680" y="5257800"/>
            <a:ext cx="2030654" cy="365760"/>
          </a:xfrm>
          <a:prstGeom prst="rect">
            <a:avLst/>
          </a:prstGeom>
          <a:noFill/>
          <a:ln/>
        </p:spPr>
        <p:txBody>
          <a:bodyPr wrap="square" lIns="0" tIns="0" rIns="0" bIns="0" rtlCol="0" anchor="t"/>
          <a:lstStyle/>
          <a:p>
            <a:pPr rtl="1" algn="r" indent="0" marL="0">
              <a:buNone/>
            </a:pPr>
            <a:r>
              <a:rPr lang="ar-SA" altLang="en-US" sz="1350" b="1" dirty="0">
                <a:solidFill>
                  <a:srgbClr val="8A6508"/>
                </a:solidFill>
                <a:latin typeface="Arial" pitchFamily="34" charset="0"/>
                <a:ea typeface="Arial" pitchFamily="34" charset="-122"/>
                <a:cs typeface="Arial" pitchFamily="34" charset="-120"/>
              </a:rPr>
              <a:t>100% من المستهدفات</a:t>
            </a:r>
            <a:endParaRPr lang="ar-SA" sz="1350" dirty="0"/>
          </a:p>
        </p:txBody>
      </p:sp>
      <p:sp>
        <p:nvSpPr>
          <p:cNvPr id="34" name="Text 32"/>
          <p:cNvSpPr txBox="1"/>
          <p:nvPr/>
        </p:nvSpPr>
        <p:spPr>
          <a:xfrm>
            <a:off x="594360" y="6355080"/>
            <a:ext cx="914400" cy="274320"/>
          </a:xfrm>
          <a:prstGeom prst="rect">
            <a:avLst/>
          </a:prstGeom>
          <a:noFill/>
          <a:ln/>
        </p:spPr>
        <p:txBody>
          <a:bodyPr wrap="square" lIns="0" tIns="0" rIns="0" bIns="0" rtlCol="0" anchor="t"/>
          <a:lstStyle/>
          <a:p>
            <a:pPr algn="l" indent="0" marL="0">
              <a:buNone/>
            </a:pPr>
            <a:r>
              <a:rPr lang="ar-SA" altLang="en-US" sz="1100" dirty="0">
                <a:solidFill>
                  <a:srgbClr val="6B7D70"/>
                </a:solidFill>
                <a:latin typeface="Arial" pitchFamily="34" charset="0"/>
                <a:ea typeface="Arial" pitchFamily="34" charset="-122"/>
                <a:cs typeface="Arial" pitchFamily="34" charset="-120"/>
              </a:rPr>
              <a:t>16</a:t>
            </a:r>
            <a:endParaRPr lang="ar-SA" sz="1100" dirty="0"/>
          </a:p>
        </p:txBody>
      </p:sp>
      <p:sp>
        <p:nvSpPr>
          <p:cNvPr id="35" name="Text 33"/>
          <p:cNvSpPr txBox="1"/>
          <p:nvPr/>
        </p:nvSpPr>
        <p:spPr>
          <a:xfrm>
            <a:off x="7025335" y="6355080"/>
            <a:ext cx="4572000" cy="274320"/>
          </a:xfrm>
          <a:prstGeom prst="rect">
            <a:avLst/>
          </a:prstGeom>
          <a:noFill/>
          <a:ln/>
        </p:spPr>
        <p:txBody>
          <a:bodyPr wrap="square" lIns="0" tIns="0" rIns="0" bIns="0" rtlCol="0" anchor="t"/>
          <a:lstStyle/>
          <a:p>
            <a:pPr rtl="1" algn="r" indent="0" marL="0">
              <a:buNone/>
            </a:pPr>
            <a:r>
              <a:rPr lang="ar-SA" altLang="en-US" sz="1100" dirty="0">
                <a:solidFill>
                  <a:srgbClr val="6B7D70"/>
                </a:solidFill>
                <a:latin typeface="Arial" pitchFamily="34" charset="0"/>
                <a:ea typeface="Arial" pitchFamily="34" charset="-122"/>
                <a:cs typeface="Arial" pitchFamily="34" charset="-120"/>
              </a:rPr>
              <a:t>مبادرة الأثر الأخضر المستدام</a:t>
            </a:r>
            <a:endParaRPr lang="ar-SA"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7F1"/>
        </a:solidFill>
      </p:bgPr>
    </p:bg>
    <p:spTree>
      <p:nvGrpSpPr>
        <p:cNvPr id="1" name=""/>
        <p:cNvGrpSpPr/>
        <p:nvPr/>
      </p:nvGrpSpPr>
      <p:grpSpPr>
        <a:xfrm>
          <a:off x="0" y="0"/>
          <a:ext cx="0" cy="0"/>
          <a:chOff x="0" y="0"/>
          <a:chExt cx="0" cy="0"/>
        </a:xfrm>
      </p:grpSpPr>
      <p:sp>
        <p:nvSpPr>
          <p:cNvPr id="2" name="Text 0"/>
          <p:cNvSpPr txBox="1"/>
          <p:nvPr/>
        </p:nvSpPr>
        <p:spPr>
          <a:xfrm>
            <a:off x="594360" y="502920"/>
            <a:ext cx="11002975" cy="365760"/>
          </a:xfrm>
          <a:prstGeom prst="rect">
            <a:avLst/>
          </a:prstGeom>
          <a:noFill/>
          <a:ln/>
        </p:spPr>
        <p:txBody>
          <a:bodyPr wrap="square" lIns="0" tIns="0" rIns="0" bIns="0" rtlCol="0" anchor="t"/>
          <a:lstStyle/>
          <a:p>
            <a:pPr rtl="1" algn="r" indent="0" marL="0">
              <a:buNone/>
            </a:pPr>
            <a:r>
              <a:rPr lang="ar-SA" altLang="en-US" sz="1500" b="1" dirty="0">
                <a:solidFill>
                  <a:srgbClr val="8A6508"/>
                </a:solidFill>
                <a:latin typeface="Arial" pitchFamily="34" charset="0"/>
                <a:ea typeface="Arial" pitchFamily="34" charset="-122"/>
                <a:cs typeface="Arial" pitchFamily="34" charset="-120"/>
              </a:rPr>
              <a:t>بحلول 2030</a:t>
            </a:r>
            <a:endParaRPr lang="ar-SA" sz="1500" dirty="0"/>
          </a:p>
        </p:txBody>
      </p:sp>
      <p:sp>
        <p:nvSpPr>
          <p:cNvPr id="3" name="Text 1"/>
          <p:cNvSpPr txBox="1"/>
          <p:nvPr/>
        </p:nvSpPr>
        <p:spPr>
          <a:xfrm>
            <a:off x="594360" y="868680"/>
            <a:ext cx="11002975" cy="731520"/>
          </a:xfrm>
          <a:prstGeom prst="rect">
            <a:avLst/>
          </a:prstGeom>
          <a:noFill/>
          <a:ln/>
        </p:spPr>
        <p:txBody>
          <a:bodyPr wrap="square" lIns="0" tIns="0" rIns="0" bIns="0" rtlCol="0" anchor="t"/>
          <a:lstStyle/>
          <a:p>
            <a:pPr rtl="1" algn="r" indent="0" marL="0">
              <a:buNone/>
            </a:pPr>
            <a:r>
              <a:rPr lang="ar-SA" altLang="en-US" sz="3600" b="1" dirty="0">
                <a:solidFill>
                  <a:srgbClr val="1E5E36"/>
                </a:solidFill>
                <a:latin typeface="Arial" pitchFamily="34" charset="0"/>
                <a:ea typeface="Arial" pitchFamily="34" charset="-122"/>
                <a:cs typeface="Arial" pitchFamily="34" charset="-120"/>
              </a:rPr>
              <a:t>المستهدفات الاستراتيجية</a:t>
            </a:r>
            <a:endParaRPr lang="ar-SA" sz="3600" dirty="0"/>
          </a:p>
        </p:txBody>
      </p:sp>
      <p:sp>
        <p:nvSpPr>
          <p:cNvPr id="4" name="Shape 2"/>
          <p:cNvSpPr/>
          <p:nvPr/>
        </p:nvSpPr>
        <p:spPr>
          <a:xfrm>
            <a:off x="9557675" y="1783080"/>
            <a:ext cx="2039661" cy="4343400"/>
          </a:xfrm>
          <a:prstGeom prst="roundRect">
            <a:avLst>
              <a:gd name="adj" fmla="val 5380"/>
            </a:avLst>
          </a:prstGeom>
          <a:solidFill>
            <a:srgbClr val="FBFCF9"/>
          </a:solidFill>
          <a:ln w="9525">
            <a:solidFill>
              <a:srgbClr val="D6E0D1"/>
            </a:solidFill>
            <a:prstDash val="solid"/>
          </a:ln>
        </p:spPr>
      </p:sp>
      <p:sp>
        <p:nvSpPr>
          <p:cNvPr id="5" name="Text 3"/>
          <p:cNvSpPr txBox="1"/>
          <p:nvPr/>
        </p:nvSpPr>
        <p:spPr>
          <a:xfrm>
            <a:off x="9786275" y="1920240"/>
            <a:ext cx="1582461" cy="411480"/>
          </a:xfrm>
          <a:prstGeom prst="rect">
            <a:avLst/>
          </a:prstGeom>
          <a:noFill/>
          <a:ln/>
        </p:spPr>
        <p:txBody>
          <a:bodyPr wrap="square" lIns="0" tIns="0" rIns="0" bIns="0" rtlCol="0" anchor="t"/>
          <a:lstStyle/>
          <a:p>
            <a:pPr rtl="1" algn="r" indent="0" marL="0">
              <a:buNone/>
            </a:pPr>
            <a:r>
              <a:rPr lang="ar-SA" altLang="en-US" sz="1700" b="1" dirty="0">
                <a:solidFill>
                  <a:srgbClr val="2F7D46"/>
                </a:solidFill>
                <a:latin typeface="Arial" pitchFamily="34" charset="0"/>
                <a:ea typeface="Arial" pitchFamily="34" charset="-122"/>
                <a:cs typeface="Arial" pitchFamily="34" charset="-120"/>
              </a:rPr>
              <a:t>بيئي</a:t>
            </a:r>
            <a:endParaRPr lang="ar-SA" sz="1700" dirty="0"/>
          </a:p>
        </p:txBody>
      </p:sp>
      <p:sp>
        <p:nvSpPr>
          <p:cNvPr id="6" name="Text 4"/>
          <p:cNvSpPr txBox="1"/>
          <p:nvPr/>
        </p:nvSpPr>
        <p:spPr>
          <a:xfrm>
            <a:off x="9786275" y="2468880"/>
            <a:ext cx="1582461" cy="457200"/>
          </a:xfrm>
          <a:prstGeom prst="rect">
            <a:avLst/>
          </a:prstGeom>
          <a:noFill/>
          <a:ln/>
        </p:spPr>
        <p:txBody>
          <a:bodyPr wrap="square" lIns="0" tIns="0" rIns="0" bIns="0" rtlCol="0" anchor="t"/>
          <a:lstStyle/>
          <a:p>
            <a:pPr rtl="1" algn="r" indent="0" marL="0">
              <a:buNone/>
            </a:pPr>
            <a:r>
              <a:rPr lang="ar-SA" altLang="en-US" sz="2400" b="1" dirty="0">
                <a:solidFill>
                  <a:srgbClr val="8A6508"/>
                </a:solidFill>
                <a:latin typeface="Arial" pitchFamily="34" charset="0"/>
                <a:ea typeface="Arial" pitchFamily="34" charset="-122"/>
                <a:cs typeface="Arial" pitchFamily="34" charset="-120"/>
              </a:rPr>
              <a:t>2,030</a:t>
            </a:r>
            <a:endParaRPr lang="ar-SA" sz="2400" dirty="0"/>
          </a:p>
        </p:txBody>
      </p:sp>
      <p:sp>
        <p:nvSpPr>
          <p:cNvPr id="7" name="Text 5"/>
          <p:cNvSpPr txBox="1"/>
          <p:nvPr/>
        </p:nvSpPr>
        <p:spPr>
          <a:xfrm>
            <a:off x="9786275" y="2907792"/>
            <a:ext cx="1582461" cy="365760"/>
          </a:xfrm>
          <a:prstGeom prst="rect">
            <a:avLst/>
          </a:prstGeom>
          <a:noFill/>
          <a:ln/>
        </p:spPr>
        <p:txBody>
          <a:bodyPr wrap="square" lIns="0" tIns="0" rIns="0" bIns="0" rtlCol="0" anchor="t"/>
          <a:lstStyle/>
          <a:p>
            <a:pPr rtl="1" algn="r" indent="0" marL="0">
              <a:buNone/>
            </a:pPr>
            <a:r>
              <a:rPr lang="ar-SA" altLang="en-US" sz="1250" dirty="0">
                <a:solidFill>
                  <a:srgbClr val="4F6356"/>
                </a:solidFill>
                <a:latin typeface="Arial" pitchFamily="34" charset="0"/>
                <a:ea typeface="Arial" pitchFamily="34" charset="-122"/>
                <a:cs typeface="Arial" pitchFamily="34" charset="-120"/>
              </a:rPr>
              <a:t>شجرة</a:t>
            </a:r>
            <a:endParaRPr lang="ar-SA" sz="1250" dirty="0"/>
          </a:p>
        </p:txBody>
      </p:sp>
      <p:sp>
        <p:nvSpPr>
          <p:cNvPr id="8" name="Text 6"/>
          <p:cNvSpPr txBox="1"/>
          <p:nvPr/>
        </p:nvSpPr>
        <p:spPr>
          <a:xfrm>
            <a:off x="9786275" y="3364992"/>
            <a:ext cx="1582461" cy="457200"/>
          </a:xfrm>
          <a:prstGeom prst="rect">
            <a:avLst/>
          </a:prstGeom>
          <a:noFill/>
          <a:ln/>
        </p:spPr>
        <p:txBody>
          <a:bodyPr wrap="square" lIns="0" tIns="0" rIns="0" bIns="0" rtlCol="0" anchor="t"/>
          <a:lstStyle/>
          <a:p>
            <a:pPr rtl="1" algn="r" indent="0" marL="0">
              <a:buNone/>
            </a:pPr>
            <a:r>
              <a:rPr lang="ar-SA" altLang="en-US" sz="2400" b="1" dirty="0">
                <a:solidFill>
                  <a:srgbClr val="8A6508"/>
                </a:solidFill>
                <a:latin typeface="Arial" pitchFamily="34" charset="0"/>
                <a:ea typeface="Arial" pitchFamily="34" charset="-122"/>
                <a:cs typeface="Arial" pitchFamily="34" charset="-120"/>
              </a:rPr>
              <a:t>2,030</a:t>
            </a:r>
            <a:endParaRPr lang="ar-SA" sz="2400" dirty="0"/>
          </a:p>
        </p:txBody>
      </p:sp>
      <p:sp>
        <p:nvSpPr>
          <p:cNvPr id="9" name="Text 7"/>
          <p:cNvSpPr txBox="1"/>
          <p:nvPr/>
        </p:nvSpPr>
        <p:spPr>
          <a:xfrm>
            <a:off x="9786275" y="3803904"/>
            <a:ext cx="1582461" cy="365760"/>
          </a:xfrm>
          <a:prstGeom prst="rect">
            <a:avLst/>
          </a:prstGeom>
          <a:noFill/>
          <a:ln/>
        </p:spPr>
        <p:txBody>
          <a:bodyPr wrap="square" lIns="0" tIns="0" rIns="0" bIns="0" rtlCol="0" anchor="t"/>
          <a:lstStyle/>
          <a:p>
            <a:pPr rtl="1" algn="r" indent="0" marL="0">
              <a:buNone/>
            </a:pPr>
            <a:r>
              <a:rPr lang="ar-SA" altLang="en-US" sz="1250" dirty="0">
                <a:solidFill>
                  <a:srgbClr val="4F6356"/>
                </a:solidFill>
                <a:latin typeface="Arial" pitchFamily="34" charset="0"/>
                <a:ea typeface="Arial" pitchFamily="34" charset="-122"/>
                <a:cs typeface="Arial" pitchFamily="34" charset="-120"/>
              </a:rPr>
              <a:t>بذرة</a:t>
            </a:r>
            <a:endParaRPr lang="ar-SA" sz="1250" dirty="0"/>
          </a:p>
        </p:txBody>
      </p:sp>
      <p:sp>
        <p:nvSpPr>
          <p:cNvPr id="10" name="Text 8"/>
          <p:cNvSpPr txBox="1"/>
          <p:nvPr/>
        </p:nvSpPr>
        <p:spPr>
          <a:xfrm>
            <a:off x="9786275" y="4261104"/>
            <a:ext cx="1582461" cy="457200"/>
          </a:xfrm>
          <a:prstGeom prst="rect">
            <a:avLst/>
          </a:prstGeom>
          <a:noFill/>
          <a:ln/>
        </p:spPr>
        <p:txBody>
          <a:bodyPr wrap="square" lIns="0" tIns="0" rIns="0" bIns="0" rtlCol="0" anchor="t"/>
          <a:lstStyle/>
          <a:p>
            <a:pPr rtl="1" algn="r" indent="0" marL="0">
              <a:buNone/>
            </a:pPr>
            <a:r>
              <a:rPr lang="ar-SA" altLang="en-US" sz="2400" b="1" dirty="0">
                <a:solidFill>
                  <a:srgbClr val="8A6508"/>
                </a:solidFill>
                <a:latin typeface="Arial" pitchFamily="34" charset="0"/>
                <a:ea typeface="Arial" pitchFamily="34" charset="-122"/>
                <a:cs typeface="Arial" pitchFamily="34" charset="-120"/>
              </a:rPr>
              <a:t>2,030</a:t>
            </a:r>
            <a:endParaRPr lang="ar-SA" sz="2400" dirty="0"/>
          </a:p>
        </p:txBody>
      </p:sp>
      <p:sp>
        <p:nvSpPr>
          <p:cNvPr id="11" name="Text 9"/>
          <p:cNvSpPr txBox="1"/>
          <p:nvPr/>
        </p:nvSpPr>
        <p:spPr>
          <a:xfrm>
            <a:off x="9786275" y="4700016"/>
            <a:ext cx="1582461" cy="365760"/>
          </a:xfrm>
          <a:prstGeom prst="rect">
            <a:avLst/>
          </a:prstGeom>
          <a:noFill/>
          <a:ln/>
        </p:spPr>
        <p:txBody>
          <a:bodyPr wrap="square" lIns="0" tIns="0" rIns="0" bIns="0" rtlCol="0" anchor="t"/>
          <a:lstStyle/>
          <a:p>
            <a:pPr rtl="1" algn="r" indent="0" marL="0">
              <a:buNone/>
            </a:pPr>
            <a:r>
              <a:rPr lang="ar-SA" altLang="en-US" sz="1250" dirty="0">
                <a:solidFill>
                  <a:srgbClr val="4F6356"/>
                </a:solidFill>
                <a:latin typeface="Arial" pitchFamily="34" charset="0"/>
                <a:ea typeface="Arial" pitchFamily="34" charset="-122"/>
                <a:cs typeface="Arial" pitchFamily="34" charset="-120"/>
              </a:rPr>
              <a:t>منتجًا معاد تدويره</a:t>
            </a:r>
            <a:endParaRPr lang="ar-SA" sz="1250" dirty="0"/>
          </a:p>
        </p:txBody>
      </p:sp>
      <p:sp>
        <p:nvSpPr>
          <p:cNvPr id="12" name="Text 10"/>
          <p:cNvSpPr txBox="1"/>
          <p:nvPr/>
        </p:nvSpPr>
        <p:spPr>
          <a:xfrm>
            <a:off x="9786275" y="5157216"/>
            <a:ext cx="1582461" cy="457200"/>
          </a:xfrm>
          <a:prstGeom prst="rect">
            <a:avLst/>
          </a:prstGeom>
          <a:noFill/>
          <a:ln/>
        </p:spPr>
        <p:txBody>
          <a:bodyPr wrap="square" lIns="0" tIns="0" rIns="0" bIns="0" rtlCol="0" anchor="t"/>
          <a:lstStyle/>
          <a:p>
            <a:pPr rtl="1" algn="r" indent="0" marL="0">
              <a:buNone/>
            </a:pPr>
            <a:r>
              <a:rPr lang="ar-SA" altLang="en-US" sz="2400" b="1" dirty="0">
                <a:solidFill>
                  <a:srgbClr val="8A6508"/>
                </a:solidFill>
                <a:latin typeface="Arial" pitchFamily="34" charset="0"/>
                <a:ea typeface="Arial" pitchFamily="34" charset="-122"/>
                <a:cs typeface="Arial" pitchFamily="34" charset="-120"/>
              </a:rPr>
              <a:t>+50</a:t>
            </a:r>
            <a:endParaRPr lang="ar-SA" sz="2400" dirty="0"/>
          </a:p>
        </p:txBody>
      </p:sp>
      <p:sp>
        <p:nvSpPr>
          <p:cNvPr id="13" name="Text 11"/>
          <p:cNvSpPr txBox="1"/>
          <p:nvPr/>
        </p:nvSpPr>
        <p:spPr>
          <a:xfrm>
            <a:off x="9786275" y="5596128"/>
            <a:ext cx="1582461" cy="365760"/>
          </a:xfrm>
          <a:prstGeom prst="rect">
            <a:avLst/>
          </a:prstGeom>
          <a:noFill/>
          <a:ln/>
        </p:spPr>
        <p:txBody>
          <a:bodyPr wrap="square" lIns="0" tIns="0" rIns="0" bIns="0" rtlCol="0" anchor="t"/>
          <a:lstStyle/>
          <a:p>
            <a:pPr rtl="1" algn="r" indent="0" marL="0">
              <a:buNone/>
            </a:pPr>
            <a:r>
              <a:rPr lang="ar-SA" altLang="en-US" sz="1250" dirty="0">
                <a:solidFill>
                  <a:srgbClr val="4F6356"/>
                </a:solidFill>
                <a:latin typeface="Arial" pitchFamily="34" charset="0"/>
                <a:ea typeface="Arial" pitchFamily="34" charset="-122"/>
                <a:cs typeface="Arial" pitchFamily="34" charset="-120"/>
              </a:rPr>
              <a:t>طنًّا محوّلة عن المرادم</a:t>
            </a:r>
            <a:endParaRPr lang="ar-SA" sz="1250" dirty="0"/>
          </a:p>
        </p:txBody>
      </p:sp>
      <p:sp>
        <p:nvSpPr>
          <p:cNvPr id="14" name="Shape 12"/>
          <p:cNvSpPr/>
          <p:nvPr/>
        </p:nvSpPr>
        <p:spPr>
          <a:xfrm>
            <a:off x="7316846" y="1783080"/>
            <a:ext cx="2039661" cy="4343400"/>
          </a:xfrm>
          <a:prstGeom prst="roundRect">
            <a:avLst>
              <a:gd name="adj" fmla="val 5380"/>
            </a:avLst>
          </a:prstGeom>
          <a:solidFill>
            <a:srgbClr val="FBFCF9"/>
          </a:solidFill>
          <a:ln w="9525">
            <a:solidFill>
              <a:srgbClr val="D6E0D1"/>
            </a:solidFill>
            <a:prstDash val="solid"/>
          </a:ln>
        </p:spPr>
      </p:sp>
      <p:sp>
        <p:nvSpPr>
          <p:cNvPr id="15" name="Text 13"/>
          <p:cNvSpPr txBox="1"/>
          <p:nvPr/>
        </p:nvSpPr>
        <p:spPr>
          <a:xfrm>
            <a:off x="7545446" y="1920240"/>
            <a:ext cx="1582461" cy="411480"/>
          </a:xfrm>
          <a:prstGeom prst="rect">
            <a:avLst/>
          </a:prstGeom>
          <a:noFill/>
          <a:ln/>
        </p:spPr>
        <p:txBody>
          <a:bodyPr wrap="square" lIns="0" tIns="0" rIns="0" bIns="0" rtlCol="0" anchor="t"/>
          <a:lstStyle/>
          <a:p>
            <a:pPr rtl="1" algn="r" indent="0" marL="0">
              <a:buNone/>
            </a:pPr>
            <a:r>
              <a:rPr lang="ar-SA" altLang="en-US" sz="1700" b="1" dirty="0">
                <a:solidFill>
                  <a:srgbClr val="2F7D46"/>
                </a:solidFill>
                <a:latin typeface="Arial" pitchFamily="34" charset="0"/>
                <a:ea typeface="Arial" pitchFamily="34" charset="-122"/>
                <a:cs typeface="Arial" pitchFamily="34" charset="-120"/>
              </a:rPr>
              <a:t>تعليمي</a:t>
            </a:r>
            <a:endParaRPr lang="ar-SA" sz="1700" dirty="0"/>
          </a:p>
        </p:txBody>
      </p:sp>
      <p:sp>
        <p:nvSpPr>
          <p:cNvPr id="16" name="Text 14"/>
          <p:cNvSpPr txBox="1"/>
          <p:nvPr/>
        </p:nvSpPr>
        <p:spPr>
          <a:xfrm>
            <a:off x="7545446" y="2468880"/>
            <a:ext cx="1582461" cy="457200"/>
          </a:xfrm>
          <a:prstGeom prst="rect">
            <a:avLst/>
          </a:prstGeom>
          <a:noFill/>
          <a:ln/>
        </p:spPr>
        <p:txBody>
          <a:bodyPr wrap="square" lIns="0" tIns="0" rIns="0" bIns="0" rtlCol="0" anchor="t"/>
          <a:lstStyle/>
          <a:p>
            <a:pPr rtl="1" algn="r" indent="0" marL="0">
              <a:buNone/>
            </a:pPr>
            <a:r>
              <a:rPr lang="ar-SA" altLang="en-US" sz="2400" b="1" dirty="0">
                <a:solidFill>
                  <a:srgbClr val="8A6508"/>
                </a:solidFill>
                <a:latin typeface="Arial" pitchFamily="34" charset="0"/>
                <a:ea typeface="Arial" pitchFamily="34" charset="-122"/>
                <a:cs typeface="Arial" pitchFamily="34" charset="-120"/>
              </a:rPr>
              <a:t>15</a:t>
            </a:r>
            <a:endParaRPr lang="ar-SA" sz="2400" dirty="0"/>
          </a:p>
        </p:txBody>
      </p:sp>
      <p:sp>
        <p:nvSpPr>
          <p:cNvPr id="17" name="Text 15"/>
          <p:cNvSpPr txBox="1"/>
          <p:nvPr/>
        </p:nvSpPr>
        <p:spPr>
          <a:xfrm>
            <a:off x="7545446" y="2907792"/>
            <a:ext cx="1582461" cy="365760"/>
          </a:xfrm>
          <a:prstGeom prst="rect">
            <a:avLst/>
          </a:prstGeom>
          <a:noFill/>
          <a:ln/>
        </p:spPr>
        <p:txBody>
          <a:bodyPr wrap="square" lIns="0" tIns="0" rIns="0" bIns="0" rtlCol="0" anchor="t"/>
          <a:lstStyle/>
          <a:p>
            <a:pPr rtl="1" algn="r" indent="0" marL="0">
              <a:buNone/>
            </a:pPr>
            <a:r>
              <a:rPr lang="ar-SA" altLang="en-US" sz="1250" dirty="0">
                <a:solidFill>
                  <a:srgbClr val="4F6356"/>
                </a:solidFill>
                <a:latin typeface="Arial" pitchFamily="34" charset="0"/>
                <a:ea typeface="Arial" pitchFamily="34" charset="-122"/>
                <a:cs typeface="Arial" pitchFamily="34" charset="-120"/>
              </a:rPr>
              <a:t>مدرسة</a:t>
            </a:r>
            <a:endParaRPr lang="ar-SA" sz="1250" dirty="0"/>
          </a:p>
        </p:txBody>
      </p:sp>
      <p:sp>
        <p:nvSpPr>
          <p:cNvPr id="18" name="Text 16"/>
          <p:cNvSpPr txBox="1"/>
          <p:nvPr/>
        </p:nvSpPr>
        <p:spPr>
          <a:xfrm>
            <a:off x="7545446" y="3364992"/>
            <a:ext cx="1582461" cy="457200"/>
          </a:xfrm>
          <a:prstGeom prst="rect">
            <a:avLst/>
          </a:prstGeom>
          <a:noFill/>
          <a:ln/>
        </p:spPr>
        <p:txBody>
          <a:bodyPr wrap="square" lIns="0" tIns="0" rIns="0" bIns="0" rtlCol="0" anchor="t"/>
          <a:lstStyle/>
          <a:p>
            <a:pPr rtl="1" algn="r" indent="0" marL="0">
              <a:buNone/>
            </a:pPr>
            <a:r>
              <a:rPr lang="ar-SA" altLang="en-US" sz="2400" b="1" dirty="0">
                <a:solidFill>
                  <a:srgbClr val="8A6508"/>
                </a:solidFill>
                <a:latin typeface="Arial" pitchFamily="34" charset="0"/>
                <a:ea typeface="Arial" pitchFamily="34" charset="-122"/>
                <a:cs typeface="Arial" pitchFamily="34" charset="-120"/>
              </a:rPr>
              <a:t>10</a:t>
            </a:r>
            <a:endParaRPr lang="ar-SA" sz="2400" dirty="0"/>
          </a:p>
        </p:txBody>
      </p:sp>
      <p:sp>
        <p:nvSpPr>
          <p:cNvPr id="19" name="Text 17"/>
          <p:cNvSpPr txBox="1"/>
          <p:nvPr/>
        </p:nvSpPr>
        <p:spPr>
          <a:xfrm>
            <a:off x="7545446" y="3803904"/>
            <a:ext cx="1582461" cy="365760"/>
          </a:xfrm>
          <a:prstGeom prst="rect">
            <a:avLst/>
          </a:prstGeom>
          <a:noFill/>
          <a:ln/>
        </p:spPr>
        <p:txBody>
          <a:bodyPr wrap="square" lIns="0" tIns="0" rIns="0" bIns="0" rtlCol="0" anchor="t"/>
          <a:lstStyle/>
          <a:p>
            <a:pPr rtl="1" algn="r" indent="0" marL="0">
              <a:buNone/>
            </a:pPr>
            <a:r>
              <a:rPr lang="ar-SA" altLang="en-US" sz="1250" dirty="0">
                <a:solidFill>
                  <a:srgbClr val="4F6356"/>
                </a:solidFill>
                <a:latin typeface="Arial" pitchFamily="34" charset="0"/>
                <a:ea typeface="Arial" pitchFamily="34" charset="-122"/>
                <a:cs typeface="Arial" pitchFamily="34" charset="-120"/>
              </a:rPr>
              <a:t>مسارات</a:t>
            </a:r>
            <a:endParaRPr lang="ar-SA" sz="1250" dirty="0"/>
          </a:p>
        </p:txBody>
      </p:sp>
      <p:sp>
        <p:nvSpPr>
          <p:cNvPr id="20" name="Text 18"/>
          <p:cNvSpPr txBox="1"/>
          <p:nvPr/>
        </p:nvSpPr>
        <p:spPr>
          <a:xfrm>
            <a:off x="7545446" y="4261104"/>
            <a:ext cx="1582461" cy="457200"/>
          </a:xfrm>
          <a:prstGeom prst="rect">
            <a:avLst/>
          </a:prstGeom>
          <a:noFill/>
          <a:ln/>
        </p:spPr>
        <p:txBody>
          <a:bodyPr wrap="square" lIns="0" tIns="0" rIns="0" bIns="0" rtlCol="0" anchor="t"/>
          <a:lstStyle/>
          <a:p>
            <a:pPr rtl="1" algn="r" indent="0" marL="0">
              <a:buNone/>
            </a:pPr>
            <a:r>
              <a:rPr lang="ar-SA" altLang="en-US" sz="2400" b="1" dirty="0">
                <a:solidFill>
                  <a:srgbClr val="8A6508"/>
                </a:solidFill>
                <a:latin typeface="Arial" pitchFamily="34" charset="0"/>
                <a:ea typeface="Arial" pitchFamily="34" charset="-122"/>
                <a:cs typeface="Arial" pitchFamily="34" charset="-120"/>
              </a:rPr>
              <a:t>2,030</a:t>
            </a:r>
            <a:endParaRPr lang="ar-SA" sz="2400" dirty="0"/>
          </a:p>
        </p:txBody>
      </p:sp>
      <p:sp>
        <p:nvSpPr>
          <p:cNvPr id="21" name="Text 19"/>
          <p:cNvSpPr txBox="1"/>
          <p:nvPr/>
        </p:nvSpPr>
        <p:spPr>
          <a:xfrm>
            <a:off x="7545446" y="4700016"/>
            <a:ext cx="1582461" cy="365760"/>
          </a:xfrm>
          <a:prstGeom prst="rect">
            <a:avLst/>
          </a:prstGeom>
          <a:noFill/>
          <a:ln/>
        </p:spPr>
        <p:txBody>
          <a:bodyPr wrap="square" lIns="0" tIns="0" rIns="0" bIns="0" rtlCol="0" anchor="t"/>
          <a:lstStyle/>
          <a:p>
            <a:pPr rtl="1" algn="r" indent="0" marL="0">
              <a:buNone/>
            </a:pPr>
            <a:r>
              <a:rPr lang="ar-SA" altLang="en-US" sz="1250" dirty="0">
                <a:solidFill>
                  <a:srgbClr val="4F6356"/>
                </a:solidFill>
                <a:latin typeface="Arial" pitchFamily="34" charset="0"/>
                <a:ea typeface="Arial" pitchFamily="34" charset="-122"/>
                <a:cs typeface="Arial" pitchFamily="34" charset="-120"/>
              </a:rPr>
              <a:t>عملًا فنيًا</a:t>
            </a:r>
            <a:endParaRPr lang="ar-SA" sz="1250" dirty="0"/>
          </a:p>
        </p:txBody>
      </p:sp>
      <p:sp>
        <p:nvSpPr>
          <p:cNvPr id="22" name="Text 20"/>
          <p:cNvSpPr txBox="1"/>
          <p:nvPr/>
        </p:nvSpPr>
        <p:spPr>
          <a:xfrm>
            <a:off x="7545446" y="5157216"/>
            <a:ext cx="1582461" cy="457200"/>
          </a:xfrm>
          <a:prstGeom prst="rect">
            <a:avLst/>
          </a:prstGeom>
          <a:noFill/>
          <a:ln/>
        </p:spPr>
        <p:txBody>
          <a:bodyPr wrap="square" lIns="0" tIns="0" rIns="0" bIns="0" rtlCol="0" anchor="t"/>
          <a:lstStyle/>
          <a:p>
            <a:pPr rtl="1" algn="r" indent="0" marL="0">
              <a:buNone/>
            </a:pPr>
            <a:r>
              <a:rPr lang="ar-SA" altLang="en-US" sz="2400" b="1" dirty="0">
                <a:solidFill>
                  <a:srgbClr val="8A6508"/>
                </a:solidFill>
                <a:latin typeface="Arial" pitchFamily="34" charset="0"/>
                <a:ea typeface="Arial" pitchFamily="34" charset="-122"/>
                <a:cs typeface="Arial" pitchFamily="34" charset="-120"/>
              </a:rPr>
              <a:t>2,030</a:t>
            </a:r>
            <a:endParaRPr lang="ar-SA" sz="2400" dirty="0"/>
          </a:p>
        </p:txBody>
      </p:sp>
      <p:sp>
        <p:nvSpPr>
          <p:cNvPr id="23" name="Text 21"/>
          <p:cNvSpPr txBox="1"/>
          <p:nvPr/>
        </p:nvSpPr>
        <p:spPr>
          <a:xfrm>
            <a:off x="7545446" y="5596128"/>
            <a:ext cx="1582461" cy="365760"/>
          </a:xfrm>
          <a:prstGeom prst="rect">
            <a:avLst/>
          </a:prstGeom>
          <a:noFill/>
          <a:ln/>
        </p:spPr>
        <p:txBody>
          <a:bodyPr wrap="square" lIns="0" tIns="0" rIns="0" bIns="0" rtlCol="0" anchor="t"/>
          <a:lstStyle/>
          <a:p>
            <a:pPr rtl="1" algn="r" indent="0" marL="0">
              <a:buNone/>
            </a:pPr>
            <a:r>
              <a:rPr lang="ar-SA" altLang="en-US" sz="1250" dirty="0">
                <a:solidFill>
                  <a:srgbClr val="4F6356"/>
                </a:solidFill>
                <a:latin typeface="Arial" pitchFamily="34" charset="0"/>
                <a:ea typeface="Arial" pitchFamily="34" charset="-122"/>
                <a:cs typeface="Arial" pitchFamily="34" charset="-120"/>
              </a:rPr>
              <a:t>مشاركة شعورية</a:t>
            </a:r>
            <a:endParaRPr lang="ar-SA" sz="1250" dirty="0"/>
          </a:p>
        </p:txBody>
      </p:sp>
      <p:sp>
        <p:nvSpPr>
          <p:cNvPr id="24" name="Shape 22"/>
          <p:cNvSpPr/>
          <p:nvPr/>
        </p:nvSpPr>
        <p:spPr>
          <a:xfrm>
            <a:off x="5076017" y="1783080"/>
            <a:ext cx="2039661" cy="4343400"/>
          </a:xfrm>
          <a:prstGeom prst="roundRect">
            <a:avLst>
              <a:gd name="adj" fmla="val 5380"/>
            </a:avLst>
          </a:prstGeom>
          <a:solidFill>
            <a:srgbClr val="FBFCF9"/>
          </a:solidFill>
          <a:ln w="9525">
            <a:solidFill>
              <a:srgbClr val="D6E0D1"/>
            </a:solidFill>
            <a:prstDash val="solid"/>
          </a:ln>
        </p:spPr>
      </p:sp>
      <p:sp>
        <p:nvSpPr>
          <p:cNvPr id="25" name="Text 23"/>
          <p:cNvSpPr txBox="1"/>
          <p:nvPr/>
        </p:nvSpPr>
        <p:spPr>
          <a:xfrm>
            <a:off x="5304617" y="1920240"/>
            <a:ext cx="1582461" cy="411480"/>
          </a:xfrm>
          <a:prstGeom prst="rect">
            <a:avLst/>
          </a:prstGeom>
          <a:noFill/>
          <a:ln/>
        </p:spPr>
        <p:txBody>
          <a:bodyPr wrap="square" lIns="0" tIns="0" rIns="0" bIns="0" rtlCol="0" anchor="t"/>
          <a:lstStyle/>
          <a:p>
            <a:pPr rtl="1" algn="r" indent="0" marL="0">
              <a:buNone/>
            </a:pPr>
            <a:r>
              <a:rPr lang="ar-SA" altLang="en-US" sz="1700" b="1" dirty="0">
                <a:solidFill>
                  <a:srgbClr val="2F7D46"/>
                </a:solidFill>
                <a:latin typeface="Arial" pitchFamily="34" charset="0"/>
                <a:ea typeface="Arial" pitchFamily="34" charset="-122"/>
                <a:cs typeface="Arial" pitchFamily="34" charset="-120"/>
              </a:rPr>
              <a:t>مجتمعي</a:t>
            </a:r>
            <a:endParaRPr lang="ar-SA" sz="1700" dirty="0"/>
          </a:p>
        </p:txBody>
      </p:sp>
      <p:sp>
        <p:nvSpPr>
          <p:cNvPr id="26" name="Text 24"/>
          <p:cNvSpPr txBox="1"/>
          <p:nvPr/>
        </p:nvSpPr>
        <p:spPr>
          <a:xfrm>
            <a:off x="5304617" y="2468880"/>
            <a:ext cx="1582461" cy="457200"/>
          </a:xfrm>
          <a:prstGeom prst="rect">
            <a:avLst/>
          </a:prstGeom>
          <a:noFill/>
          <a:ln/>
        </p:spPr>
        <p:txBody>
          <a:bodyPr wrap="square" lIns="0" tIns="0" rIns="0" bIns="0" rtlCol="0" anchor="t"/>
          <a:lstStyle/>
          <a:p>
            <a:pPr rtl="1" algn="r" indent="0" marL="0">
              <a:buNone/>
            </a:pPr>
            <a:r>
              <a:rPr lang="ar-SA" altLang="en-US" sz="2400" b="1" dirty="0">
                <a:solidFill>
                  <a:srgbClr val="8A6508"/>
                </a:solidFill>
                <a:latin typeface="Arial" pitchFamily="34" charset="0"/>
                <a:ea typeface="Arial" pitchFamily="34" charset="-122"/>
                <a:cs typeface="Arial" pitchFamily="34" charset="-120"/>
              </a:rPr>
              <a:t>2,030</a:t>
            </a:r>
            <a:endParaRPr lang="ar-SA" sz="2400" dirty="0"/>
          </a:p>
        </p:txBody>
      </p:sp>
      <p:sp>
        <p:nvSpPr>
          <p:cNvPr id="27" name="Text 25"/>
          <p:cNvSpPr txBox="1"/>
          <p:nvPr/>
        </p:nvSpPr>
        <p:spPr>
          <a:xfrm>
            <a:off x="5304617" y="2907792"/>
            <a:ext cx="1582461" cy="365760"/>
          </a:xfrm>
          <a:prstGeom prst="rect">
            <a:avLst/>
          </a:prstGeom>
          <a:noFill/>
          <a:ln/>
        </p:spPr>
        <p:txBody>
          <a:bodyPr wrap="square" lIns="0" tIns="0" rIns="0" bIns="0" rtlCol="0" anchor="t"/>
          <a:lstStyle/>
          <a:p>
            <a:pPr rtl="1" algn="r" indent="0" marL="0">
              <a:buNone/>
            </a:pPr>
            <a:r>
              <a:rPr lang="ar-SA" altLang="en-US" sz="1250" dirty="0">
                <a:solidFill>
                  <a:srgbClr val="4F6356"/>
                </a:solidFill>
                <a:latin typeface="Arial" pitchFamily="34" charset="0"/>
                <a:ea typeface="Arial" pitchFamily="34" charset="-122"/>
                <a:cs typeface="Arial" pitchFamily="34" charset="-120"/>
              </a:rPr>
              <a:t>متطوعًا</a:t>
            </a:r>
            <a:endParaRPr lang="ar-SA" sz="1250" dirty="0"/>
          </a:p>
        </p:txBody>
      </p:sp>
      <p:sp>
        <p:nvSpPr>
          <p:cNvPr id="28" name="Text 26"/>
          <p:cNvSpPr txBox="1"/>
          <p:nvPr/>
        </p:nvSpPr>
        <p:spPr>
          <a:xfrm>
            <a:off x="5304617" y="3364992"/>
            <a:ext cx="1582461" cy="457200"/>
          </a:xfrm>
          <a:prstGeom prst="rect">
            <a:avLst/>
          </a:prstGeom>
          <a:noFill/>
          <a:ln/>
        </p:spPr>
        <p:txBody>
          <a:bodyPr wrap="square" lIns="0" tIns="0" rIns="0" bIns="0" rtlCol="0" anchor="t"/>
          <a:lstStyle/>
          <a:p>
            <a:pPr rtl="1" algn="r" indent="0" marL="0">
              <a:buNone/>
            </a:pPr>
            <a:r>
              <a:rPr lang="ar-SA" altLang="en-US" sz="2400" b="1" dirty="0">
                <a:solidFill>
                  <a:srgbClr val="8A6508"/>
                </a:solidFill>
                <a:latin typeface="Arial" pitchFamily="34" charset="0"/>
                <a:ea typeface="Arial" pitchFamily="34" charset="-122"/>
                <a:cs typeface="Arial" pitchFamily="34" charset="-120"/>
              </a:rPr>
              <a:t>2,030</a:t>
            </a:r>
            <a:endParaRPr lang="ar-SA" sz="2400" dirty="0"/>
          </a:p>
        </p:txBody>
      </p:sp>
      <p:sp>
        <p:nvSpPr>
          <p:cNvPr id="29" name="Text 27"/>
          <p:cNvSpPr txBox="1"/>
          <p:nvPr/>
        </p:nvSpPr>
        <p:spPr>
          <a:xfrm>
            <a:off x="5304617" y="3803904"/>
            <a:ext cx="1582461" cy="365760"/>
          </a:xfrm>
          <a:prstGeom prst="rect">
            <a:avLst/>
          </a:prstGeom>
          <a:noFill/>
          <a:ln/>
        </p:spPr>
        <p:txBody>
          <a:bodyPr wrap="square" lIns="0" tIns="0" rIns="0" bIns="0" rtlCol="0" anchor="t"/>
          <a:lstStyle/>
          <a:p>
            <a:pPr rtl="1" algn="r" indent="0" marL="0">
              <a:buNone/>
            </a:pPr>
            <a:r>
              <a:rPr lang="ar-SA" altLang="en-US" sz="1250" dirty="0">
                <a:solidFill>
                  <a:srgbClr val="4F6356"/>
                </a:solidFill>
                <a:latin typeface="Arial" pitchFamily="34" charset="0"/>
                <a:ea typeface="Arial" pitchFamily="34" charset="-122"/>
                <a:cs typeface="Arial" pitchFamily="34" charset="-120"/>
              </a:rPr>
              <a:t>ساعة تطوعية</a:t>
            </a:r>
            <a:endParaRPr lang="ar-SA" sz="1250" dirty="0"/>
          </a:p>
        </p:txBody>
      </p:sp>
      <p:sp>
        <p:nvSpPr>
          <p:cNvPr id="30" name="Text 28"/>
          <p:cNvSpPr txBox="1"/>
          <p:nvPr/>
        </p:nvSpPr>
        <p:spPr>
          <a:xfrm>
            <a:off x="5304617" y="4261104"/>
            <a:ext cx="1582461" cy="457200"/>
          </a:xfrm>
          <a:prstGeom prst="rect">
            <a:avLst/>
          </a:prstGeom>
          <a:noFill/>
          <a:ln/>
        </p:spPr>
        <p:txBody>
          <a:bodyPr wrap="square" lIns="0" tIns="0" rIns="0" bIns="0" rtlCol="0" anchor="t"/>
          <a:lstStyle/>
          <a:p>
            <a:pPr rtl="1" algn="r" indent="0" marL="0">
              <a:buNone/>
            </a:pPr>
            <a:r>
              <a:rPr lang="ar-SA" altLang="en-US" sz="2400" b="1" dirty="0">
                <a:solidFill>
                  <a:srgbClr val="8A6508"/>
                </a:solidFill>
                <a:latin typeface="Arial" pitchFamily="34" charset="0"/>
                <a:ea typeface="Arial" pitchFamily="34" charset="-122"/>
                <a:cs typeface="Arial" pitchFamily="34" charset="-120"/>
              </a:rPr>
              <a:t>2,030</a:t>
            </a:r>
            <a:endParaRPr lang="ar-SA" sz="2400" dirty="0"/>
          </a:p>
        </p:txBody>
      </p:sp>
      <p:sp>
        <p:nvSpPr>
          <p:cNvPr id="31" name="Text 29"/>
          <p:cNvSpPr txBox="1"/>
          <p:nvPr/>
        </p:nvSpPr>
        <p:spPr>
          <a:xfrm>
            <a:off x="5304617" y="4700016"/>
            <a:ext cx="1582461" cy="365760"/>
          </a:xfrm>
          <a:prstGeom prst="rect">
            <a:avLst/>
          </a:prstGeom>
          <a:noFill/>
          <a:ln/>
        </p:spPr>
        <p:txBody>
          <a:bodyPr wrap="square" lIns="0" tIns="0" rIns="0" bIns="0" rtlCol="0" anchor="t"/>
          <a:lstStyle/>
          <a:p>
            <a:pPr rtl="1" algn="r" indent="0" marL="0">
              <a:buNone/>
            </a:pPr>
            <a:r>
              <a:rPr lang="ar-SA" altLang="en-US" sz="1250" dirty="0">
                <a:solidFill>
                  <a:srgbClr val="4F6356"/>
                </a:solidFill>
                <a:latin typeface="Arial" pitchFamily="34" charset="0"/>
                <a:ea typeface="Arial" pitchFamily="34" charset="-122"/>
                <a:cs typeface="Arial" pitchFamily="34" charset="-120"/>
              </a:rPr>
              <a:t>سائحًا</a:t>
            </a:r>
            <a:endParaRPr lang="ar-SA" sz="1250" dirty="0"/>
          </a:p>
        </p:txBody>
      </p:sp>
      <p:sp>
        <p:nvSpPr>
          <p:cNvPr id="32" name="Text 30"/>
          <p:cNvSpPr txBox="1"/>
          <p:nvPr/>
        </p:nvSpPr>
        <p:spPr>
          <a:xfrm>
            <a:off x="5304617" y="5157216"/>
            <a:ext cx="1582461" cy="457200"/>
          </a:xfrm>
          <a:prstGeom prst="rect">
            <a:avLst/>
          </a:prstGeom>
          <a:noFill/>
          <a:ln/>
        </p:spPr>
        <p:txBody>
          <a:bodyPr wrap="square" lIns="0" tIns="0" rIns="0" bIns="0" rtlCol="0" anchor="t"/>
          <a:lstStyle/>
          <a:p>
            <a:pPr rtl="1" algn="r" indent="0" marL="0">
              <a:buNone/>
            </a:pPr>
            <a:r>
              <a:rPr lang="ar-SA" altLang="en-US" sz="2400" b="1" dirty="0">
                <a:solidFill>
                  <a:srgbClr val="8A6508"/>
                </a:solidFill>
                <a:latin typeface="Arial" pitchFamily="34" charset="0"/>
                <a:ea typeface="Arial" pitchFamily="34" charset="-122"/>
                <a:cs typeface="Arial" pitchFamily="34" charset="-120"/>
              </a:rPr>
              <a:t>2,030</a:t>
            </a:r>
            <a:endParaRPr lang="ar-SA" sz="2400" dirty="0"/>
          </a:p>
        </p:txBody>
      </p:sp>
      <p:sp>
        <p:nvSpPr>
          <p:cNvPr id="33" name="Text 31"/>
          <p:cNvSpPr txBox="1"/>
          <p:nvPr/>
        </p:nvSpPr>
        <p:spPr>
          <a:xfrm>
            <a:off x="5304617" y="5596128"/>
            <a:ext cx="1582461" cy="365760"/>
          </a:xfrm>
          <a:prstGeom prst="rect">
            <a:avLst/>
          </a:prstGeom>
          <a:noFill/>
          <a:ln/>
        </p:spPr>
        <p:txBody>
          <a:bodyPr wrap="square" lIns="0" tIns="0" rIns="0" bIns="0" rtlCol="0" anchor="t"/>
          <a:lstStyle/>
          <a:p>
            <a:pPr rtl="1" algn="r" indent="0" marL="0">
              <a:buNone/>
            </a:pPr>
            <a:r>
              <a:rPr lang="ar-SA" altLang="en-US" sz="1250" dirty="0">
                <a:solidFill>
                  <a:srgbClr val="4F6356"/>
                </a:solidFill>
                <a:latin typeface="Arial" pitchFamily="34" charset="0"/>
                <a:ea typeface="Arial" pitchFamily="34" charset="-122"/>
                <a:cs typeface="Arial" pitchFamily="34" charset="-120"/>
              </a:rPr>
              <a:t>مشاركة رقمية</a:t>
            </a:r>
            <a:endParaRPr lang="ar-SA" sz="1250" dirty="0"/>
          </a:p>
        </p:txBody>
      </p:sp>
      <p:sp>
        <p:nvSpPr>
          <p:cNvPr id="34" name="Shape 32"/>
          <p:cNvSpPr/>
          <p:nvPr/>
        </p:nvSpPr>
        <p:spPr>
          <a:xfrm>
            <a:off x="2835189" y="1783080"/>
            <a:ext cx="2039661" cy="4343400"/>
          </a:xfrm>
          <a:prstGeom prst="roundRect">
            <a:avLst>
              <a:gd name="adj" fmla="val 5380"/>
            </a:avLst>
          </a:prstGeom>
          <a:solidFill>
            <a:srgbClr val="FBFCF9"/>
          </a:solidFill>
          <a:ln w="9525">
            <a:solidFill>
              <a:srgbClr val="D6E0D1"/>
            </a:solidFill>
            <a:prstDash val="solid"/>
          </a:ln>
        </p:spPr>
      </p:sp>
      <p:sp>
        <p:nvSpPr>
          <p:cNvPr id="35" name="Text 33"/>
          <p:cNvSpPr txBox="1"/>
          <p:nvPr/>
        </p:nvSpPr>
        <p:spPr>
          <a:xfrm>
            <a:off x="3063789" y="1920240"/>
            <a:ext cx="1582461" cy="411480"/>
          </a:xfrm>
          <a:prstGeom prst="rect">
            <a:avLst/>
          </a:prstGeom>
          <a:noFill/>
          <a:ln/>
        </p:spPr>
        <p:txBody>
          <a:bodyPr wrap="square" lIns="0" tIns="0" rIns="0" bIns="0" rtlCol="0" anchor="t"/>
          <a:lstStyle/>
          <a:p>
            <a:pPr rtl="1" algn="r" indent="0" marL="0">
              <a:buNone/>
            </a:pPr>
            <a:r>
              <a:rPr lang="ar-SA" altLang="en-US" sz="1700" b="1" dirty="0">
                <a:solidFill>
                  <a:srgbClr val="2F7D46"/>
                </a:solidFill>
                <a:latin typeface="Arial" pitchFamily="34" charset="0"/>
                <a:ea typeface="Arial" pitchFamily="34" charset="-122"/>
                <a:cs typeface="Arial" pitchFamily="34" charset="-120"/>
              </a:rPr>
              <a:t>إعلامي ورقمي</a:t>
            </a:r>
            <a:endParaRPr lang="ar-SA" sz="1700" dirty="0"/>
          </a:p>
        </p:txBody>
      </p:sp>
      <p:sp>
        <p:nvSpPr>
          <p:cNvPr id="36" name="Text 34"/>
          <p:cNvSpPr txBox="1"/>
          <p:nvPr/>
        </p:nvSpPr>
        <p:spPr>
          <a:xfrm>
            <a:off x="3063789" y="2468880"/>
            <a:ext cx="1582461" cy="457200"/>
          </a:xfrm>
          <a:prstGeom prst="rect">
            <a:avLst/>
          </a:prstGeom>
          <a:noFill/>
          <a:ln/>
        </p:spPr>
        <p:txBody>
          <a:bodyPr wrap="square" lIns="0" tIns="0" rIns="0" bIns="0" rtlCol="0" anchor="t"/>
          <a:lstStyle/>
          <a:p>
            <a:pPr rtl="1" algn="r" indent="0" marL="0">
              <a:buNone/>
            </a:pPr>
            <a:r>
              <a:rPr lang="ar-SA" altLang="en-US" sz="2400" b="1" dirty="0">
                <a:solidFill>
                  <a:srgbClr val="8A6508"/>
                </a:solidFill>
                <a:latin typeface="Arial" pitchFamily="34" charset="0"/>
                <a:ea typeface="Arial" pitchFamily="34" charset="-122"/>
                <a:cs typeface="Arial" pitchFamily="34" charset="-120"/>
              </a:rPr>
              <a:t>2,030</a:t>
            </a:r>
            <a:endParaRPr lang="ar-SA" sz="2400" dirty="0"/>
          </a:p>
        </p:txBody>
      </p:sp>
      <p:sp>
        <p:nvSpPr>
          <p:cNvPr id="37" name="Text 35"/>
          <p:cNvSpPr txBox="1"/>
          <p:nvPr/>
        </p:nvSpPr>
        <p:spPr>
          <a:xfrm>
            <a:off x="3063789" y="2907792"/>
            <a:ext cx="1582461" cy="365760"/>
          </a:xfrm>
          <a:prstGeom prst="rect">
            <a:avLst/>
          </a:prstGeom>
          <a:noFill/>
          <a:ln/>
        </p:spPr>
        <p:txBody>
          <a:bodyPr wrap="square" lIns="0" tIns="0" rIns="0" bIns="0" rtlCol="0" anchor="t"/>
          <a:lstStyle/>
          <a:p>
            <a:pPr rtl="1" algn="r" indent="0" marL="0">
              <a:buNone/>
            </a:pPr>
            <a:r>
              <a:rPr lang="ar-SA" altLang="en-US" sz="1250" dirty="0">
                <a:solidFill>
                  <a:srgbClr val="4F6356"/>
                </a:solidFill>
                <a:latin typeface="Arial" pitchFamily="34" charset="0"/>
                <a:ea typeface="Arial" pitchFamily="34" charset="-122"/>
                <a:cs typeface="Arial" pitchFamily="34" charset="-120"/>
              </a:rPr>
              <a:t>منتجًا إعلاميًا</a:t>
            </a:r>
            <a:endParaRPr lang="ar-SA" sz="1250" dirty="0"/>
          </a:p>
        </p:txBody>
      </p:sp>
      <p:sp>
        <p:nvSpPr>
          <p:cNvPr id="38" name="Text 36"/>
          <p:cNvSpPr txBox="1"/>
          <p:nvPr/>
        </p:nvSpPr>
        <p:spPr>
          <a:xfrm>
            <a:off x="3063789" y="3364992"/>
            <a:ext cx="1582461" cy="457200"/>
          </a:xfrm>
          <a:prstGeom prst="rect">
            <a:avLst/>
          </a:prstGeom>
          <a:noFill/>
          <a:ln/>
        </p:spPr>
        <p:txBody>
          <a:bodyPr wrap="square" lIns="0" tIns="0" rIns="0" bIns="0" rtlCol="0" anchor="t"/>
          <a:lstStyle/>
          <a:p>
            <a:pPr rtl="1" algn="r" indent="0" marL="0">
              <a:buNone/>
            </a:pPr>
            <a:r>
              <a:rPr lang="ar-SA" altLang="en-US" sz="2400" b="1" dirty="0">
                <a:solidFill>
                  <a:srgbClr val="8A6508"/>
                </a:solidFill>
                <a:latin typeface="Arial" pitchFamily="34" charset="0"/>
                <a:ea typeface="Arial" pitchFamily="34" charset="-122"/>
                <a:cs typeface="Arial" pitchFamily="34" charset="-120"/>
              </a:rPr>
              <a:t>2,030</a:t>
            </a:r>
            <a:endParaRPr lang="ar-SA" sz="2400" dirty="0"/>
          </a:p>
        </p:txBody>
      </p:sp>
      <p:sp>
        <p:nvSpPr>
          <p:cNvPr id="39" name="Text 37"/>
          <p:cNvSpPr txBox="1"/>
          <p:nvPr/>
        </p:nvSpPr>
        <p:spPr>
          <a:xfrm>
            <a:off x="3063789" y="3803904"/>
            <a:ext cx="1582461" cy="365760"/>
          </a:xfrm>
          <a:prstGeom prst="rect">
            <a:avLst/>
          </a:prstGeom>
          <a:noFill/>
          <a:ln/>
        </p:spPr>
        <p:txBody>
          <a:bodyPr wrap="square" lIns="0" tIns="0" rIns="0" bIns="0" rtlCol="0" anchor="t"/>
          <a:lstStyle/>
          <a:p>
            <a:pPr rtl="1" algn="r" indent="0" marL="0">
              <a:buNone/>
            </a:pPr>
            <a:r>
              <a:rPr lang="ar-SA" altLang="en-US" sz="1250" dirty="0">
                <a:solidFill>
                  <a:srgbClr val="4F6356"/>
                </a:solidFill>
                <a:latin typeface="Arial" pitchFamily="34" charset="0"/>
                <a:ea typeface="Arial" pitchFamily="34" charset="-122"/>
                <a:cs typeface="Arial" pitchFamily="34" charset="-120"/>
              </a:rPr>
              <a:t>عملية لإدارة الأثر</a:t>
            </a:r>
            <a:endParaRPr lang="ar-SA" sz="1250" dirty="0"/>
          </a:p>
        </p:txBody>
      </p:sp>
      <p:sp>
        <p:nvSpPr>
          <p:cNvPr id="40" name="Text 38"/>
          <p:cNvSpPr txBox="1"/>
          <p:nvPr/>
        </p:nvSpPr>
        <p:spPr>
          <a:xfrm>
            <a:off x="3063789" y="4261104"/>
            <a:ext cx="1582461" cy="457200"/>
          </a:xfrm>
          <a:prstGeom prst="rect">
            <a:avLst/>
          </a:prstGeom>
          <a:noFill/>
          <a:ln/>
        </p:spPr>
        <p:txBody>
          <a:bodyPr wrap="square" lIns="0" tIns="0" rIns="0" bIns="0" rtlCol="0" anchor="t"/>
          <a:lstStyle/>
          <a:p>
            <a:pPr rtl="1" algn="r" indent="0" marL="0">
              <a:buNone/>
            </a:pPr>
            <a:r>
              <a:rPr lang="ar-SA" altLang="en-US" sz="2400" b="1" dirty="0">
                <a:solidFill>
                  <a:srgbClr val="8A6508"/>
                </a:solidFill>
                <a:latin typeface="Arial" pitchFamily="34" charset="0"/>
                <a:ea typeface="Arial" pitchFamily="34" charset="-122"/>
                <a:cs typeface="Arial" pitchFamily="34" charset="-120"/>
              </a:rPr>
              <a:t>2,030</a:t>
            </a:r>
            <a:endParaRPr lang="ar-SA" sz="2400" dirty="0"/>
          </a:p>
        </p:txBody>
      </p:sp>
      <p:sp>
        <p:nvSpPr>
          <p:cNvPr id="41" name="Text 39"/>
          <p:cNvSpPr txBox="1"/>
          <p:nvPr/>
        </p:nvSpPr>
        <p:spPr>
          <a:xfrm>
            <a:off x="3063789" y="4700016"/>
            <a:ext cx="1582461" cy="365760"/>
          </a:xfrm>
          <a:prstGeom prst="rect">
            <a:avLst/>
          </a:prstGeom>
          <a:noFill/>
          <a:ln/>
        </p:spPr>
        <p:txBody>
          <a:bodyPr wrap="square" lIns="0" tIns="0" rIns="0" bIns="0" rtlCol="0" anchor="t"/>
          <a:lstStyle/>
          <a:p>
            <a:pPr rtl="1" algn="r" indent="0" marL="0">
              <a:buNone/>
            </a:pPr>
            <a:r>
              <a:rPr lang="ar-SA" altLang="en-US" sz="1250" dirty="0">
                <a:solidFill>
                  <a:srgbClr val="4F6356"/>
                </a:solidFill>
                <a:latin typeface="Arial" pitchFamily="34" charset="0"/>
                <a:ea typeface="Arial" pitchFamily="34" charset="-122"/>
                <a:cs typeface="Arial" pitchFamily="34" charset="-120"/>
              </a:rPr>
              <a:t>متدربًا</a:t>
            </a:r>
            <a:endParaRPr lang="ar-SA" sz="1250" dirty="0"/>
          </a:p>
        </p:txBody>
      </p:sp>
      <p:sp>
        <p:nvSpPr>
          <p:cNvPr id="42" name="Shape 40"/>
          <p:cNvSpPr/>
          <p:nvPr/>
        </p:nvSpPr>
        <p:spPr>
          <a:xfrm>
            <a:off x="594360" y="1783080"/>
            <a:ext cx="2039661" cy="4343400"/>
          </a:xfrm>
          <a:prstGeom prst="roundRect">
            <a:avLst>
              <a:gd name="adj" fmla="val 5380"/>
            </a:avLst>
          </a:prstGeom>
          <a:solidFill>
            <a:srgbClr val="FBFCF9"/>
          </a:solidFill>
          <a:ln w="9525">
            <a:solidFill>
              <a:srgbClr val="D6E0D1"/>
            </a:solidFill>
            <a:prstDash val="solid"/>
          </a:ln>
        </p:spPr>
      </p:sp>
      <p:sp>
        <p:nvSpPr>
          <p:cNvPr id="43" name="Text 41"/>
          <p:cNvSpPr txBox="1"/>
          <p:nvPr/>
        </p:nvSpPr>
        <p:spPr>
          <a:xfrm>
            <a:off x="822960" y="1920240"/>
            <a:ext cx="1582461" cy="411480"/>
          </a:xfrm>
          <a:prstGeom prst="rect">
            <a:avLst/>
          </a:prstGeom>
          <a:noFill/>
          <a:ln/>
        </p:spPr>
        <p:txBody>
          <a:bodyPr wrap="square" lIns="0" tIns="0" rIns="0" bIns="0" rtlCol="0" anchor="t"/>
          <a:lstStyle/>
          <a:p>
            <a:pPr rtl="1" algn="r" indent="0" marL="0">
              <a:buNone/>
            </a:pPr>
            <a:r>
              <a:rPr lang="ar-SA" altLang="en-US" sz="1700" b="1" dirty="0">
                <a:solidFill>
                  <a:srgbClr val="2F7D46"/>
                </a:solidFill>
                <a:latin typeface="Arial" pitchFamily="34" charset="0"/>
                <a:ea typeface="Arial" pitchFamily="34" charset="-122"/>
                <a:cs typeface="Arial" pitchFamily="34" charset="-120"/>
              </a:rPr>
              <a:t>هندسي</a:t>
            </a:r>
            <a:endParaRPr lang="ar-SA" sz="1700" dirty="0"/>
          </a:p>
        </p:txBody>
      </p:sp>
      <p:sp>
        <p:nvSpPr>
          <p:cNvPr id="44" name="Text 42"/>
          <p:cNvSpPr txBox="1"/>
          <p:nvPr/>
        </p:nvSpPr>
        <p:spPr>
          <a:xfrm>
            <a:off x="822960" y="2468880"/>
            <a:ext cx="1582461" cy="457200"/>
          </a:xfrm>
          <a:prstGeom prst="rect">
            <a:avLst/>
          </a:prstGeom>
          <a:noFill/>
          <a:ln/>
        </p:spPr>
        <p:txBody>
          <a:bodyPr wrap="square" lIns="0" tIns="0" rIns="0" bIns="0" rtlCol="0" anchor="t"/>
          <a:lstStyle/>
          <a:p>
            <a:pPr rtl="1" algn="r" indent="0" marL="0">
              <a:buNone/>
            </a:pPr>
            <a:r>
              <a:rPr lang="ar-SA" altLang="en-US" sz="2400" b="1" dirty="0">
                <a:solidFill>
                  <a:srgbClr val="8A6508"/>
                </a:solidFill>
                <a:latin typeface="Arial" pitchFamily="34" charset="0"/>
                <a:ea typeface="Arial" pitchFamily="34" charset="-122"/>
                <a:cs typeface="Arial" pitchFamily="34" charset="-120"/>
              </a:rPr>
              <a:t>100 كم</a:t>
            </a:r>
            <a:endParaRPr lang="ar-SA" sz="2400" dirty="0"/>
          </a:p>
        </p:txBody>
      </p:sp>
      <p:sp>
        <p:nvSpPr>
          <p:cNvPr id="45" name="Text 43"/>
          <p:cNvSpPr txBox="1"/>
          <p:nvPr/>
        </p:nvSpPr>
        <p:spPr>
          <a:xfrm>
            <a:off x="822960" y="2907792"/>
            <a:ext cx="1582461" cy="365760"/>
          </a:xfrm>
          <a:prstGeom prst="rect">
            <a:avLst/>
          </a:prstGeom>
          <a:noFill/>
          <a:ln/>
        </p:spPr>
        <p:txBody>
          <a:bodyPr wrap="square" lIns="0" tIns="0" rIns="0" bIns="0" rtlCol="0" anchor="t"/>
          <a:lstStyle/>
          <a:p>
            <a:pPr rtl="1" algn="r" indent="0" marL="0">
              <a:buNone/>
            </a:pPr>
            <a:r>
              <a:rPr lang="ar-SA" altLang="en-US" sz="1250" dirty="0">
                <a:solidFill>
                  <a:srgbClr val="4F6356"/>
                </a:solidFill>
                <a:latin typeface="Arial" pitchFamily="34" charset="0"/>
                <a:ea typeface="Arial" pitchFamily="34" charset="-122"/>
                <a:cs typeface="Arial" pitchFamily="34" charset="-120"/>
              </a:rPr>
              <a:t>من الطريق الأخضر</a:t>
            </a:r>
            <a:endParaRPr lang="ar-SA" sz="1250" dirty="0"/>
          </a:p>
        </p:txBody>
      </p:sp>
      <p:sp>
        <p:nvSpPr>
          <p:cNvPr id="46" name="Text 44"/>
          <p:cNvSpPr txBox="1"/>
          <p:nvPr/>
        </p:nvSpPr>
        <p:spPr>
          <a:xfrm>
            <a:off x="822960" y="3364992"/>
            <a:ext cx="1582461" cy="457200"/>
          </a:xfrm>
          <a:prstGeom prst="rect">
            <a:avLst/>
          </a:prstGeom>
          <a:noFill/>
          <a:ln/>
        </p:spPr>
        <p:txBody>
          <a:bodyPr wrap="square" lIns="0" tIns="0" rIns="0" bIns="0" rtlCol="0" anchor="t"/>
          <a:lstStyle/>
          <a:p>
            <a:pPr rtl="1" algn="r" indent="0" marL="0">
              <a:buNone/>
            </a:pPr>
            <a:r>
              <a:rPr lang="ar-SA" altLang="en-US" sz="2400" b="1" dirty="0">
                <a:solidFill>
                  <a:srgbClr val="8A6508"/>
                </a:solidFill>
                <a:latin typeface="Arial" pitchFamily="34" charset="0"/>
                <a:ea typeface="Arial" pitchFamily="34" charset="-122"/>
                <a:cs typeface="Arial" pitchFamily="34" charset="-120"/>
              </a:rPr>
              <a:t>100%</a:t>
            </a:r>
            <a:endParaRPr lang="ar-SA" sz="2400" dirty="0"/>
          </a:p>
        </p:txBody>
      </p:sp>
      <p:sp>
        <p:nvSpPr>
          <p:cNvPr id="47" name="Text 45"/>
          <p:cNvSpPr txBox="1"/>
          <p:nvPr/>
        </p:nvSpPr>
        <p:spPr>
          <a:xfrm>
            <a:off x="822960" y="3803904"/>
            <a:ext cx="1582461" cy="365760"/>
          </a:xfrm>
          <a:prstGeom prst="rect">
            <a:avLst/>
          </a:prstGeom>
          <a:noFill/>
          <a:ln/>
        </p:spPr>
        <p:txBody>
          <a:bodyPr wrap="square" lIns="0" tIns="0" rIns="0" bIns="0" rtlCol="0" anchor="t"/>
          <a:lstStyle/>
          <a:p>
            <a:pPr rtl="1" algn="r" indent="0" marL="0">
              <a:buNone/>
            </a:pPr>
            <a:r>
              <a:rPr lang="ar-SA" altLang="en-US" sz="1250" dirty="0">
                <a:solidFill>
                  <a:srgbClr val="4F6356"/>
                </a:solidFill>
                <a:latin typeface="Arial" pitchFamily="34" charset="0"/>
                <a:ea typeface="Arial" pitchFamily="34" charset="-122"/>
                <a:cs typeface="Arial" pitchFamily="34" charset="-120"/>
              </a:rPr>
              <a:t>ري مستدام</a:t>
            </a:r>
            <a:endParaRPr lang="ar-SA" sz="1250" dirty="0"/>
          </a:p>
        </p:txBody>
      </p:sp>
      <p:sp>
        <p:nvSpPr>
          <p:cNvPr id="48" name="Text 46"/>
          <p:cNvSpPr txBox="1"/>
          <p:nvPr/>
        </p:nvSpPr>
        <p:spPr>
          <a:xfrm>
            <a:off x="822960" y="4261104"/>
            <a:ext cx="1582461" cy="457200"/>
          </a:xfrm>
          <a:prstGeom prst="rect">
            <a:avLst/>
          </a:prstGeom>
          <a:noFill/>
          <a:ln/>
        </p:spPr>
        <p:txBody>
          <a:bodyPr wrap="square" lIns="0" tIns="0" rIns="0" bIns="0" rtlCol="0" anchor="t"/>
          <a:lstStyle/>
          <a:p>
            <a:pPr rtl="1" algn="r" indent="0" marL="0">
              <a:buNone/>
            </a:pPr>
            <a:r>
              <a:rPr lang="ar-SA" altLang="en-US" sz="2400" b="1" dirty="0">
                <a:solidFill>
                  <a:srgbClr val="8A6508"/>
                </a:solidFill>
                <a:latin typeface="Arial" pitchFamily="34" charset="0"/>
                <a:ea typeface="Arial" pitchFamily="34" charset="-122"/>
                <a:cs typeface="Arial" pitchFamily="34" charset="-120"/>
              </a:rPr>
              <a:t>شمسية</a:t>
            </a:r>
            <a:endParaRPr lang="ar-SA" sz="2400" dirty="0"/>
          </a:p>
        </p:txBody>
      </p:sp>
      <p:sp>
        <p:nvSpPr>
          <p:cNvPr id="49" name="Text 47"/>
          <p:cNvSpPr txBox="1"/>
          <p:nvPr/>
        </p:nvSpPr>
        <p:spPr>
          <a:xfrm>
            <a:off x="822960" y="4700016"/>
            <a:ext cx="1582461" cy="365760"/>
          </a:xfrm>
          <a:prstGeom prst="rect">
            <a:avLst/>
          </a:prstGeom>
          <a:noFill/>
          <a:ln/>
        </p:spPr>
        <p:txBody>
          <a:bodyPr wrap="square" lIns="0" tIns="0" rIns="0" bIns="0" rtlCol="0" anchor="t"/>
          <a:lstStyle/>
          <a:p>
            <a:pPr rtl="1" algn="r" indent="0" marL="0">
              <a:buNone/>
            </a:pPr>
            <a:r>
              <a:rPr lang="ar-SA" altLang="en-US" sz="1250" dirty="0">
                <a:solidFill>
                  <a:srgbClr val="4F6356"/>
                </a:solidFill>
                <a:latin typeface="Arial" pitchFamily="34" charset="0"/>
                <a:ea typeface="Arial" pitchFamily="34" charset="-122"/>
                <a:cs typeface="Arial" pitchFamily="34" charset="-120"/>
              </a:rPr>
              <a:t>إضاءة الطريق</a:t>
            </a:r>
            <a:endParaRPr lang="ar-SA" sz="1250" dirty="0"/>
          </a:p>
        </p:txBody>
      </p:sp>
      <p:sp>
        <p:nvSpPr>
          <p:cNvPr id="50" name="Text 48"/>
          <p:cNvSpPr txBox="1"/>
          <p:nvPr/>
        </p:nvSpPr>
        <p:spPr>
          <a:xfrm>
            <a:off x="594360" y="6355080"/>
            <a:ext cx="914400" cy="274320"/>
          </a:xfrm>
          <a:prstGeom prst="rect">
            <a:avLst/>
          </a:prstGeom>
          <a:noFill/>
          <a:ln/>
        </p:spPr>
        <p:txBody>
          <a:bodyPr wrap="square" lIns="0" tIns="0" rIns="0" bIns="0" rtlCol="0" anchor="t"/>
          <a:lstStyle/>
          <a:p>
            <a:pPr algn="l" indent="0" marL="0">
              <a:buNone/>
            </a:pPr>
            <a:r>
              <a:rPr lang="ar-SA" altLang="en-US" sz="1100" dirty="0">
                <a:solidFill>
                  <a:srgbClr val="6B7D70"/>
                </a:solidFill>
                <a:latin typeface="Arial" pitchFamily="34" charset="0"/>
                <a:ea typeface="Arial" pitchFamily="34" charset="-122"/>
                <a:cs typeface="Arial" pitchFamily="34" charset="-120"/>
              </a:rPr>
              <a:t>17</a:t>
            </a:r>
            <a:endParaRPr lang="ar-SA" sz="1100" dirty="0"/>
          </a:p>
        </p:txBody>
      </p:sp>
      <p:sp>
        <p:nvSpPr>
          <p:cNvPr id="51" name="Text 49"/>
          <p:cNvSpPr txBox="1"/>
          <p:nvPr/>
        </p:nvSpPr>
        <p:spPr>
          <a:xfrm>
            <a:off x="7025335" y="6355080"/>
            <a:ext cx="4572000" cy="274320"/>
          </a:xfrm>
          <a:prstGeom prst="rect">
            <a:avLst/>
          </a:prstGeom>
          <a:noFill/>
          <a:ln/>
        </p:spPr>
        <p:txBody>
          <a:bodyPr wrap="square" lIns="0" tIns="0" rIns="0" bIns="0" rtlCol="0" anchor="t"/>
          <a:lstStyle/>
          <a:p>
            <a:pPr rtl="1" algn="r" indent="0" marL="0">
              <a:buNone/>
            </a:pPr>
            <a:r>
              <a:rPr lang="ar-SA" altLang="en-US" sz="1100" dirty="0">
                <a:solidFill>
                  <a:srgbClr val="6B7D70"/>
                </a:solidFill>
                <a:latin typeface="Arial" pitchFamily="34" charset="0"/>
                <a:ea typeface="Arial" pitchFamily="34" charset="-122"/>
                <a:cs typeface="Arial" pitchFamily="34" charset="-120"/>
              </a:rPr>
              <a:t>مبادرة الأثر الأخضر المستدام</a:t>
            </a:r>
            <a:endParaRPr lang="ar-SA"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7F1"/>
        </a:solidFill>
      </p:bgPr>
    </p:bg>
    <p:spTree>
      <p:nvGrpSpPr>
        <p:cNvPr id="1" name=""/>
        <p:cNvGrpSpPr/>
        <p:nvPr/>
      </p:nvGrpSpPr>
      <p:grpSpPr>
        <a:xfrm>
          <a:off x="0" y="0"/>
          <a:ext cx="0" cy="0"/>
          <a:chOff x="0" y="0"/>
          <a:chExt cx="0" cy="0"/>
        </a:xfrm>
      </p:grpSpPr>
      <p:sp>
        <p:nvSpPr>
          <p:cNvPr id="2" name="Text 0"/>
          <p:cNvSpPr txBox="1"/>
          <p:nvPr/>
        </p:nvSpPr>
        <p:spPr>
          <a:xfrm>
            <a:off x="594360" y="502920"/>
            <a:ext cx="11002975" cy="365760"/>
          </a:xfrm>
          <a:prstGeom prst="rect">
            <a:avLst/>
          </a:prstGeom>
          <a:noFill/>
          <a:ln/>
        </p:spPr>
        <p:txBody>
          <a:bodyPr wrap="square" lIns="0" tIns="0" rIns="0" bIns="0" rtlCol="0" anchor="t"/>
          <a:lstStyle/>
          <a:p>
            <a:pPr rtl="1" algn="r" indent="0" marL="0">
              <a:buNone/>
            </a:pPr>
            <a:r>
              <a:rPr lang="ar-SA" altLang="en-US" sz="1500" b="1" dirty="0">
                <a:solidFill>
                  <a:srgbClr val="8A6508"/>
                </a:solidFill>
                <a:latin typeface="Arial" pitchFamily="34" charset="0"/>
                <a:ea typeface="Arial" pitchFamily="34" charset="-122"/>
                <a:cs typeface="Arial" pitchFamily="34" charset="-120"/>
              </a:rPr>
              <a:t>كيف نقيس النجاح</a:t>
            </a:r>
            <a:endParaRPr lang="ar-SA" sz="1500" dirty="0"/>
          </a:p>
        </p:txBody>
      </p:sp>
      <p:sp>
        <p:nvSpPr>
          <p:cNvPr id="3" name="Text 1"/>
          <p:cNvSpPr txBox="1"/>
          <p:nvPr/>
        </p:nvSpPr>
        <p:spPr>
          <a:xfrm>
            <a:off x="594360" y="868680"/>
            <a:ext cx="11002975" cy="731520"/>
          </a:xfrm>
          <a:prstGeom prst="rect">
            <a:avLst/>
          </a:prstGeom>
          <a:noFill/>
          <a:ln/>
        </p:spPr>
        <p:txBody>
          <a:bodyPr wrap="square" lIns="0" tIns="0" rIns="0" bIns="0" rtlCol="0" anchor="t"/>
          <a:lstStyle/>
          <a:p>
            <a:pPr rtl="1" algn="r" indent="0" marL="0">
              <a:buNone/>
            </a:pPr>
            <a:r>
              <a:rPr lang="ar-SA" altLang="en-US" sz="3600" b="1" dirty="0">
                <a:solidFill>
                  <a:srgbClr val="1E5E36"/>
                </a:solidFill>
                <a:latin typeface="Arial" pitchFamily="34" charset="0"/>
                <a:ea typeface="Arial" pitchFamily="34" charset="-122"/>
                <a:cs typeface="Arial" pitchFamily="34" charset="-120"/>
              </a:rPr>
              <a:t>مؤشرات الأداء الرئيسية</a:t>
            </a:r>
            <a:endParaRPr lang="ar-SA" sz="3600" dirty="0"/>
          </a:p>
        </p:txBody>
      </p:sp>
      <p:sp>
        <p:nvSpPr>
          <p:cNvPr id="4" name="Shape 2"/>
          <p:cNvSpPr/>
          <p:nvPr/>
        </p:nvSpPr>
        <p:spPr>
          <a:xfrm>
            <a:off x="8112557" y="1783080"/>
            <a:ext cx="3484778" cy="1965960"/>
          </a:xfrm>
          <a:prstGeom prst="roundRect">
            <a:avLst>
              <a:gd name="adj" fmla="val 5581"/>
            </a:avLst>
          </a:prstGeom>
          <a:solidFill>
            <a:srgbClr val="FBFCF9"/>
          </a:solidFill>
          <a:ln w="9525">
            <a:solidFill>
              <a:srgbClr val="D6E0D1"/>
            </a:solidFill>
            <a:prstDash val="solid"/>
          </a:ln>
        </p:spPr>
      </p:sp>
      <p:sp>
        <p:nvSpPr>
          <p:cNvPr id="5" name="Text 3"/>
          <p:cNvSpPr txBox="1"/>
          <p:nvPr/>
        </p:nvSpPr>
        <p:spPr>
          <a:xfrm>
            <a:off x="8386877" y="1965960"/>
            <a:ext cx="2936138" cy="731520"/>
          </a:xfrm>
          <a:prstGeom prst="rect">
            <a:avLst/>
          </a:prstGeom>
          <a:noFill/>
          <a:ln/>
        </p:spPr>
        <p:txBody>
          <a:bodyPr wrap="square" lIns="0" tIns="0" rIns="0" bIns="0" rtlCol="0" anchor="t"/>
          <a:lstStyle/>
          <a:p>
            <a:pPr algn="r" indent="0" marL="0">
              <a:buNone/>
            </a:pPr>
            <a:r>
              <a:rPr lang="ar-SA" altLang="en-US" sz="4000" b="1" dirty="0">
                <a:solidFill>
                  <a:srgbClr val="8A6508"/>
                </a:solidFill>
                <a:latin typeface="Arial" pitchFamily="34" charset="0"/>
                <a:ea typeface="Arial" pitchFamily="34" charset="-122"/>
                <a:cs typeface="Arial" pitchFamily="34" charset="-120"/>
              </a:rPr>
              <a:t>3:1</a:t>
            </a:r>
            <a:endParaRPr lang="ar-SA" sz="4000" dirty="0"/>
          </a:p>
        </p:txBody>
      </p:sp>
      <p:sp>
        <p:nvSpPr>
          <p:cNvPr id="6" name="Text 4"/>
          <p:cNvSpPr txBox="1"/>
          <p:nvPr/>
        </p:nvSpPr>
        <p:spPr>
          <a:xfrm>
            <a:off x="8386877" y="2743200"/>
            <a:ext cx="2936138" cy="411480"/>
          </a:xfrm>
          <a:prstGeom prst="rect">
            <a:avLst/>
          </a:prstGeom>
          <a:noFill/>
          <a:ln/>
        </p:spPr>
        <p:txBody>
          <a:bodyPr wrap="square" lIns="0" tIns="0" rIns="0" bIns="0" rtlCol="0" anchor="t"/>
          <a:lstStyle/>
          <a:p>
            <a:pPr rtl="1" algn="r" indent="0" marL="0">
              <a:buNone/>
            </a:pPr>
            <a:r>
              <a:rPr lang="ar-SA" altLang="en-US" sz="1700" b="1" dirty="0">
                <a:solidFill>
                  <a:srgbClr val="15271C"/>
                </a:solidFill>
                <a:latin typeface="Arial" pitchFamily="34" charset="0"/>
                <a:ea typeface="Arial" pitchFamily="34" charset="-122"/>
                <a:cs typeface="Arial" pitchFamily="34" charset="-120"/>
              </a:rPr>
              <a:t>العائد الاجتماعي على الاستثمار</a:t>
            </a:r>
            <a:endParaRPr lang="ar-SA" sz="1700" dirty="0"/>
          </a:p>
        </p:txBody>
      </p:sp>
      <p:sp>
        <p:nvSpPr>
          <p:cNvPr id="7" name="Text 5"/>
          <p:cNvSpPr txBox="1"/>
          <p:nvPr/>
        </p:nvSpPr>
        <p:spPr>
          <a:xfrm>
            <a:off x="8386877" y="3154680"/>
            <a:ext cx="2936138" cy="457200"/>
          </a:xfrm>
          <a:prstGeom prst="rect">
            <a:avLst/>
          </a:prstGeom>
          <a:noFill/>
          <a:ln/>
        </p:spPr>
        <p:txBody>
          <a:bodyPr wrap="square" lIns="0" tIns="0" rIns="0" bIns="0" rtlCol="0" anchor="t"/>
          <a:lstStyle/>
          <a:p>
            <a:pPr rtl="1" algn="r" indent="0" marL="0">
              <a:buNone/>
            </a:pPr>
            <a:r>
              <a:rPr lang="ar-SA" altLang="en-US" sz="1250" dirty="0">
                <a:solidFill>
                  <a:srgbClr val="4F6356"/>
                </a:solidFill>
                <a:latin typeface="Arial" pitchFamily="34" charset="0"/>
                <a:ea typeface="Arial" pitchFamily="34" charset="-122"/>
                <a:cs typeface="Arial" pitchFamily="34" charset="-120"/>
              </a:rPr>
              <a:t>SROI: ثلاثة ريالات قيمةً اجتماعية لكل ريال يُستثمر</a:t>
            </a:r>
            <a:endParaRPr lang="ar-SA" sz="1250" dirty="0"/>
          </a:p>
        </p:txBody>
      </p:sp>
      <p:sp>
        <p:nvSpPr>
          <p:cNvPr id="8" name="Shape 6"/>
          <p:cNvSpPr/>
          <p:nvPr/>
        </p:nvSpPr>
        <p:spPr>
          <a:xfrm>
            <a:off x="4353458" y="1783080"/>
            <a:ext cx="3484778" cy="1965960"/>
          </a:xfrm>
          <a:prstGeom prst="roundRect">
            <a:avLst>
              <a:gd name="adj" fmla="val 5581"/>
            </a:avLst>
          </a:prstGeom>
          <a:solidFill>
            <a:srgbClr val="FBFCF9"/>
          </a:solidFill>
          <a:ln w="9525">
            <a:solidFill>
              <a:srgbClr val="D6E0D1"/>
            </a:solidFill>
            <a:prstDash val="solid"/>
          </a:ln>
        </p:spPr>
      </p:sp>
      <p:sp>
        <p:nvSpPr>
          <p:cNvPr id="9" name="Text 7"/>
          <p:cNvSpPr txBox="1"/>
          <p:nvPr/>
        </p:nvSpPr>
        <p:spPr>
          <a:xfrm>
            <a:off x="4627778" y="1965960"/>
            <a:ext cx="2936138" cy="731520"/>
          </a:xfrm>
          <a:prstGeom prst="rect">
            <a:avLst/>
          </a:prstGeom>
          <a:noFill/>
          <a:ln/>
        </p:spPr>
        <p:txBody>
          <a:bodyPr wrap="square" lIns="0" tIns="0" rIns="0" bIns="0" rtlCol="0" anchor="t"/>
          <a:lstStyle/>
          <a:p>
            <a:pPr algn="r" indent="0" marL="0">
              <a:buNone/>
            </a:pPr>
            <a:r>
              <a:rPr lang="ar-SA" altLang="en-US" sz="4000" b="1" dirty="0">
                <a:solidFill>
                  <a:srgbClr val="8A6508"/>
                </a:solidFill>
                <a:latin typeface="Arial" pitchFamily="34" charset="0"/>
                <a:ea typeface="Arial" pitchFamily="34" charset="-122"/>
                <a:cs typeface="Arial" pitchFamily="34" charset="-120"/>
              </a:rPr>
              <a:t>+100K</a:t>
            </a:r>
            <a:endParaRPr lang="ar-SA" sz="4000" dirty="0"/>
          </a:p>
        </p:txBody>
      </p:sp>
      <p:sp>
        <p:nvSpPr>
          <p:cNvPr id="10" name="Text 8"/>
          <p:cNvSpPr txBox="1"/>
          <p:nvPr/>
        </p:nvSpPr>
        <p:spPr>
          <a:xfrm>
            <a:off x="4627778" y="2743200"/>
            <a:ext cx="2936138" cy="411480"/>
          </a:xfrm>
          <a:prstGeom prst="rect">
            <a:avLst/>
          </a:prstGeom>
          <a:noFill/>
          <a:ln/>
        </p:spPr>
        <p:txBody>
          <a:bodyPr wrap="square" lIns="0" tIns="0" rIns="0" bIns="0" rtlCol="0" anchor="t"/>
          <a:lstStyle/>
          <a:p>
            <a:pPr rtl="1" algn="r" indent="0" marL="0">
              <a:buNone/>
            </a:pPr>
            <a:r>
              <a:rPr lang="ar-SA" altLang="en-US" sz="1700" b="1" dirty="0">
                <a:solidFill>
                  <a:srgbClr val="15271C"/>
                </a:solidFill>
                <a:latin typeface="Arial" pitchFamily="34" charset="0"/>
                <a:ea typeface="Arial" pitchFamily="34" charset="-122"/>
                <a:cs typeface="Arial" pitchFamily="34" charset="-120"/>
              </a:rPr>
              <a:t>الوصول الرقمي</a:t>
            </a:r>
            <a:endParaRPr lang="ar-SA" sz="1700" dirty="0"/>
          </a:p>
        </p:txBody>
      </p:sp>
      <p:sp>
        <p:nvSpPr>
          <p:cNvPr id="11" name="Text 9"/>
          <p:cNvSpPr txBox="1"/>
          <p:nvPr/>
        </p:nvSpPr>
        <p:spPr>
          <a:xfrm>
            <a:off x="4627778" y="3154680"/>
            <a:ext cx="2936138" cy="457200"/>
          </a:xfrm>
          <a:prstGeom prst="rect">
            <a:avLst/>
          </a:prstGeom>
          <a:noFill/>
          <a:ln/>
        </p:spPr>
        <p:txBody>
          <a:bodyPr wrap="square" lIns="0" tIns="0" rIns="0" bIns="0" rtlCol="0" anchor="t"/>
          <a:lstStyle/>
          <a:p>
            <a:pPr rtl="1" algn="r" indent="0" marL="0">
              <a:buNone/>
            </a:pPr>
            <a:r>
              <a:rPr lang="ar-SA" altLang="en-US" sz="1250" dirty="0">
                <a:solidFill>
                  <a:srgbClr val="4F6356"/>
                </a:solidFill>
                <a:latin typeface="Arial" pitchFamily="34" charset="0"/>
                <a:ea typeface="Arial" pitchFamily="34" charset="-122"/>
                <a:cs typeface="Arial" pitchFamily="34" charset="-120"/>
              </a:rPr>
              <a:t>مستخدم على المنصات الإعلامية</a:t>
            </a:r>
            <a:endParaRPr lang="ar-SA" sz="1250" dirty="0"/>
          </a:p>
        </p:txBody>
      </p:sp>
      <p:sp>
        <p:nvSpPr>
          <p:cNvPr id="12" name="Shape 10"/>
          <p:cNvSpPr/>
          <p:nvPr/>
        </p:nvSpPr>
        <p:spPr>
          <a:xfrm>
            <a:off x="594360" y="1783080"/>
            <a:ext cx="3484778" cy="1965960"/>
          </a:xfrm>
          <a:prstGeom prst="roundRect">
            <a:avLst>
              <a:gd name="adj" fmla="val 5581"/>
            </a:avLst>
          </a:prstGeom>
          <a:solidFill>
            <a:srgbClr val="FBFCF9"/>
          </a:solidFill>
          <a:ln w="9525">
            <a:solidFill>
              <a:srgbClr val="D6E0D1"/>
            </a:solidFill>
            <a:prstDash val="solid"/>
          </a:ln>
        </p:spPr>
      </p:sp>
      <p:sp>
        <p:nvSpPr>
          <p:cNvPr id="13" name="Text 11"/>
          <p:cNvSpPr txBox="1"/>
          <p:nvPr/>
        </p:nvSpPr>
        <p:spPr>
          <a:xfrm>
            <a:off x="868680" y="1965960"/>
            <a:ext cx="2936138" cy="731520"/>
          </a:xfrm>
          <a:prstGeom prst="rect">
            <a:avLst/>
          </a:prstGeom>
          <a:noFill/>
          <a:ln/>
        </p:spPr>
        <p:txBody>
          <a:bodyPr wrap="square" lIns="0" tIns="0" rIns="0" bIns="0" rtlCol="0" anchor="t"/>
          <a:lstStyle/>
          <a:p>
            <a:pPr algn="r" indent="0" marL="0">
              <a:buNone/>
            </a:pPr>
            <a:r>
              <a:rPr lang="ar-SA" altLang="en-US" sz="4000" b="1" dirty="0">
                <a:solidFill>
                  <a:srgbClr val="8A6508"/>
                </a:solidFill>
                <a:latin typeface="Arial" pitchFamily="34" charset="0"/>
                <a:ea typeface="Arial" pitchFamily="34" charset="-122"/>
                <a:cs typeface="Arial" pitchFamily="34" charset="-120"/>
              </a:rPr>
              <a:t>+90%</a:t>
            </a:r>
            <a:endParaRPr lang="ar-SA" sz="4000" dirty="0"/>
          </a:p>
        </p:txBody>
      </p:sp>
      <p:sp>
        <p:nvSpPr>
          <p:cNvPr id="14" name="Text 12"/>
          <p:cNvSpPr txBox="1"/>
          <p:nvPr/>
        </p:nvSpPr>
        <p:spPr>
          <a:xfrm>
            <a:off x="868680" y="2743200"/>
            <a:ext cx="2936138" cy="411480"/>
          </a:xfrm>
          <a:prstGeom prst="rect">
            <a:avLst/>
          </a:prstGeom>
          <a:noFill/>
          <a:ln/>
        </p:spPr>
        <p:txBody>
          <a:bodyPr wrap="square" lIns="0" tIns="0" rIns="0" bIns="0" rtlCol="0" anchor="t"/>
          <a:lstStyle/>
          <a:p>
            <a:pPr rtl="1" algn="r" indent="0" marL="0">
              <a:buNone/>
            </a:pPr>
            <a:r>
              <a:rPr lang="ar-SA" altLang="en-US" sz="1700" b="1" dirty="0">
                <a:solidFill>
                  <a:srgbClr val="15271C"/>
                </a:solidFill>
                <a:latin typeface="Arial" pitchFamily="34" charset="0"/>
                <a:ea typeface="Arial" pitchFamily="34" charset="-122"/>
                <a:cs typeface="Arial" pitchFamily="34" charset="-120"/>
              </a:rPr>
              <a:t>رضا المشاركين</a:t>
            </a:r>
            <a:endParaRPr lang="ar-SA" sz="1700" dirty="0"/>
          </a:p>
        </p:txBody>
      </p:sp>
      <p:sp>
        <p:nvSpPr>
          <p:cNvPr id="15" name="Text 13"/>
          <p:cNvSpPr txBox="1"/>
          <p:nvPr/>
        </p:nvSpPr>
        <p:spPr>
          <a:xfrm>
            <a:off x="868680" y="3154680"/>
            <a:ext cx="2936138" cy="457200"/>
          </a:xfrm>
          <a:prstGeom prst="rect">
            <a:avLst/>
          </a:prstGeom>
          <a:noFill/>
          <a:ln/>
        </p:spPr>
        <p:txBody>
          <a:bodyPr wrap="square" lIns="0" tIns="0" rIns="0" bIns="0" rtlCol="0" anchor="t"/>
          <a:lstStyle/>
          <a:p>
            <a:pPr rtl="1" algn="r" indent="0" marL="0">
              <a:buNone/>
            </a:pPr>
            <a:r>
              <a:rPr lang="ar-SA" altLang="en-US" sz="1250" dirty="0">
                <a:solidFill>
                  <a:srgbClr val="4F6356"/>
                </a:solidFill>
                <a:latin typeface="Arial" pitchFamily="34" charset="0"/>
                <a:ea typeface="Arial" pitchFamily="34" charset="-122"/>
                <a:cs typeface="Arial" pitchFamily="34" charset="-120"/>
              </a:rPr>
              <a:t>وفق منهجية الإدارة بالنتائج RBM</a:t>
            </a:r>
            <a:endParaRPr lang="ar-SA" sz="1250" dirty="0"/>
          </a:p>
        </p:txBody>
      </p:sp>
      <p:sp>
        <p:nvSpPr>
          <p:cNvPr id="16" name="Shape 14"/>
          <p:cNvSpPr/>
          <p:nvPr/>
        </p:nvSpPr>
        <p:spPr>
          <a:xfrm>
            <a:off x="8112557" y="3977640"/>
            <a:ext cx="3484778" cy="1965960"/>
          </a:xfrm>
          <a:prstGeom prst="roundRect">
            <a:avLst>
              <a:gd name="adj" fmla="val 5581"/>
            </a:avLst>
          </a:prstGeom>
          <a:solidFill>
            <a:srgbClr val="FBFCF9"/>
          </a:solidFill>
          <a:ln w="9525">
            <a:solidFill>
              <a:srgbClr val="D6E0D1"/>
            </a:solidFill>
            <a:prstDash val="solid"/>
          </a:ln>
        </p:spPr>
      </p:sp>
      <p:sp>
        <p:nvSpPr>
          <p:cNvPr id="17" name="Text 15"/>
          <p:cNvSpPr txBox="1"/>
          <p:nvPr/>
        </p:nvSpPr>
        <p:spPr>
          <a:xfrm>
            <a:off x="8386877" y="4160520"/>
            <a:ext cx="2936138" cy="731520"/>
          </a:xfrm>
          <a:prstGeom prst="rect">
            <a:avLst/>
          </a:prstGeom>
          <a:noFill/>
          <a:ln/>
        </p:spPr>
        <p:txBody>
          <a:bodyPr wrap="square" lIns="0" tIns="0" rIns="0" bIns="0" rtlCol="0" anchor="t"/>
          <a:lstStyle/>
          <a:p>
            <a:pPr algn="r" indent="0" marL="0">
              <a:buNone/>
            </a:pPr>
            <a:r>
              <a:rPr lang="ar-SA" altLang="en-US" sz="4000" b="1" dirty="0">
                <a:solidFill>
                  <a:srgbClr val="8A6508"/>
                </a:solidFill>
                <a:latin typeface="Arial" pitchFamily="34" charset="0"/>
                <a:ea typeface="Arial" pitchFamily="34" charset="-122"/>
                <a:cs typeface="Arial" pitchFamily="34" charset="-120"/>
              </a:rPr>
              <a:t>+95%</a:t>
            </a:r>
            <a:endParaRPr lang="ar-SA" sz="4000" dirty="0"/>
          </a:p>
        </p:txBody>
      </p:sp>
      <p:sp>
        <p:nvSpPr>
          <p:cNvPr id="18" name="Text 16"/>
          <p:cNvSpPr txBox="1"/>
          <p:nvPr/>
        </p:nvSpPr>
        <p:spPr>
          <a:xfrm>
            <a:off x="8386877" y="4937760"/>
            <a:ext cx="2936138" cy="411480"/>
          </a:xfrm>
          <a:prstGeom prst="rect">
            <a:avLst/>
          </a:prstGeom>
          <a:noFill/>
          <a:ln/>
        </p:spPr>
        <p:txBody>
          <a:bodyPr wrap="square" lIns="0" tIns="0" rIns="0" bIns="0" rtlCol="0" anchor="t"/>
          <a:lstStyle/>
          <a:p>
            <a:pPr rtl="1" algn="r" indent="0" marL="0">
              <a:buNone/>
            </a:pPr>
            <a:r>
              <a:rPr lang="ar-SA" altLang="en-US" sz="1700" b="1" dirty="0">
                <a:solidFill>
                  <a:srgbClr val="15271C"/>
                </a:solidFill>
                <a:latin typeface="Arial" pitchFamily="34" charset="0"/>
                <a:ea typeface="Arial" pitchFamily="34" charset="-122"/>
                <a:cs typeface="Arial" pitchFamily="34" charset="-120"/>
              </a:rPr>
              <a:t>رضا المتطوعين</a:t>
            </a:r>
            <a:endParaRPr lang="ar-SA" sz="1700" dirty="0"/>
          </a:p>
        </p:txBody>
      </p:sp>
      <p:sp>
        <p:nvSpPr>
          <p:cNvPr id="19" name="Text 17"/>
          <p:cNvSpPr txBox="1"/>
          <p:nvPr/>
        </p:nvSpPr>
        <p:spPr>
          <a:xfrm>
            <a:off x="8386877" y="5349240"/>
            <a:ext cx="2936138" cy="457200"/>
          </a:xfrm>
          <a:prstGeom prst="rect">
            <a:avLst/>
          </a:prstGeom>
          <a:noFill/>
          <a:ln/>
        </p:spPr>
        <p:txBody>
          <a:bodyPr wrap="square" lIns="0" tIns="0" rIns="0" bIns="0" rtlCol="0" anchor="t"/>
          <a:lstStyle/>
          <a:p>
            <a:pPr rtl="1" algn="r" indent="0" marL="0">
              <a:buNone/>
            </a:pPr>
            <a:r>
              <a:rPr lang="ar-SA" altLang="en-US" sz="1250" dirty="0">
                <a:solidFill>
                  <a:srgbClr val="4F6356"/>
                </a:solidFill>
                <a:latin typeface="Arial" pitchFamily="34" charset="0"/>
                <a:ea typeface="Arial" pitchFamily="34" charset="-122"/>
                <a:cs typeface="Arial" pitchFamily="34" charset="-120"/>
              </a:rPr>
              <a:t>وفق معايير المنصة الوطنية للعمل التطوعي</a:t>
            </a:r>
            <a:endParaRPr lang="ar-SA" sz="1250" dirty="0"/>
          </a:p>
        </p:txBody>
      </p:sp>
      <p:sp>
        <p:nvSpPr>
          <p:cNvPr id="20" name="Shape 18"/>
          <p:cNvSpPr/>
          <p:nvPr/>
        </p:nvSpPr>
        <p:spPr>
          <a:xfrm>
            <a:off x="4353458" y="3977640"/>
            <a:ext cx="3484778" cy="1965960"/>
          </a:xfrm>
          <a:prstGeom prst="roundRect">
            <a:avLst>
              <a:gd name="adj" fmla="val 5581"/>
            </a:avLst>
          </a:prstGeom>
          <a:solidFill>
            <a:srgbClr val="FBFCF9"/>
          </a:solidFill>
          <a:ln w="9525">
            <a:solidFill>
              <a:srgbClr val="D6E0D1"/>
            </a:solidFill>
            <a:prstDash val="solid"/>
          </a:ln>
        </p:spPr>
      </p:sp>
      <p:sp>
        <p:nvSpPr>
          <p:cNvPr id="21" name="Text 19"/>
          <p:cNvSpPr txBox="1"/>
          <p:nvPr/>
        </p:nvSpPr>
        <p:spPr>
          <a:xfrm>
            <a:off x="4627778" y="4160520"/>
            <a:ext cx="2936138" cy="731520"/>
          </a:xfrm>
          <a:prstGeom prst="rect">
            <a:avLst/>
          </a:prstGeom>
          <a:noFill/>
          <a:ln/>
        </p:spPr>
        <p:txBody>
          <a:bodyPr wrap="square" lIns="0" tIns="0" rIns="0" bIns="0" rtlCol="0" anchor="t"/>
          <a:lstStyle/>
          <a:p>
            <a:pPr algn="r" indent="0" marL="0">
              <a:buNone/>
            </a:pPr>
            <a:r>
              <a:rPr lang="ar-SA" altLang="en-US" sz="4000" b="1" dirty="0">
                <a:solidFill>
                  <a:srgbClr val="8A6508"/>
                </a:solidFill>
                <a:latin typeface="Arial" pitchFamily="34" charset="0"/>
                <a:ea typeface="Arial" pitchFamily="34" charset="-122"/>
                <a:cs typeface="Arial" pitchFamily="34" charset="-120"/>
              </a:rPr>
              <a:t>+80</a:t>
            </a:r>
            <a:endParaRPr lang="ar-SA" sz="4000" dirty="0"/>
          </a:p>
        </p:txBody>
      </p:sp>
      <p:sp>
        <p:nvSpPr>
          <p:cNvPr id="22" name="Text 20"/>
          <p:cNvSpPr txBox="1"/>
          <p:nvPr/>
        </p:nvSpPr>
        <p:spPr>
          <a:xfrm>
            <a:off x="4627778" y="4937760"/>
            <a:ext cx="2936138" cy="411480"/>
          </a:xfrm>
          <a:prstGeom prst="rect">
            <a:avLst/>
          </a:prstGeom>
          <a:noFill/>
          <a:ln/>
        </p:spPr>
        <p:txBody>
          <a:bodyPr wrap="square" lIns="0" tIns="0" rIns="0" bIns="0" rtlCol="0" anchor="t"/>
          <a:lstStyle/>
          <a:p>
            <a:pPr rtl="1" algn="r" indent="0" marL="0">
              <a:buNone/>
            </a:pPr>
            <a:r>
              <a:rPr lang="ar-SA" altLang="en-US" sz="1700" b="1" dirty="0">
                <a:solidFill>
                  <a:srgbClr val="15271C"/>
                </a:solidFill>
                <a:latin typeface="Arial" pitchFamily="34" charset="0"/>
                <a:ea typeface="Arial" pitchFamily="34" charset="-122"/>
                <a:cs typeface="Arial" pitchFamily="34" charset="-120"/>
              </a:rPr>
              <a:t>منتجًا إعلاميًا</a:t>
            </a:r>
            <a:endParaRPr lang="ar-SA" sz="1700" dirty="0"/>
          </a:p>
        </p:txBody>
      </p:sp>
      <p:sp>
        <p:nvSpPr>
          <p:cNvPr id="23" name="Text 21"/>
          <p:cNvSpPr txBox="1"/>
          <p:nvPr/>
        </p:nvSpPr>
        <p:spPr>
          <a:xfrm>
            <a:off x="4627778" y="5349240"/>
            <a:ext cx="2936138" cy="457200"/>
          </a:xfrm>
          <a:prstGeom prst="rect">
            <a:avLst/>
          </a:prstGeom>
          <a:noFill/>
          <a:ln/>
        </p:spPr>
        <p:txBody>
          <a:bodyPr wrap="square" lIns="0" tIns="0" rIns="0" bIns="0" rtlCol="0" anchor="t"/>
          <a:lstStyle/>
          <a:p>
            <a:pPr rtl="1" algn="r" indent="0" marL="0">
              <a:buNone/>
            </a:pPr>
            <a:r>
              <a:rPr lang="ar-SA" altLang="en-US" sz="1250" dirty="0">
                <a:solidFill>
                  <a:srgbClr val="4F6356"/>
                </a:solidFill>
                <a:latin typeface="Arial" pitchFamily="34" charset="0"/>
                <a:ea typeface="Arial" pitchFamily="34" charset="-122"/>
                <a:cs typeface="Arial" pitchFamily="34" charset="-120"/>
              </a:rPr>
              <a:t>من إنتاج مركز الإعلام البيئي</a:t>
            </a:r>
            <a:endParaRPr lang="ar-SA" sz="1250" dirty="0"/>
          </a:p>
        </p:txBody>
      </p:sp>
      <p:sp>
        <p:nvSpPr>
          <p:cNvPr id="24" name="Shape 22"/>
          <p:cNvSpPr/>
          <p:nvPr/>
        </p:nvSpPr>
        <p:spPr>
          <a:xfrm>
            <a:off x="594360" y="3977640"/>
            <a:ext cx="3484778" cy="1965960"/>
          </a:xfrm>
          <a:prstGeom prst="roundRect">
            <a:avLst>
              <a:gd name="adj" fmla="val 5581"/>
            </a:avLst>
          </a:prstGeom>
          <a:solidFill>
            <a:srgbClr val="FBFCF9"/>
          </a:solidFill>
          <a:ln w="9525">
            <a:solidFill>
              <a:srgbClr val="D6E0D1"/>
            </a:solidFill>
            <a:prstDash val="solid"/>
          </a:ln>
        </p:spPr>
      </p:sp>
      <p:sp>
        <p:nvSpPr>
          <p:cNvPr id="25" name="Text 23"/>
          <p:cNvSpPr txBox="1"/>
          <p:nvPr/>
        </p:nvSpPr>
        <p:spPr>
          <a:xfrm>
            <a:off x="868680" y="4160520"/>
            <a:ext cx="2936138" cy="731520"/>
          </a:xfrm>
          <a:prstGeom prst="rect">
            <a:avLst/>
          </a:prstGeom>
          <a:noFill/>
          <a:ln/>
        </p:spPr>
        <p:txBody>
          <a:bodyPr wrap="square" lIns="0" tIns="0" rIns="0" bIns="0" rtlCol="0" anchor="t"/>
          <a:lstStyle/>
          <a:p>
            <a:pPr algn="r" indent="0" marL="0">
              <a:buNone/>
            </a:pPr>
            <a:r>
              <a:rPr lang="ar-SA" altLang="en-US" sz="4000" b="1" dirty="0">
                <a:solidFill>
                  <a:srgbClr val="8A6508"/>
                </a:solidFill>
                <a:latin typeface="Arial" pitchFamily="34" charset="0"/>
                <a:ea typeface="Arial" pitchFamily="34" charset="-122"/>
                <a:cs typeface="Arial" pitchFamily="34" charset="-120"/>
              </a:rPr>
              <a:t>5</a:t>
            </a:r>
            <a:endParaRPr lang="ar-SA" sz="4000" dirty="0"/>
          </a:p>
        </p:txBody>
      </p:sp>
      <p:sp>
        <p:nvSpPr>
          <p:cNvPr id="26" name="Text 24"/>
          <p:cNvSpPr txBox="1"/>
          <p:nvPr/>
        </p:nvSpPr>
        <p:spPr>
          <a:xfrm>
            <a:off x="868680" y="4937760"/>
            <a:ext cx="2936138" cy="411480"/>
          </a:xfrm>
          <a:prstGeom prst="rect">
            <a:avLst/>
          </a:prstGeom>
          <a:noFill/>
          <a:ln/>
        </p:spPr>
        <p:txBody>
          <a:bodyPr wrap="square" lIns="0" tIns="0" rIns="0" bIns="0" rtlCol="0" anchor="t"/>
          <a:lstStyle/>
          <a:p>
            <a:pPr rtl="1" algn="r" indent="0" marL="0">
              <a:buNone/>
            </a:pPr>
            <a:r>
              <a:rPr lang="ar-SA" altLang="en-US" sz="1700" b="1" dirty="0">
                <a:solidFill>
                  <a:srgbClr val="15271C"/>
                </a:solidFill>
                <a:latin typeface="Arial" pitchFamily="34" charset="0"/>
                <a:ea typeface="Arial" pitchFamily="34" charset="-122"/>
                <a:cs typeface="Arial" pitchFamily="34" charset="-120"/>
              </a:rPr>
              <a:t>قصص أثر</a:t>
            </a:r>
            <a:endParaRPr lang="ar-SA" sz="1700" dirty="0"/>
          </a:p>
        </p:txBody>
      </p:sp>
      <p:sp>
        <p:nvSpPr>
          <p:cNvPr id="27" name="Text 25"/>
          <p:cNvSpPr txBox="1"/>
          <p:nvPr/>
        </p:nvSpPr>
        <p:spPr>
          <a:xfrm>
            <a:off x="868680" y="5349240"/>
            <a:ext cx="2936138" cy="457200"/>
          </a:xfrm>
          <a:prstGeom prst="rect">
            <a:avLst/>
          </a:prstGeom>
          <a:noFill/>
          <a:ln/>
        </p:spPr>
        <p:txBody>
          <a:bodyPr wrap="square" lIns="0" tIns="0" rIns="0" bIns="0" rtlCol="0" anchor="t"/>
          <a:lstStyle/>
          <a:p>
            <a:pPr rtl="1" algn="r" indent="0" marL="0">
              <a:buNone/>
            </a:pPr>
            <a:r>
              <a:rPr lang="ar-SA" altLang="en-US" sz="1250" dirty="0">
                <a:solidFill>
                  <a:srgbClr val="4F6356"/>
                </a:solidFill>
                <a:latin typeface="Arial" pitchFamily="34" charset="0"/>
                <a:ea typeface="Arial" pitchFamily="34" charset="-122"/>
                <a:cs typeface="Arial" pitchFamily="34" charset="-120"/>
              </a:rPr>
              <a:t>موثقة وقابلة للتحقق</a:t>
            </a:r>
            <a:endParaRPr lang="ar-SA" sz="1250" dirty="0"/>
          </a:p>
        </p:txBody>
      </p:sp>
      <p:sp>
        <p:nvSpPr>
          <p:cNvPr id="28" name="Text 26"/>
          <p:cNvSpPr txBox="1"/>
          <p:nvPr/>
        </p:nvSpPr>
        <p:spPr>
          <a:xfrm>
            <a:off x="594360" y="6355080"/>
            <a:ext cx="914400" cy="274320"/>
          </a:xfrm>
          <a:prstGeom prst="rect">
            <a:avLst/>
          </a:prstGeom>
          <a:noFill/>
          <a:ln/>
        </p:spPr>
        <p:txBody>
          <a:bodyPr wrap="square" lIns="0" tIns="0" rIns="0" bIns="0" rtlCol="0" anchor="t"/>
          <a:lstStyle/>
          <a:p>
            <a:pPr algn="l" indent="0" marL="0">
              <a:buNone/>
            </a:pPr>
            <a:r>
              <a:rPr lang="ar-SA" altLang="en-US" sz="1100" dirty="0">
                <a:solidFill>
                  <a:srgbClr val="6B7D70"/>
                </a:solidFill>
                <a:latin typeface="Arial" pitchFamily="34" charset="0"/>
                <a:ea typeface="Arial" pitchFamily="34" charset="-122"/>
                <a:cs typeface="Arial" pitchFamily="34" charset="-120"/>
              </a:rPr>
              <a:t>18</a:t>
            </a:r>
            <a:endParaRPr lang="ar-SA" sz="1100" dirty="0"/>
          </a:p>
        </p:txBody>
      </p:sp>
      <p:sp>
        <p:nvSpPr>
          <p:cNvPr id="29" name="Text 27"/>
          <p:cNvSpPr txBox="1"/>
          <p:nvPr/>
        </p:nvSpPr>
        <p:spPr>
          <a:xfrm>
            <a:off x="7025335" y="6355080"/>
            <a:ext cx="4572000" cy="274320"/>
          </a:xfrm>
          <a:prstGeom prst="rect">
            <a:avLst/>
          </a:prstGeom>
          <a:noFill/>
          <a:ln/>
        </p:spPr>
        <p:txBody>
          <a:bodyPr wrap="square" lIns="0" tIns="0" rIns="0" bIns="0" rtlCol="0" anchor="t"/>
          <a:lstStyle/>
          <a:p>
            <a:pPr rtl="1" algn="r" indent="0" marL="0">
              <a:buNone/>
            </a:pPr>
            <a:r>
              <a:rPr lang="ar-SA" altLang="en-US" sz="1100" dirty="0">
                <a:solidFill>
                  <a:srgbClr val="6B7D70"/>
                </a:solidFill>
                <a:latin typeface="Arial" pitchFamily="34" charset="0"/>
                <a:ea typeface="Arial" pitchFamily="34" charset="-122"/>
                <a:cs typeface="Arial" pitchFamily="34" charset="-120"/>
              </a:rPr>
              <a:t>مبادرة الأثر الأخضر المستدام</a:t>
            </a:r>
            <a:endParaRPr lang="ar-SA"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23524"/>
        </a:solidFill>
      </p:bgPr>
    </p:bg>
    <p:spTree>
      <p:nvGrpSpPr>
        <p:cNvPr id="1" name=""/>
        <p:cNvGrpSpPr/>
        <p:nvPr/>
      </p:nvGrpSpPr>
      <p:grpSpPr>
        <a:xfrm>
          <a:off x="0" y="0"/>
          <a:ext cx="0" cy="0"/>
          <a:chOff x="0" y="0"/>
          <a:chExt cx="0" cy="0"/>
        </a:xfrm>
      </p:grpSpPr>
      <p:pic>
        <p:nvPicPr>
          <p:cNvPr id="2" name="Image 0" descr="شعار مبادرة الأثر الأخضر المستدام">    </p:cNvPr>
          <p:cNvPicPr>
            <a:picLocks noChangeAspect="1"/>
          </p:cNvPicPr>
          <p:nvPr/>
        </p:nvPicPr>
        <p:blipFill>
          <a:blip r:embed="rId1"/>
          <a:stretch>
            <a:fillRect/>
          </a:stretch>
        </p:blipFill>
        <p:spPr>
          <a:xfrm>
            <a:off x="594360" y="548640"/>
            <a:ext cx="1188720" cy="1207008"/>
          </a:xfrm>
          <a:prstGeom prst="rect">
            <a:avLst/>
          </a:prstGeom>
        </p:spPr>
      </p:pic>
      <p:sp>
        <p:nvSpPr>
          <p:cNvPr id="3" name="Text 0"/>
          <p:cNvSpPr txBox="1"/>
          <p:nvPr/>
        </p:nvSpPr>
        <p:spPr>
          <a:xfrm>
            <a:off x="594360" y="731520"/>
            <a:ext cx="11002975" cy="365760"/>
          </a:xfrm>
          <a:prstGeom prst="rect">
            <a:avLst/>
          </a:prstGeom>
          <a:noFill/>
          <a:ln/>
        </p:spPr>
        <p:txBody>
          <a:bodyPr wrap="square" lIns="0" tIns="0" rIns="0" bIns="0" rtlCol="0" anchor="t"/>
          <a:lstStyle/>
          <a:p>
            <a:pPr rtl="1" algn="r" indent="0" marL="0">
              <a:buNone/>
            </a:pPr>
            <a:r>
              <a:rPr lang="ar-SA" altLang="en-US" sz="1600" b="1" dirty="0">
                <a:solidFill>
                  <a:srgbClr val="E3B341"/>
                </a:solidFill>
                <a:latin typeface="Arial" pitchFamily="34" charset="0"/>
                <a:ea typeface="Arial" pitchFamily="34" charset="-122"/>
                <a:cs typeface="Arial" pitchFamily="34" charset="-120"/>
              </a:rPr>
              <a:t>تواصل معنا</a:t>
            </a:r>
            <a:endParaRPr lang="ar-SA" sz="1600" dirty="0"/>
          </a:p>
        </p:txBody>
      </p:sp>
      <p:sp>
        <p:nvSpPr>
          <p:cNvPr id="4" name="Text 1"/>
          <p:cNvSpPr txBox="1"/>
          <p:nvPr/>
        </p:nvSpPr>
        <p:spPr>
          <a:xfrm>
            <a:off x="594360" y="1828800"/>
            <a:ext cx="11002975" cy="1828800"/>
          </a:xfrm>
          <a:prstGeom prst="rect">
            <a:avLst/>
          </a:prstGeom>
          <a:noFill/>
          <a:ln/>
        </p:spPr>
        <p:txBody>
          <a:bodyPr wrap="square" lIns="0" tIns="0" rIns="0" bIns="0" rtlCol="0" anchor="t"/>
          <a:lstStyle/>
          <a:p>
            <a:pPr rtl="1" algn="r" indent="0" marL="0">
              <a:lnSpc>
                <a:spcPct val="120000"/>
              </a:lnSpc>
              <a:buNone/>
            </a:pPr>
            <a:r>
              <a:rPr lang="ar-SA" altLang="en-US" sz="4000" b="1" dirty="0">
                <a:solidFill>
                  <a:srgbClr val="EEF3EC"/>
                </a:solidFill>
                <a:latin typeface="Arial" pitchFamily="34" charset="0"/>
                <a:ea typeface="Arial" pitchFamily="34" charset="-122"/>
                <a:cs typeface="Arial" pitchFamily="34" charset="-120"/>
              </a:rPr>
              <a:t>من المسرح تبدأ الرسالة…</a:t>
            </a:r>
            <a:endParaRPr lang="ar-SA" sz="4000" dirty="0"/>
          </a:p>
          <a:p>
            <a:pPr rtl="1" algn="r" indent="0" marL="0">
              <a:lnSpc>
                <a:spcPct val="120000"/>
              </a:lnSpc>
              <a:buNone/>
            </a:pPr>
            <a:r>
              <a:rPr lang="ar-SA" altLang="en-US" sz="4000" b="1" dirty="0">
                <a:solidFill>
                  <a:srgbClr val="EEF3EC"/>
                </a:solidFill>
                <a:latin typeface="Arial" pitchFamily="34" charset="0"/>
                <a:ea typeface="Arial" pitchFamily="34" charset="-122"/>
                <a:cs typeface="Arial" pitchFamily="34" charset="-120"/>
              </a:rPr>
              <a:t>وبالمسؤولية المشتركة ينمو الأثر</a:t>
            </a:r>
            <a:endParaRPr lang="ar-SA" sz="4000" dirty="0"/>
          </a:p>
        </p:txBody>
      </p:sp>
      <p:sp>
        <p:nvSpPr>
          <p:cNvPr id="5" name="Shape 2"/>
          <p:cNvSpPr/>
          <p:nvPr/>
        </p:nvSpPr>
        <p:spPr>
          <a:xfrm>
            <a:off x="594360" y="4206240"/>
            <a:ext cx="11002975" cy="0"/>
          </a:xfrm>
          <a:prstGeom prst="line">
            <a:avLst/>
          </a:prstGeom>
          <a:noFill/>
          <a:ln w="12700">
            <a:solidFill>
              <a:srgbClr val="2E5A40"/>
            </a:solidFill>
            <a:prstDash val="solid"/>
          </a:ln>
        </p:spPr>
      </p:sp>
      <p:sp>
        <p:nvSpPr>
          <p:cNvPr id="6" name="Text 3"/>
          <p:cNvSpPr txBox="1"/>
          <p:nvPr/>
        </p:nvSpPr>
        <p:spPr>
          <a:xfrm>
            <a:off x="9052331" y="4434840"/>
            <a:ext cx="2545004" cy="320040"/>
          </a:xfrm>
          <a:prstGeom prst="rect">
            <a:avLst/>
          </a:prstGeom>
          <a:noFill/>
          <a:ln/>
        </p:spPr>
        <p:txBody>
          <a:bodyPr wrap="square" lIns="0" tIns="0" rIns="0" bIns="0" rtlCol="0" anchor="t"/>
          <a:lstStyle/>
          <a:p>
            <a:pPr rtl="1" algn="r" indent="0" marL="0">
              <a:buNone/>
            </a:pPr>
            <a:r>
              <a:rPr lang="ar-SA" altLang="en-US" sz="1250" dirty="0">
                <a:solidFill>
                  <a:srgbClr val="A9C2B0"/>
                </a:solidFill>
                <a:latin typeface="Arial" pitchFamily="34" charset="0"/>
                <a:ea typeface="Arial" pitchFamily="34" charset="-122"/>
                <a:cs typeface="Arial" pitchFamily="34" charset="-120"/>
              </a:rPr>
              <a:t>الهاتف</a:t>
            </a:r>
            <a:endParaRPr lang="ar-SA" sz="1250" dirty="0"/>
          </a:p>
        </p:txBody>
      </p:sp>
      <p:sp>
        <p:nvSpPr>
          <p:cNvPr id="7" name="Text 4"/>
          <p:cNvSpPr txBox="1"/>
          <p:nvPr/>
        </p:nvSpPr>
        <p:spPr>
          <a:xfrm>
            <a:off x="9052331" y="4800600"/>
            <a:ext cx="2545004" cy="411480"/>
          </a:xfrm>
          <a:prstGeom prst="rect">
            <a:avLst/>
          </a:prstGeom>
          <a:noFill/>
          <a:ln/>
        </p:spPr>
        <p:txBody>
          <a:bodyPr wrap="square" lIns="0" tIns="0" rIns="0" bIns="0" rtlCol="0" anchor="t"/>
          <a:lstStyle/>
          <a:p>
            <a:pPr algn="r" indent="0" marL="0">
              <a:buNone/>
            </a:pPr>
            <a:r>
              <a:rPr lang="ar-SA" altLang="en-US" sz="1700" b="1" dirty="0">
                <a:solidFill>
                  <a:srgbClr val="EEF3EC"/>
                </a:solidFill>
                <a:latin typeface="Arial" pitchFamily="34" charset="0"/>
                <a:ea typeface="Arial" pitchFamily="34" charset="-122"/>
                <a:cs typeface="Arial" pitchFamily="34" charset="-120"/>
              </a:rPr>
              <a:t>0501441059</a:t>
            </a:r>
            <a:endParaRPr lang="ar-SA" sz="1700" dirty="0"/>
          </a:p>
        </p:txBody>
      </p:sp>
      <p:sp>
        <p:nvSpPr>
          <p:cNvPr id="8" name="Text 5"/>
          <p:cNvSpPr txBox="1"/>
          <p:nvPr/>
        </p:nvSpPr>
        <p:spPr>
          <a:xfrm>
            <a:off x="6233008" y="4434840"/>
            <a:ext cx="2545004" cy="320040"/>
          </a:xfrm>
          <a:prstGeom prst="rect">
            <a:avLst/>
          </a:prstGeom>
          <a:noFill/>
          <a:ln/>
        </p:spPr>
        <p:txBody>
          <a:bodyPr wrap="square" lIns="0" tIns="0" rIns="0" bIns="0" rtlCol="0" anchor="t"/>
          <a:lstStyle/>
          <a:p>
            <a:pPr rtl="1" algn="r" indent="0" marL="0">
              <a:buNone/>
            </a:pPr>
            <a:r>
              <a:rPr lang="ar-SA" altLang="en-US" sz="1250" dirty="0">
                <a:solidFill>
                  <a:srgbClr val="A9C2B0"/>
                </a:solidFill>
                <a:latin typeface="Arial" pitchFamily="34" charset="0"/>
                <a:ea typeface="Arial" pitchFamily="34" charset="-122"/>
                <a:cs typeface="Arial" pitchFamily="34" charset="-120"/>
              </a:rPr>
              <a:t>البريد الإلكتروني</a:t>
            </a:r>
            <a:endParaRPr lang="ar-SA" sz="1250" dirty="0"/>
          </a:p>
        </p:txBody>
      </p:sp>
      <p:sp>
        <p:nvSpPr>
          <p:cNvPr id="9" name="Text 6"/>
          <p:cNvSpPr txBox="1"/>
          <p:nvPr/>
        </p:nvSpPr>
        <p:spPr>
          <a:xfrm>
            <a:off x="6233008" y="4800600"/>
            <a:ext cx="2545004" cy="411480"/>
          </a:xfrm>
          <a:prstGeom prst="rect">
            <a:avLst/>
          </a:prstGeom>
          <a:noFill/>
          <a:ln/>
        </p:spPr>
        <p:txBody>
          <a:bodyPr wrap="square" lIns="0" tIns="0" rIns="0" bIns="0" rtlCol="0" anchor="t"/>
          <a:lstStyle/>
          <a:p>
            <a:pPr algn="r" indent="0" marL="0">
              <a:buNone/>
            </a:pPr>
            <a:r>
              <a:rPr lang="ar-SA" altLang="en-US" sz="1700" b="1" dirty="0">
                <a:solidFill>
                  <a:srgbClr val="EEF3EC"/>
                </a:solidFill>
                <a:latin typeface="Arial" pitchFamily="34" charset="0"/>
                <a:ea typeface="Arial" pitchFamily="34" charset="-122"/>
                <a:cs typeface="Arial" pitchFamily="34" charset="-120"/>
              </a:rPr>
              <a:t>info@envresp.org.sa</a:t>
            </a:r>
            <a:endParaRPr lang="ar-SA" sz="1700" dirty="0"/>
          </a:p>
        </p:txBody>
      </p:sp>
      <p:sp>
        <p:nvSpPr>
          <p:cNvPr id="10" name="Text 7"/>
          <p:cNvSpPr txBox="1"/>
          <p:nvPr/>
        </p:nvSpPr>
        <p:spPr>
          <a:xfrm>
            <a:off x="3413684" y="4434840"/>
            <a:ext cx="2545004" cy="320040"/>
          </a:xfrm>
          <a:prstGeom prst="rect">
            <a:avLst/>
          </a:prstGeom>
          <a:noFill/>
          <a:ln/>
        </p:spPr>
        <p:txBody>
          <a:bodyPr wrap="square" lIns="0" tIns="0" rIns="0" bIns="0" rtlCol="0" anchor="t"/>
          <a:lstStyle/>
          <a:p>
            <a:pPr rtl="1" algn="r" indent="0" marL="0">
              <a:buNone/>
            </a:pPr>
            <a:r>
              <a:rPr lang="ar-SA" altLang="en-US" sz="1250" dirty="0">
                <a:solidFill>
                  <a:srgbClr val="A9C2B0"/>
                </a:solidFill>
                <a:latin typeface="Arial" pitchFamily="34" charset="0"/>
                <a:ea typeface="Arial" pitchFamily="34" charset="-122"/>
                <a:cs typeface="Arial" pitchFamily="34" charset="-120"/>
              </a:rPr>
              <a:t>الموقع الإلكتروني</a:t>
            </a:r>
            <a:endParaRPr lang="ar-SA" sz="1250" dirty="0"/>
          </a:p>
        </p:txBody>
      </p:sp>
      <p:sp>
        <p:nvSpPr>
          <p:cNvPr id="11" name="Text 8"/>
          <p:cNvSpPr txBox="1"/>
          <p:nvPr/>
        </p:nvSpPr>
        <p:spPr>
          <a:xfrm>
            <a:off x="3413684" y="4800600"/>
            <a:ext cx="2545004" cy="411480"/>
          </a:xfrm>
          <a:prstGeom prst="rect">
            <a:avLst/>
          </a:prstGeom>
          <a:noFill/>
          <a:ln/>
        </p:spPr>
        <p:txBody>
          <a:bodyPr wrap="square" lIns="0" tIns="0" rIns="0" bIns="0" rtlCol="0" anchor="t"/>
          <a:lstStyle/>
          <a:p>
            <a:pPr algn="r" indent="0" marL="0">
              <a:buNone/>
            </a:pPr>
            <a:r>
              <a:rPr lang="ar-SA" altLang="en-US" sz="1700" b="1" dirty="0">
                <a:solidFill>
                  <a:srgbClr val="EEF3EC"/>
                </a:solidFill>
                <a:latin typeface="Arial" pitchFamily="34" charset="0"/>
                <a:ea typeface="Arial" pitchFamily="34" charset="-122"/>
                <a:cs typeface="Arial" pitchFamily="34" charset="-120"/>
              </a:rPr>
              <a:t>www.envresp.org.sa</a:t>
            </a:r>
            <a:endParaRPr lang="ar-SA" sz="1700" dirty="0"/>
          </a:p>
        </p:txBody>
      </p:sp>
      <p:sp>
        <p:nvSpPr>
          <p:cNvPr id="12" name="Text 9"/>
          <p:cNvSpPr txBox="1"/>
          <p:nvPr/>
        </p:nvSpPr>
        <p:spPr>
          <a:xfrm>
            <a:off x="594360" y="4434840"/>
            <a:ext cx="2545004" cy="320040"/>
          </a:xfrm>
          <a:prstGeom prst="rect">
            <a:avLst/>
          </a:prstGeom>
          <a:noFill/>
          <a:ln/>
        </p:spPr>
        <p:txBody>
          <a:bodyPr wrap="square" lIns="0" tIns="0" rIns="0" bIns="0" rtlCol="0" anchor="t"/>
          <a:lstStyle/>
          <a:p>
            <a:pPr rtl="1" algn="r" indent="0" marL="0">
              <a:buNone/>
            </a:pPr>
            <a:r>
              <a:rPr lang="ar-SA" altLang="en-US" sz="1250" dirty="0">
                <a:solidFill>
                  <a:srgbClr val="A9C2B0"/>
                </a:solidFill>
                <a:latin typeface="Arial" pitchFamily="34" charset="0"/>
                <a:ea typeface="Arial" pitchFamily="34" charset="-122"/>
                <a:cs typeface="Arial" pitchFamily="34" charset="-120"/>
              </a:rPr>
              <a:t>حسابات التواصل</a:t>
            </a:r>
            <a:endParaRPr lang="ar-SA" sz="1250" dirty="0"/>
          </a:p>
        </p:txBody>
      </p:sp>
      <p:sp>
        <p:nvSpPr>
          <p:cNvPr id="13" name="Text 10"/>
          <p:cNvSpPr txBox="1"/>
          <p:nvPr/>
        </p:nvSpPr>
        <p:spPr>
          <a:xfrm>
            <a:off x="594360" y="4800600"/>
            <a:ext cx="2545004" cy="411480"/>
          </a:xfrm>
          <a:prstGeom prst="rect">
            <a:avLst/>
          </a:prstGeom>
          <a:noFill/>
          <a:ln/>
        </p:spPr>
        <p:txBody>
          <a:bodyPr wrap="square" lIns="0" tIns="0" rIns="0" bIns="0" rtlCol="0" anchor="t"/>
          <a:lstStyle/>
          <a:p>
            <a:pPr algn="r" indent="0" marL="0">
              <a:buNone/>
            </a:pPr>
            <a:r>
              <a:rPr lang="ar-SA" altLang="en-US" sz="1700" b="1" dirty="0">
                <a:solidFill>
                  <a:srgbClr val="EEF3EC"/>
                </a:solidFill>
                <a:latin typeface="Arial" pitchFamily="34" charset="0"/>
                <a:ea typeface="Arial" pitchFamily="34" charset="-122"/>
                <a:cs typeface="Arial" pitchFamily="34" charset="-120"/>
              </a:rPr>
              <a:t>@ecodutyksa</a:t>
            </a:r>
            <a:endParaRPr lang="ar-SA" sz="1700" dirty="0"/>
          </a:p>
        </p:txBody>
      </p:sp>
      <p:sp>
        <p:nvSpPr>
          <p:cNvPr id="14" name="Text 11"/>
          <p:cNvSpPr txBox="1"/>
          <p:nvPr/>
        </p:nvSpPr>
        <p:spPr>
          <a:xfrm>
            <a:off x="594360" y="5760720"/>
            <a:ext cx="11002975" cy="365760"/>
          </a:xfrm>
          <a:prstGeom prst="rect">
            <a:avLst/>
          </a:prstGeom>
          <a:noFill/>
          <a:ln/>
        </p:spPr>
        <p:txBody>
          <a:bodyPr wrap="square" lIns="0" tIns="0" rIns="0" bIns="0" rtlCol="0" anchor="t"/>
          <a:lstStyle/>
          <a:p>
            <a:pPr rtl="1" algn="r" indent="0" marL="0">
              <a:buNone/>
            </a:pPr>
            <a:r>
              <a:rPr lang="ar-SA" altLang="en-US" sz="1400" dirty="0">
                <a:solidFill>
                  <a:srgbClr val="E3B341"/>
                </a:solidFill>
                <a:latin typeface="Arial" pitchFamily="34" charset="0"/>
                <a:ea typeface="Arial" pitchFamily="34" charset="-122"/>
                <a:cs typeface="Arial" pitchFamily="34" charset="-120"/>
              </a:rPr>
              <a:t>#الأثر_الأخضر_المستدام   #اليوم_العربي_للبيئة_2026   #مدرستي_الخضراء</a:t>
            </a:r>
            <a:endParaRPr lang="ar-SA"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الأثر الأخضر المستدام</dc:title>
  <dc:subject>PptxGenJS Presentation</dc:subject>
  <dc:creator>جمعية المسؤولية البيئية الأهلية</dc:creator>
  <cp:lastModifiedBy>جمعية المسؤولية البيئية الأهلية</cp:lastModifiedBy>
  <cp:revision>1</cp:revision>
  <dcterms:created xsi:type="dcterms:W3CDTF">2026-09-27T13:59:59Z</dcterms:created>
  <dcterms:modified xsi:type="dcterms:W3CDTF">2026-09-27T13:59:59Z</dcterms:modified>
</cp:coreProperties>
</file>